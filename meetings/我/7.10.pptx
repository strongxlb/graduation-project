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handoutMasterIdLst>
    <p:handoutMasterId r:id="rId23"/>
  </p:handoutMasterIdLst>
  <p:sldIdLst>
    <p:sldId id="256" r:id="rId3"/>
    <p:sldId id="273" r:id="rId4"/>
    <p:sldId id="272" r:id="rId5"/>
    <p:sldId id="257" r:id="rId6"/>
    <p:sldId id="258" r:id="rId7"/>
    <p:sldId id="259" r:id="rId8"/>
    <p:sldId id="260" r:id="rId9"/>
    <p:sldId id="262" r:id="rId10"/>
    <p:sldId id="261" r:id="rId11"/>
    <p:sldId id="263" r:id="rId12"/>
    <p:sldId id="264" r:id="rId13"/>
    <p:sldId id="266" r:id="rId14"/>
    <p:sldId id="267" r:id="rId15"/>
    <p:sldId id="268" r:id="rId16"/>
    <p:sldId id="269" r:id="rId17"/>
    <p:sldId id="270" r:id="rId18"/>
    <p:sldId id="271" r:id="rId19"/>
    <p:sldId id="274" r:id="rId20"/>
    <p:sldId id="275"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notesMaster" Target="notesMasters/notesMaster1.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04000"/>
            <a:ext cx="5342400" cy="4140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04000"/>
            <a:ext cx="5342400" cy="4140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397600"/>
            <a:ext cx="9799200" cy="11052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5040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ea"/>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6.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7.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8.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9.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70.xml"/><Relationship Id="rId2" Type="http://schemas.openxmlformats.org/officeDocument/2006/relationships/image" Target="../media/image3.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1.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2.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73.xml"/><Relationship Id="rId2" Type="http://schemas.openxmlformats.org/officeDocument/2006/relationships/image" Target="../media/image10.png"/><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4.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75.xml"/><Relationship Id="rId2" Type="http://schemas.openxmlformats.org/officeDocument/2006/relationships/image" Target="../media/image13.png"/><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6.xml"/><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7.xml"/><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78.xml"/><Relationship Id="rId2" Type="http://schemas.openxmlformats.org/officeDocument/2006/relationships/image" Target="../media/image9.png"/><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9.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0.xml"/><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2.xml"/><Relationship Id="rId2" Type="http://schemas.openxmlformats.org/officeDocument/2006/relationships/image" Target="../media/image19.png"/><Relationship Id="rId1" Type="http://schemas.openxmlformats.org/officeDocument/2006/relationships/tags" Target="../tags/tag81.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normAutofit/>
          </a:bodyPr>
          <a:p>
            <a:r>
              <a:rPr lang="en-GB" altLang="zh-CN" b="1" dirty="0">
                <a:latin typeface="Times New Roman" panose="02020503050405090304" charset="0"/>
                <a:cs typeface="Times New Roman" panose="02020503050405090304" charset="0"/>
                <a:sym typeface="+mn-ea"/>
              </a:rPr>
              <a:t>Week</a:t>
            </a:r>
            <a:r>
              <a:rPr lang="en-US" altLang="en-GB" b="1" dirty="0">
                <a:latin typeface="Times New Roman" panose="02020503050405090304" charset="0"/>
                <a:cs typeface="Times New Roman" panose="02020503050405090304" charset="0"/>
                <a:sym typeface="+mn-ea"/>
              </a:rPr>
              <a:t>ly</a:t>
            </a:r>
            <a:r>
              <a:rPr lang="en-GB" altLang="zh-CN" b="1" dirty="0">
                <a:latin typeface="Times New Roman" panose="02020503050405090304" charset="0"/>
                <a:cs typeface="Times New Roman" panose="02020503050405090304" charset="0"/>
                <a:sym typeface="+mn-ea"/>
              </a:rPr>
              <a:t> </a:t>
            </a:r>
            <a:br>
              <a:rPr lang="en-GB" altLang="zh-CN" b="1" dirty="0">
                <a:latin typeface="Times New Roman" panose="02020503050405090304" charset="0"/>
                <a:cs typeface="Times New Roman" panose="02020503050405090304" charset="0"/>
              </a:rPr>
            </a:br>
            <a:r>
              <a:rPr lang="en-GB" altLang="zh-CN" b="1" dirty="0">
                <a:latin typeface="Times New Roman" panose="02020503050405090304" charset="0"/>
                <a:cs typeface="Times New Roman" panose="02020503050405090304" charset="0"/>
                <a:sym typeface="+mn-ea"/>
              </a:rPr>
              <a:t>Report</a:t>
            </a:r>
            <a:endParaRPr lang="en-US" altLang="zh-CN"/>
          </a:p>
        </p:txBody>
      </p:sp>
      <p:sp>
        <p:nvSpPr>
          <p:cNvPr id="4" name="副标题 2"/>
          <p:cNvSpPr txBox="1"/>
          <p:nvPr/>
        </p:nvSpPr>
        <p:spPr>
          <a:xfrm>
            <a:off x="9550400" y="5864567"/>
            <a:ext cx="2288200" cy="80931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9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r>
              <a:rPr lang="en-US" altLang="zh-CN" sz="1800" dirty="0" err="1">
                <a:latin typeface="Times New Roman" panose="02020503050405090304" charset="0"/>
                <a:cs typeface="Times New Roman" panose="02020503050405090304" charset="0"/>
              </a:rPr>
              <a:t>Ruixin</a:t>
            </a:r>
            <a:r>
              <a:rPr lang="zh-CN" altLang="en-US" sz="1800" dirty="0">
                <a:latin typeface="Times New Roman" panose="02020503050405090304" charset="0"/>
                <a:cs typeface="Times New Roman" panose="02020503050405090304" charset="0"/>
              </a:rPr>
              <a:t> </a:t>
            </a:r>
            <a:r>
              <a:rPr lang="en-US" altLang="zh-CN" sz="1800" dirty="0">
                <a:latin typeface="Times New Roman" panose="02020503050405090304" charset="0"/>
                <a:cs typeface="Times New Roman" panose="02020503050405090304" charset="0"/>
              </a:rPr>
              <a:t>Peng</a:t>
            </a:r>
            <a:endParaRPr lang="en-US" altLang="zh-CN" sz="1800" dirty="0">
              <a:latin typeface="Times New Roman" panose="02020503050405090304" charset="0"/>
              <a:cs typeface="Times New Roman" panose="02020503050405090304" charset="0"/>
            </a:endParaRPr>
          </a:p>
          <a:p>
            <a:r>
              <a:rPr lang="en-US" altLang="en-GB" sz="1800" dirty="0">
                <a:latin typeface="Times New Roman" panose="02020503050405090304" charset="0"/>
                <a:cs typeface="Times New Roman" panose="02020503050405090304" charset="0"/>
              </a:rPr>
              <a:t>Ju</a:t>
            </a:r>
            <a:r>
              <a:rPr lang="en-US" altLang="en-GB" sz="1800" dirty="0">
                <a:latin typeface="Times New Roman" panose="02020503050405090304" charset="0"/>
                <a:cs typeface="Times New Roman" panose="02020503050405090304" charset="0"/>
              </a:rPr>
              <a:t>ly 10</a:t>
            </a:r>
            <a:r>
              <a:rPr lang="en-GB" altLang="zh-CN" sz="1800" dirty="0">
                <a:latin typeface="Times New Roman" panose="02020503050405090304" charset="0"/>
                <a:cs typeface="Times New Roman" panose="02020503050405090304" charset="0"/>
              </a:rPr>
              <a:t>, 2026</a:t>
            </a:r>
            <a:endParaRPr lang="en-GB" altLang="zh-CN" sz="1800" dirty="0">
              <a:latin typeface="Times New Roman" panose="02020503050405090304" charset="0"/>
              <a:cs typeface="Times New Roman" panose="02020503050405090304" charset="0"/>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output"/>
          <p:cNvPicPr>
            <a:picLocks noChangeAspect="1"/>
          </p:cNvPicPr>
          <p:nvPr/>
        </p:nvPicPr>
        <p:blipFill>
          <a:blip r:embed="rId1"/>
          <a:srcRect l="6975" b="7230"/>
          <a:stretch>
            <a:fillRect/>
          </a:stretch>
        </p:blipFill>
        <p:spPr>
          <a:xfrm>
            <a:off x="204470" y="83820"/>
            <a:ext cx="5523865" cy="4993640"/>
          </a:xfrm>
          <a:prstGeom prst="rect">
            <a:avLst/>
          </a:prstGeom>
        </p:spPr>
      </p:pic>
      <p:pic>
        <p:nvPicPr>
          <p:cNvPr id="6" name="图片 5"/>
          <p:cNvPicPr>
            <a:picLocks noChangeAspect="1"/>
          </p:cNvPicPr>
          <p:nvPr/>
        </p:nvPicPr>
        <p:blipFill>
          <a:blip r:embed="rId2"/>
          <a:srcRect l="6254" b="8127"/>
          <a:stretch>
            <a:fillRect/>
          </a:stretch>
        </p:blipFill>
        <p:spPr>
          <a:xfrm>
            <a:off x="6096000" y="319405"/>
            <a:ext cx="5406390" cy="4335780"/>
          </a:xfrm>
          <a:prstGeom prst="rect">
            <a:avLst/>
          </a:prstGeom>
        </p:spPr>
      </p:pic>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466090" y="250825"/>
            <a:ext cx="7353300" cy="4095750"/>
          </a:xfrm>
          <a:prstGeom prst="rect">
            <a:avLst/>
          </a:prstGeom>
        </p:spPr>
      </p:pic>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29540" y="817245"/>
            <a:ext cx="6261735" cy="3594735"/>
          </a:xfrm>
          <a:prstGeom prst="rect">
            <a:avLst/>
          </a:prstGeom>
        </p:spPr>
      </p:pic>
      <p:sp>
        <p:nvSpPr>
          <p:cNvPr id="9" name="文本框 8"/>
          <p:cNvSpPr txBox="1"/>
          <p:nvPr/>
        </p:nvSpPr>
        <p:spPr>
          <a:xfrm>
            <a:off x="447040" y="4644390"/>
            <a:ext cx="6096000" cy="922020"/>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bulk drop   = C_bulkonly</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wall extra  = </a:t>
            </a:r>
            <a:r>
              <a:rPr lang="en-US" altLang="zh-CN">
                <a:latin typeface="Times New Roman Regular" panose="02020503050405090304" charset="0"/>
                <a:cs typeface="Times New Roman Regular" panose="02020503050405090304" charset="0"/>
                <a:sym typeface="+mn-ea"/>
              </a:rPr>
              <a:t>C_both - </a:t>
            </a:r>
            <a:r>
              <a:rPr lang="en-US" altLang="zh-CN">
                <a:latin typeface="Times New Roman Regular" panose="02020503050405090304" charset="0"/>
                <a:cs typeface="Times New Roman Regular" panose="02020503050405090304" charset="0"/>
              </a:rPr>
              <a:t>C_bulkonly</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Total</a:t>
            </a:r>
            <a:r>
              <a:rPr lang="zh-CN" altLang="en-US">
                <a:latin typeface="Times New Roman Regular" panose="02020503050405090304" charset="0"/>
                <a:cs typeface="Times New Roman Regular" panose="02020503050405090304" charset="0"/>
              </a:rPr>
              <a:t>       </a:t>
            </a:r>
            <a:r>
              <a:rPr lang="en-US" altLang="zh-CN">
                <a:latin typeface="Times New Roman Regular" panose="02020503050405090304" charset="0"/>
                <a:cs typeface="Times New Roman Regular" panose="02020503050405090304" charset="0"/>
              </a:rPr>
              <a:t> </a:t>
            </a:r>
            <a:r>
              <a:rPr lang="zh-CN" altLang="en-US">
                <a:latin typeface="Times New Roman Regular" panose="02020503050405090304" charset="0"/>
                <a:cs typeface="Times New Roman Regular" panose="02020503050405090304" charset="0"/>
              </a:rPr>
              <a:t>= </a:t>
            </a:r>
            <a:r>
              <a:rPr lang="en-US" altLang="zh-CN">
                <a:latin typeface="Times New Roman Regular" panose="02020503050405090304" charset="0"/>
                <a:cs typeface="Times New Roman Regular" panose="02020503050405090304" charset="0"/>
              </a:rPr>
              <a:t>C_both</a:t>
            </a:r>
            <a:endParaRPr lang="zh-CN" altLang="en-US">
              <a:latin typeface="Times New Roman Regular" panose="02020503050405090304" charset="0"/>
              <a:cs typeface="Times New Roman Regular" panose="02020503050405090304" charset="0"/>
            </a:endParaRPr>
          </a:p>
        </p:txBody>
      </p:sp>
      <p:sp>
        <p:nvSpPr>
          <p:cNvPr id="10" name="文本框 9"/>
          <p:cNvSpPr txBox="1"/>
          <p:nvPr/>
        </p:nvSpPr>
        <p:spPr>
          <a:xfrm>
            <a:off x="6646545" y="1214120"/>
            <a:ext cx="6096000" cy="922020"/>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C_both     = simulate(kb=-0.5, kw=-0.1) </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C_bulkonly = simulate(kb=-0.5, kw= 0  )</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C_none     = simulate(kb= 0  , kw= 0  )</a:t>
            </a:r>
            <a:endParaRPr lang="zh-CN" altLang="en-US">
              <a:latin typeface="Times New Roman Regular" panose="02020503050405090304" charset="0"/>
              <a:cs typeface="Times New Roman Regular" panose="02020503050405090304" charset="0"/>
            </a:endParaRPr>
          </a:p>
        </p:txBody>
      </p:sp>
      <p:sp>
        <p:nvSpPr>
          <p:cNvPr id="11" name="文本框 10"/>
          <p:cNvSpPr txBox="1"/>
          <p:nvPr/>
        </p:nvSpPr>
        <p:spPr>
          <a:xfrm>
            <a:off x="6543040" y="3828415"/>
            <a:ext cx="5080000" cy="2553335"/>
          </a:xfrm>
          <a:prstGeom prst="rect">
            <a:avLst/>
          </a:prstGeom>
        </p:spPr>
        <p:txBody>
          <a:bodyPr>
            <a:spAutoFit/>
          </a:bodyPr>
          <a:p>
            <a:r>
              <a:rPr lang="en-US" altLang="zh-CN" sz="2000">
                <a:latin typeface="Times New Roman Regular" panose="02020503050405090304" charset="0"/>
                <a:cs typeface="Times New Roman Regular" panose="02020503050405090304" charset="0"/>
              </a:rPr>
              <a:t>Across the six monitor nodes, wall decay contributed approximately 25.4% of the total reactive chlorine loss. The contribution was spatially variable: it was negligible at node 10, but comparable to bulk decay at nodes 20 and 35. This suggests that wall demand is not uniformly visible at all sensors, but it can be significant at hydraulically sensitive locations.</a:t>
            </a:r>
            <a:endParaRPr lang="en-US" altLang="zh-CN" sz="2000">
              <a:latin typeface="Times New Roman Regular" panose="02020503050405090304" charset="0"/>
              <a:cs typeface="Times New Roman Regular" panose="02020503050405090304" charset="0"/>
            </a:endParaRPr>
          </a:p>
        </p:txBody>
      </p:sp>
      <p:sp>
        <p:nvSpPr>
          <p:cNvPr id="12" name="文本框 11"/>
          <p:cNvSpPr txBox="1"/>
          <p:nvPr/>
        </p:nvSpPr>
        <p:spPr>
          <a:xfrm>
            <a:off x="279400" y="247333"/>
            <a:ext cx="5080000" cy="337185"/>
          </a:xfrm>
          <a:prstGeom prst="rect">
            <a:avLst/>
          </a:prstGeom>
        </p:spPr>
        <p:txBody>
          <a:bodyPr>
            <a:spAutoFit/>
          </a:bodyPr>
          <a:p>
            <a:pPr defTabSz="266700"/>
            <a:r>
              <a:rPr lang="en-US" altLang="zh-CN" sz="1600">
                <a:latin typeface="Times New Roman" panose="02020503050405090304"/>
                <a:ea typeface="宋体"/>
              </a:rPr>
              <a:t>Bulk vs wall</a:t>
            </a:r>
            <a:endParaRPr lang="en-US" altLang="zh-CN" sz="1600">
              <a:latin typeface="Times New Roman" panose="02020503050405090304"/>
              <a:ea typeface="宋体"/>
            </a:endParaRPr>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43510" y="1417955"/>
            <a:ext cx="6096000" cy="706755"/>
          </a:xfrm>
          <a:prstGeom prst="rect">
            <a:avLst/>
          </a:prstGeom>
          <a:noFill/>
        </p:spPr>
        <p:txBody>
          <a:bodyPr wrap="square" rtlCol="0" anchor="t">
            <a:spAutoFit/>
          </a:bodyPr>
          <a:p>
            <a:r>
              <a:rPr lang="en-US" altLang="zh-CN" sz="2000">
                <a:latin typeface="Times New Roman Regular" panose="02020503050405090304" charset="0"/>
                <a:cs typeface="Times New Roman Regular" panose="02020503050405090304" charset="0"/>
              </a:rPr>
              <a:t>A. controlled </a:t>
            </a:r>
            <a:r>
              <a:rPr lang="en-US" altLang="zh-CN" sz="2000" b="1">
                <a:latin typeface="Times New Roman" panose="02020503050405090304" charset="0"/>
                <a:cs typeface="Times New Roman" panose="02020503050405090304" charset="0"/>
              </a:rPr>
              <a:t>single pipe</a:t>
            </a:r>
            <a:r>
              <a:rPr lang="en-US" altLang="zh-CN" sz="2000">
                <a:latin typeface="Times New Roman Regular" panose="02020503050405090304" charset="0"/>
                <a:cs typeface="Times New Roman Regular" panose="02020503050405090304" charset="0"/>
              </a:rPr>
              <a:t>: a single pipe, used to verify the physical formula </a:t>
            </a:r>
            <a:endParaRPr lang="en-US" altLang="zh-CN" sz="2000">
              <a:latin typeface="Times New Roman Regular" panose="02020503050405090304" charset="0"/>
              <a:cs typeface="Times New Roman Regular" panose="02020503050405090304" charset="0"/>
            </a:endParaRPr>
          </a:p>
        </p:txBody>
      </p:sp>
      <p:sp>
        <p:nvSpPr>
          <p:cNvPr id="7" name="文本框 6"/>
          <p:cNvSpPr txBox="1"/>
          <p:nvPr/>
        </p:nvSpPr>
        <p:spPr>
          <a:xfrm>
            <a:off x="143510" y="2737485"/>
            <a:ext cx="6212840" cy="2861310"/>
          </a:xfrm>
          <a:prstGeom prst="rect">
            <a:avLst/>
          </a:prstGeom>
          <a:noFill/>
        </p:spPr>
        <p:txBody>
          <a:bodyPr wrap="square" rtlCol="0" anchor="t">
            <a:spAutoFit/>
          </a:bodyPr>
          <a:p>
            <a:r>
              <a:rPr lang="en-US" altLang="zh-CN" sz="2000">
                <a:latin typeface="Times New Roman Regular" panose="02020503050405090304" charset="0"/>
                <a:cs typeface="Times New Roman Regular" panose="02020503050405090304" charset="0"/>
              </a:rPr>
              <a:t>d = 0.30 m:</a:t>
            </a:r>
            <a:endParaRPr lang="en-US" altLang="zh-CN" sz="2000">
              <a:latin typeface="Times New Roman Regular" panose="02020503050405090304" charset="0"/>
              <a:cs typeface="Times New Roman Regular" panose="02020503050405090304" charset="0"/>
            </a:endParaRPr>
          </a:p>
          <a:p>
            <a:r>
              <a:rPr lang="en-US" altLang="zh-CN" sz="2000">
                <a:latin typeface="Times New Roman Regular" panose="02020503050405090304" charset="0"/>
                <a:cs typeface="Times New Roman Regular" panose="02020503050405090304" charset="0"/>
              </a:rPr>
              <a:t>analytic K = 6.667/day  (</a:t>
            </a:r>
            <a:r>
              <a:rPr lang="en-US" altLang="zh-CN" sz="2000">
                <a:latin typeface="Times New Roman Regular" panose="02020503050405090304" charset="0"/>
                <a:cs typeface="Times New Roman Regular" panose="02020503050405090304" charset="0"/>
                <a:sym typeface="+mn-ea"/>
              </a:rPr>
              <a:t>K = (4 / d) · kw</a:t>
            </a:r>
            <a:r>
              <a:rPr lang="en-US" altLang="zh-CN" sz="2000">
                <a:latin typeface="Times New Roman Regular" panose="02020503050405090304" charset="0"/>
                <a:cs typeface="Times New Roman Regular" panose="02020503050405090304" charset="0"/>
              </a:rPr>
              <a:t>)</a:t>
            </a:r>
            <a:endParaRPr lang="en-US" altLang="zh-CN" sz="2000">
              <a:latin typeface="Times New Roman Regular" panose="02020503050405090304" charset="0"/>
              <a:cs typeface="Times New Roman Regular" panose="02020503050405090304" charset="0"/>
            </a:endParaRPr>
          </a:p>
          <a:p>
            <a:r>
              <a:rPr lang="en-US" altLang="zh-CN" sz="2000">
                <a:latin typeface="Times New Roman Regular" panose="02020503050405090304" charset="0"/>
                <a:cs typeface="Times New Roman Regular" panose="02020503050405090304" charset="0"/>
              </a:rPr>
              <a:t>K_fast_diff = 6.681/day (diffusivity_scale = 1e6)</a:t>
            </a:r>
            <a:endParaRPr lang="en-US" altLang="zh-CN" sz="2000">
              <a:latin typeface="Times New Roman Regular" panose="02020503050405090304" charset="0"/>
              <a:cs typeface="Times New Roman Regular" panose="02020503050405090304" charset="0"/>
            </a:endParaRPr>
          </a:p>
          <a:p>
            <a:r>
              <a:rPr lang="en-US" altLang="zh-CN" sz="2000">
                <a:latin typeface="Times New Roman Regular" panose="02020503050405090304" charset="0"/>
                <a:cs typeface="Times New Roman Regular" panose="02020503050405090304" charset="0"/>
              </a:rPr>
              <a:t>K_physical_diff = 3.547/day (diffusivity_scale = 1.0)</a:t>
            </a:r>
            <a:endParaRPr lang="en-US" altLang="zh-CN" sz="2000">
              <a:latin typeface="Times New Roman Regular" panose="02020503050405090304" charset="0"/>
              <a:cs typeface="Times New Roman Regular" panose="02020503050405090304" charset="0"/>
            </a:endParaRPr>
          </a:p>
          <a:p>
            <a:endParaRPr lang="en-US" altLang="zh-CN" sz="2000">
              <a:latin typeface="Times New Roman Regular" panose="02020503050405090304" charset="0"/>
              <a:cs typeface="Times New Roman Regular" panose="02020503050405090304" charset="0"/>
            </a:endParaRPr>
          </a:p>
          <a:p>
            <a:r>
              <a:rPr lang="en-US" altLang="zh-CN" sz="2000">
                <a:latin typeface="Times New Roman Regular" panose="02020503050405090304" charset="0"/>
                <a:cs typeface="Times New Roman Regular" panose="02020503050405090304" charset="0"/>
              </a:rPr>
              <a:t>d = 0.15 m:</a:t>
            </a:r>
            <a:endParaRPr lang="en-US" altLang="zh-CN" sz="2000">
              <a:latin typeface="Times New Roman Regular" panose="02020503050405090304" charset="0"/>
              <a:cs typeface="Times New Roman Regular" panose="02020503050405090304" charset="0"/>
            </a:endParaRPr>
          </a:p>
          <a:p>
            <a:r>
              <a:rPr lang="en-US" altLang="zh-CN" sz="2000">
                <a:latin typeface="Times New Roman Regular" panose="02020503050405090304" charset="0"/>
                <a:cs typeface="Times New Roman Regular" panose="02020503050405090304" charset="0"/>
              </a:rPr>
              <a:t>analytic K = 13.333/day</a:t>
            </a:r>
            <a:endParaRPr lang="en-US" altLang="zh-CN" sz="2000">
              <a:latin typeface="Times New Roman Regular" panose="02020503050405090304" charset="0"/>
              <a:cs typeface="Times New Roman Regular" panose="02020503050405090304" charset="0"/>
            </a:endParaRPr>
          </a:p>
          <a:p>
            <a:r>
              <a:rPr lang="en-US" altLang="zh-CN" sz="2000">
                <a:latin typeface="Times New Roman Regular" panose="02020503050405090304" charset="0"/>
                <a:cs typeface="Times New Roman Regular" panose="02020503050405090304" charset="0"/>
              </a:rPr>
              <a:t>K_fast_diff = 13.395/day</a:t>
            </a:r>
            <a:endParaRPr lang="en-US" altLang="zh-CN" sz="2000">
              <a:latin typeface="Times New Roman Regular" panose="02020503050405090304" charset="0"/>
              <a:cs typeface="Times New Roman Regular" panose="02020503050405090304" charset="0"/>
            </a:endParaRPr>
          </a:p>
          <a:p>
            <a:r>
              <a:rPr lang="en-US" altLang="zh-CN" sz="2000">
                <a:latin typeface="Times New Roman Regular" panose="02020503050405090304" charset="0"/>
                <a:cs typeface="Times New Roman Regular" panose="02020503050405090304" charset="0"/>
              </a:rPr>
              <a:t>K_physical_diff = 10.796/day</a:t>
            </a:r>
            <a:endParaRPr lang="en-US" altLang="zh-CN" sz="2000">
              <a:latin typeface="Times New Roman Regular" panose="02020503050405090304" charset="0"/>
              <a:cs typeface="Times New Roman Regular" panose="02020503050405090304" charset="0"/>
            </a:endParaRPr>
          </a:p>
        </p:txBody>
      </p:sp>
      <p:pic>
        <p:nvPicPr>
          <p:cNvPr id="9" name="图片 8"/>
          <p:cNvPicPr>
            <a:picLocks noChangeAspect="1"/>
          </p:cNvPicPr>
          <p:nvPr/>
        </p:nvPicPr>
        <p:blipFill>
          <a:blip r:embed="rId1"/>
          <a:stretch>
            <a:fillRect/>
          </a:stretch>
        </p:blipFill>
        <p:spPr>
          <a:xfrm>
            <a:off x="5934075" y="1925955"/>
            <a:ext cx="6257925" cy="3543300"/>
          </a:xfrm>
          <a:prstGeom prst="rect">
            <a:avLst/>
          </a:prstGeom>
        </p:spPr>
      </p:pic>
      <p:sp>
        <p:nvSpPr>
          <p:cNvPr id="10" name="文本框 9"/>
          <p:cNvSpPr txBox="1"/>
          <p:nvPr/>
        </p:nvSpPr>
        <p:spPr>
          <a:xfrm>
            <a:off x="143510" y="276543"/>
            <a:ext cx="5080000" cy="337185"/>
          </a:xfrm>
          <a:prstGeom prst="rect">
            <a:avLst/>
          </a:prstGeom>
        </p:spPr>
        <p:txBody>
          <a:bodyPr>
            <a:spAutoFit/>
          </a:bodyPr>
          <a:p>
            <a:pPr defTabSz="266700"/>
            <a:r>
              <a:rPr lang="en-US" altLang="zh-CN" sz="1600">
                <a:latin typeface="Times New Roman Regular" panose="02020503050405090304" charset="0"/>
                <a:ea typeface="宋体"/>
                <a:cs typeface="Times New Roman Regular" panose="02020503050405090304" charset="0"/>
              </a:rPr>
              <a:t>Mass transfer - Halve every pipe diameter</a:t>
            </a:r>
            <a:endParaRPr lang="en-US" altLang="zh-CN" sz="1600">
              <a:latin typeface="Times New Roman Regular" panose="02020503050405090304" charset="0"/>
              <a:ea typeface="宋体"/>
              <a:cs typeface="Times New Roman Regular" panose="02020503050405090304" charset="0"/>
            </a:endParaRPr>
          </a:p>
        </p:txBody>
      </p:sp>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43510" y="1139190"/>
            <a:ext cx="6096000" cy="1198880"/>
          </a:xfrm>
          <a:prstGeom prst="rect">
            <a:avLst/>
          </a:prstGeom>
          <a:noFill/>
        </p:spPr>
        <p:txBody>
          <a:bodyPr wrap="square" rtlCol="0" anchor="t">
            <a:spAutoFit/>
          </a:bodyPr>
          <a:p>
            <a:r>
              <a:rPr lang="en-US" altLang="zh-CN" sz="2400">
                <a:latin typeface="Times New Roman Regular" panose="02020503050405090304" charset="0"/>
                <a:cs typeface="Times New Roman Regular" panose="02020503050405090304" charset="0"/>
                <a:sym typeface="+mn-ea"/>
              </a:rPr>
              <a:t>B. </a:t>
            </a:r>
            <a:r>
              <a:rPr lang="en-US" altLang="zh-CN" sz="2400" b="1">
                <a:latin typeface="Times New Roman" panose="02020503050405090304" charset="0"/>
                <a:cs typeface="Times New Roman" panose="02020503050405090304" charset="0"/>
                <a:sym typeface="+mn-ea"/>
              </a:rPr>
              <a:t>whole network:</a:t>
            </a:r>
            <a:r>
              <a:rPr lang="en-US" altLang="zh-CN" sz="2400">
                <a:latin typeface="Times New Roman Regular" panose="02020503050405090304" charset="0"/>
                <a:cs typeface="Times New Roman Regular" panose="02020503050405090304" charset="0"/>
                <a:sym typeface="+mn-ea"/>
              </a:rPr>
              <a:t> all pipe diameters in the entire network reduced by half, to observe the actual network response</a:t>
            </a:r>
            <a:endParaRPr lang="en-US" altLang="zh-CN" sz="2400">
              <a:latin typeface="Times New Roman Regular" panose="02020503050405090304" charset="0"/>
              <a:cs typeface="Times New Roman Regular" panose="02020503050405090304" charset="0"/>
              <a:sym typeface="+mn-ea"/>
            </a:endParaRPr>
          </a:p>
        </p:txBody>
      </p:sp>
      <p:sp>
        <p:nvSpPr>
          <p:cNvPr id="5" name="文本框 4"/>
          <p:cNvSpPr txBox="1"/>
          <p:nvPr/>
        </p:nvSpPr>
        <p:spPr>
          <a:xfrm>
            <a:off x="340995" y="2799715"/>
            <a:ext cx="6096000" cy="2584450"/>
          </a:xfrm>
          <a:prstGeom prst="rect">
            <a:avLst/>
          </a:prstGeom>
        </p:spPr>
        <p:txBody>
          <a:bodyPr wrap="square">
            <a:spAutoFit/>
          </a:bodyPr>
          <a:p>
            <a:pPr marL="0" indent="0"/>
            <a:r>
              <a:rPr lang="en-US" altLang="zh-CN" b="0" i="0">
                <a:solidFill>
                  <a:schemeClr val="tx1"/>
                </a:solidFill>
                <a:latin typeface="Times New Roman Regular" panose="02020503050405090304" charset="0"/>
                <a:ea typeface="Menlo" panose="020B0609030804020204"/>
                <a:cs typeface="Times New Roman Regular" panose="02020503050405090304" charset="0"/>
              </a:rPr>
              <a:t>Whole-network halving (final residual, mg/L) -- note non-monotone (hydraulics reroute): </a:t>
            </a:r>
            <a:endParaRPr lang="en-US" altLang="zh-CN" b="0" i="0">
              <a:solidFill>
                <a:schemeClr val="tx1"/>
              </a:solidFill>
              <a:latin typeface="Times New Roman Regular" panose="02020503050405090304" charset="0"/>
              <a:ea typeface="Menlo" panose="020B0609030804020204"/>
              <a:cs typeface="Times New Roman Regular" panose="02020503050405090304" charset="0"/>
            </a:endParaRPr>
          </a:p>
          <a:p>
            <a:pPr marL="0" indent="0"/>
            <a:r>
              <a:rPr lang="en-US" altLang="zh-CN">
                <a:latin typeface="Times New Roman Regular" panose="02020503050405090304" charset="0"/>
                <a:ea typeface="Menlo" panose="020B0609030804020204"/>
                <a:cs typeface="Times New Roman Regular" panose="02020503050405090304" charset="0"/>
                <a:sym typeface="+mn-ea"/>
              </a:rPr>
              <a:t>name </a:t>
            </a:r>
            <a:r>
              <a:rPr lang="en-US" altLang="zh-CN" b="0" i="0">
                <a:solidFill>
                  <a:schemeClr val="tx1"/>
                </a:solidFill>
                <a:latin typeface="Times New Roman Regular" panose="02020503050405090304" charset="0"/>
                <a:ea typeface="Menlo" panose="020B0609030804020204"/>
                <a:cs typeface="Times New Roman Regular" panose="02020503050405090304" charset="0"/>
              </a:rPr>
              <a:t> full_d   half_d </a:t>
            </a:r>
            <a:endParaRPr lang="en-US" altLang="zh-CN" b="0" i="0">
              <a:solidFill>
                <a:schemeClr val="tx1"/>
              </a:solidFill>
              <a:latin typeface="Times New Roman Regular" panose="02020503050405090304" charset="0"/>
              <a:ea typeface="Menlo" panose="020B0609030804020204"/>
              <a:cs typeface="Times New Roman Regular" panose="02020503050405090304" charset="0"/>
            </a:endParaRPr>
          </a:p>
          <a:p>
            <a:pPr marL="0" indent="0"/>
            <a:r>
              <a:rPr lang="en-US" altLang="zh-CN" b="0" i="0">
                <a:solidFill>
                  <a:schemeClr val="tx1"/>
                </a:solidFill>
                <a:latin typeface="Times New Roman Regular" panose="02020503050405090304" charset="0"/>
                <a:ea typeface="Menlo" panose="020B0609030804020204"/>
                <a:cs typeface="Times New Roman Regular" panose="02020503050405090304" charset="0"/>
              </a:rPr>
              <a:t>10    0.828    0.820 </a:t>
            </a:r>
            <a:endParaRPr lang="en-US" altLang="zh-CN" b="0" i="0">
              <a:solidFill>
                <a:schemeClr val="tx1"/>
              </a:solidFill>
              <a:latin typeface="Times New Roman Regular" panose="02020503050405090304" charset="0"/>
              <a:ea typeface="Menlo" panose="020B0609030804020204"/>
              <a:cs typeface="Times New Roman Regular" panose="02020503050405090304" charset="0"/>
            </a:endParaRPr>
          </a:p>
          <a:p>
            <a:pPr marL="0" indent="0"/>
            <a:r>
              <a:rPr lang="en-US" altLang="zh-CN" b="0" i="0">
                <a:solidFill>
                  <a:schemeClr val="tx1"/>
                </a:solidFill>
                <a:latin typeface="Times New Roman Regular" panose="02020503050405090304" charset="0"/>
                <a:ea typeface="Menlo" panose="020B0609030804020204"/>
                <a:cs typeface="Times New Roman Regular" panose="02020503050405090304" charset="0"/>
              </a:rPr>
              <a:t>15    0.037 </a:t>
            </a:r>
            <a:r>
              <a:rPr lang="en-US" altLang="zh-CN">
                <a:latin typeface="Times New Roman Regular" panose="02020503050405090304" charset="0"/>
                <a:ea typeface="Menlo" panose="020B0609030804020204"/>
                <a:cs typeface="Times New Roman Regular" panose="02020503050405090304" charset="0"/>
                <a:sym typeface="+mn-ea"/>
              </a:rPr>
              <a:t>   </a:t>
            </a:r>
            <a:r>
              <a:rPr lang="en-US" altLang="zh-CN" b="0" i="0">
                <a:solidFill>
                  <a:schemeClr val="tx1"/>
                </a:solidFill>
                <a:latin typeface="Times New Roman Regular" panose="02020503050405090304" charset="0"/>
                <a:ea typeface="Menlo" panose="020B0609030804020204"/>
                <a:cs typeface="Times New Roman Regular" panose="02020503050405090304" charset="0"/>
              </a:rPr>
              <a:t>0.461 </a:t>
            </a:r>
            <a:endParaRPr lang="en-US" altLang="zh-CN" b="0" i="0">
              <a:solidFill>
                <a:schemeClr val="tx1"/>
              </a:solidFill>
              <a:latin typeface="Times New Roman Regular" panose="02020503050405090304" charset="0"/>
              <a:ea typeface="Menlo" panose="020B0609030804020204"/>
              <a:cs typeface="Times New Roman Regular" panose="02020503050405090304" charset="0"/>
            </a:endParaRPr>
          </a:p>
          <a:p>
            <a:pPr marL="0" indent="0"/>
            <a:r>
              <a:rPr lang="en-US" altLang="zh-CN" b="0" i="0">
                <a:solidFill>
                  <a:schemeClr val="tx1"/>
                </a:solidFill>
                <a:latin typeface="Times New Roman Regular" panose="02020503050405090304" charset="0"/>
                <a:ea typeface="Menlo" panose="020B0609030804020204"/>
                <a:cs typeface="Times New Roman Regular" panose="02020503050405090304" charset="0"/>
              </a:rPr>
              <a:t>20    0.607</a:t>
            </a:r>
            <a:r>
              <a:rPr lang="en-US" altLang="zh-CN">
                <a:latin typeface="Times New Roman Regular" panose="02020503050405090304" charset="0"/>
                <a:ea typeface="Menlo" panose="020B0609030804020204"/>
                <a:cs typeface="Times New Roman Regular" panose="02020503050405090304" charset="0"/>
                <a:sym typeface="+mn-ea"/>
              </a:rPr>
              <a:t>    </a:t>
            </a:r>
            <a:r>
              <a:rPr lang="en-US" altLang="zh-CN" b="0" i="0">
                <a:solidFill>
                  <a:schemeClr val="tx1"/>
                </a:solidFill>
                <a:latin typeface="Times New Roman Regular" panose="02020503050405090304" charset="0"/>
                <a:ea typeface="Menlo" panose="020B0609030804020204"/>
                <a:cs typeface="Times New Roman Regular" panose="02020503050405090304" charset="0"/>
              </a:rPr>
              <a:t>0.000 </a:t>
            </a:r>
            <a:endParaRPr lang="en-US" altLang="zh-CN" b="0" i="0">
              <a:solidFill>
                <a:schemeClr val="tx1"/>
              </a:solidFill>
              <a:latin typeface="Times New Roman Regular" panose="02020503050405090304" charset="0"/>
              <a:ea typeface="Menlo" panose="020B0609030804020204"/>
              <a:cs typeface="Times New Roman Regular" panose="02020503050405090304" charset="0"/>
            </a:endParaRPr>
          </a:p>
          <a:p>
            <a:pPr marL="0" indent="0"/>
            <a:r>
              <a:rPr lang="en-US" altLang="zh-CN" b="0" i="0">
                <a:solidFill>
                  <a:schemeClr val="tx1"/>
                </a:solidFill>
                <a:latin typeface="Times New Roman Regular" panose="02020503050405090304" charset="0"/>
                <a:ea typeface="Menlo" panose="020B0609030804020204"/>
                <a:cs typeface="Times New Roman Regular" panose="02020503050405090304" charset="0"/>
              </a:rPr>
              <a:t>35    0.511</a:t>
            </a:r>
            <a:r>
              <a:rPr lang="en-US" altLang="zh-CN">
                <a:latin typeface="Times New Roman Regular" panose="02020503050405090304" charset="0"/>
                <a:ea typeface="Menlo" panose="020B0609030804020204"/>
                <a:cs typeface="Times New Roman Regular" panose="02020503050405090304" charset="0"/>
                <a:sym typeface="+mn-ea"/>
              </a:rPr>
              <a:t>    </a:t>
            </a:r>
            <a:r>
              <a:rPr lang="en-US" altLang="zh-CN" b="0" i="0">
                <a:solidFill>
                  <a:schemeClr val="tx1"/>
                </a:solidFill>
                <a:latin typeface="Times New Roman Regular" panose="02020503050405090304" charset="0"/>
                <a:ea typeface="Menlo" panose="020B0609030804020204"/>
                <a:cs typeface="Times New Roman Regular" panose="02020503050405090304" charset="0"/>
              </a:rPr>
              <a:t>0.817 </a:t>
            </a:r>
            <a:endParaRPr lang="en-US" altLang="zh-CN" b="0" i="0">
              <a:solidFill>
                <a:schemeClr val="tx1"/>
              </a:solidFill>
              <a:latin typeface="Times New Roman Regular" panose="02020503050405090304" charset="0"/>
              <a:ea typeface="Menlo" panose="020B0609030804020204"/>
              <a:cs typeface="Times New Roman Regular" panose="02020503050405090304" charset="0"/>
            </a:endParaRPr>
          </a:p>
          <a:p>
            <a:pPr marL="0" indent="0"/>
            <a:r>
              <a:rPr lang="en-US" altLang="zh-CN" b="0" i="0">
                <a:solidFill>
                  <a:schemeClr val="tx1"/>
                </a:solidFill>
                <a:latin typeface="Times New Roman Regular" panose="02020503050405090304" charset="0"/>
                <a:ea typeface="Menlo" panose="020B0609030804020204"/>
                <a:cs typeface="Times New Roman Regular" panose="02020503050405090304" charset="0"/>
              </a:rPr>
              <a:t>40    0.107</a:t>
            </a:r>
            <a:r>
              <a:rPr lang="en-US" altLang="zh-CN">
                <a:latin typeface="Times New Roman Regular" panose="02020503050405090304" charset="0"/>
                <a:ea typeface="Menlo" panose="020B0609030804020204"/>
                <a:cs typeface="Times New Roman Regular" panose="02020503050405090304" charset="0"/>
                <a:sym typeface="+mn-ea"/>
              </a:rPr>
              <a:t>    </a:t>
            </a:r>
            <a:r>
              <a:rPr lang="en-US" altLang="zh-CN" b="0" i="0">
                <a:solidFill>
                  <a:schemeClr val="tx1"/>
                </a:solidFill>
                <a:latin typeface="Times New Roman Regular" panose="02020503050405090304" charset="0"/>
                <a:ea typeface="Menlo" panose="020B0609030804020204"/>
                <a:cs typeface="Times New Roman Regular" panose="02020503050405090304" charset="0"/>
              </a:rPr>
              <a:t>0.000 </a:t>
            </a:r>
            <a:endParaRPr lang="en-US" altLang="zh-CN" b="0" i="0">
              <a:solidFill>
                <a:schemeClr val="tx1"/>
              </a:solidFill>
              <a:latin typeface="Times New Roman Regular" panose="02020503050405090304" charset="0"/>
              <a:ea typeface="Menlo" panose="020B0609030804020204"/>
              <a:cs typeface="Times New Roman Regular" panose="02020503050405090304" charset="0"/>
            </a:endParaRPr>
          </a:p>
          <a:p>
            <a:pPr marL="0" indent="0"/>
            <a:r>
              <a:rPr lang="en-US" altLang="zh-CN" b="0" i="0">
                <a:solidFill>
                  <a:schemeClr val="tx1"/>
                </a:solidFill>
                <a:latin typeface="Times New Roman Regular" panose="02020503050405090304" charset="0"/>
                <a:ea typeface="Menlo" panose="020B0609030804020204"/>
                <a:cs typeface="Times New Roman Regular" panose="02020503050405090304" charset="0"/>
              </a:rPr>
              <a:t>60    0.995</a:t>
            </a:r>
            <a:r>
              <a:rPr lang="en-US" altLang="zh-CN">
                <a:latin typeface="Times New Roman Regular" panose="02020503050405090304" charset="0"/>
                <a:ea typeface="Menlo" panose="020B0609030804020204"/>
                <a:cs typeface="Times New Roman Regular" panose="02020503050405090304" charset="0"/>
                <a:sym typeface="+mn-ea"/>
              </a:rPr>
              <a:t>    </a:t>
            </a:r>
            <a:r>
              <a:rPr lang="en-US" altLang="zh-CN" b="0" i="0">
                <a:solidFill>
                  <a:schemeClr val="tx1"/>
                </a:solidFill>
                <a:latin typeface="Times New Roman Regular" panose="02020503050405090304" charset="0"/>
                <a:ea typeface="Menlo" panose="020B0609030804020204"/>
                <a:cs typeface="Times New Roman Regular" panose="02020503050405090304" charset="0"/>
              </a:rPr>
              <a:t>0.997</a:t>
            </a:r>
            <a:endParaRPr lang="en-US" altLang="zh-CN" b="0" i="0">
              <a:solidFill>
                <a:schemeClr val="tx1"/>
              </a:solidFill>
              <a:latin typeface="Times New Roman Regular" panose="02020503050405090304" charset="0"/>
              <a:ea typeface="Menlo" panose="020B0609030804020204"/>
              <a:cs typeface="Times New Roman Regular" panose="02020503050405090304" charset="0"/>
            </a:endParaRPr>
          </a:p>
        </p:txBody>
      </p:sp>
      <p:sp>
        <p:nvSpPr>
          <p:cNvPr id="6" name="文本框 5"/>
          <p:cNvSpPr txBox="1"/>
          <p:nvPr/>
        </p:nvSpPr>
        <p:spPr>
          <a:xfrm>
            <a:off x="5563235" y="3676015"/>
            <a:ext cx="6096000" cy="2861310"/>
          </a:xfrm>
          <a:prstGeom prst="rect">
            <a:avLst/>
          </a:prstGeom>
          <a:noFill/>
        </p:spPr>
        <p:txBody>
          <a:bodyPr wrap="square" rtlCol="0" anchor="t">
            <a:spAutoFit/>
          </a:bodyPr>
          <a:p>
            <a:r>
              <a:rPr lang="en-US" altLang="zh-CN" sz="2000">
                <a:latin typeface="Times New Roman Regular" panose="02020503050405090304" charset="0"/>
                <a:cs typeface="Times New Roman Regular" panose="02020503050405090304" charset="0"/>
              </a:rPr>
              <a:t>When every pipe diameter in the whole network was halved, monitor responses were not monotonic. Some nodes lost more chlorine and reached zero, while others had higher residuals. This is because changing all diameters also changes the hydraulic solution, including velocities, head losses, residence times, flow paths and tank mixing. Therefore, in a real network, geometry, hydraulics, mass transfer and residence time cannot be interpreted independently.</a:t>
            </a:r>
            <a:endParaRPr lang="en-US" altLang="zh-CN" sz="2000">
              <a:latin typeface="Times New Roman Regular" panose="02020503050405090304" charset="0"/>
              <a:cs typeface="Times New Roman Regular" panose="02020503050405090304" charset="0"/>
            </a:endParaRPr>
          </a:p>
        </p:txBody>
      </p:sp>
      <p:sp>
        <p:nvSpPr>
          <p:cNvPr id="10" name="文本框 9"/>
          <p:cNvSpPr txBox="1"/>
          <p:nvPr/>
        </p:nvSpPr>
        <p:spPr>
          <a:xfrm>
            <a:off x="143510" y="276543"/>
            <a:ext cx="5080000" cy="337185"/>
          </a:xfrm>
          <a:prstGeom prst="rect">
            <a:avLst/>
          </a:prstGeom>
        </p:spPr>
        <p:txBody>
          <a:bodyPr>
            <a:spAutoFit/>
          </a:bodyPr>
          <a:p>
            <a:pPr defTabSz="266700"/>
            <a:r>
              <a:rPr lang="en-US" altLang="zh-CN" sz="1600">
                <a:latin typeface="Times New Roman Regular" panose="02020503050405090304" charset="0"/>
                <a:ea typeface="宋体"/>
                <a:cs typeface="Times New Roman Regular" panose="02020503050405090304" charset="0"/>
              </a:rPr>
              <a:t>Mass transfer - Halve every pipe diameter</a:t>
            </a:r>
            <a:endParaRPr lang="en-US" altLang="zh-CN" sz="1600">
              <a:latin typeface="Times New Roman Regular" panose="02020503050405090304" charset="0"/>
              <a:ea typeface="宋体"/>
              <a:cs typeface="Times New Roman Regular" panose="02020503050405090304"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3708400"/>
            <a:ext cx="5932805" cy="3149600"/>
          </a:xfrm>
          <a:prstGeom prst="rect">
            <a:avLst/>
          </a:prstGeom>
        </p:spPr>
      </p:pic>
      <p:pic>
        <p:nvPicPr>
          <p:cNvPr id="5" name="图片 4"/>
          <p:cNvPicPr>
            <a:picLocks noChangeAspect="1"/>
          </p:cNvPicPr>
          <p:nvPr/>
        </p:nvPicPr>
        <p:blipFill>
          <a:blip r:embed="rId2"/>
          <a:stretch>
            <a:fillRect/>
          </a:stretch>
        </p:blipFill>
        <p:spPr>
          <a:xfrm>
            <a:off x="0" y="391795"/>
            <a:ext cx="5955030" cy="3316605"/>
          </a:xfrm>
          <a:prstGeom prst="rect">
            <a:avLst/>
          </a:prstGeom>
        </p:spPr>
      </p:pic>
      <p:sp>
        <p:nvSpPr>
          <p:cNvPr id="6" name="文本框 5"/>
          <p:cNvSpPr txBox="1"/>
          <p:nvPr/>
        </p:nvSpPr>
        <p:spPr>
          <a:xfrm>
            <a:off x="5955030" y="4443730"/>
            <a:ext cx="6096000" cy="1753235"/>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The imposed inlet pattern produces clear time-varying downstream responses after warm-up. This indicates that the time-varying inlet boundary has entered the model and propagated through the network. The responses are not identical copies of the inlet signal because they are lagged and reshaped by residence time, tank cycling, mixing, and decay.</a:t>
            </a:r>
            <a:endParaRPr lang="en-US" altLang="zh-CN">
              <a:latin typeface="Times New Roman Regular" panose="02020503050405090304" charset="0"/>
              <a:cs typeface="Times New Roman Regular" panose="02020503050405090304" charset="0"/>
            </a:endParaRPr>
          </a:p>
        </p:txBody>
      </p:sp>
      <p:sp>
        <p:nvSpPr>
          <p:cNvPr id="7" name="文本框 6"/>
          <p:cNvSpPr txBox="1"/>
          <p:nvPr/>
        </p:nvSpPr>
        <p:spPr>
          <a:xfrm>
            <a:off x="6096000" y="1068705"/>
            <a:ext cx="6096000" cy="2861310"/>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imposed inlet swing = 0.60 mg/L (0.7 - 1.3)</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developed-window (t&gt;=24h) diurnal swing per monitor (mg/L):</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node</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10    0.190</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15    0.717</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20    0.789</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35    0.526</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40    0.727</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60    0.698</a:t>
            </a:r>
            <a:endParaRPr lang="zh-CN" altLang="en-US">
              <a:latin typeface="Times New Roman Regular" panose="02020503050405090304" charset="0"/>
              <a:cs typeface="Times New Roman Regular" panose="02020503050405090304" charset="0"/>
            </a:endParaRPr>
          </a:p>
        </p:txBody>
      </p:sp>
      <p:sp>
        <p:nvSpPr>
          <p:cNvPr id="8" name="文本框 7"/>
          <p:cNvSpPr txBox="1"/>
          <p:nvPr/>
        </p:nvSpPr>
        <p:spPr>
          <a:xfrm>
            <a:off x="149860" y="54293"/>
            <a:ext cx="5080000" cy="337185"/>
          </a:xfrm>
          <a:prstGeom prst="rect">
            <a:avLst/>
          </a:prstGeom>
        </p:spPr>
        <p:txBody>
          <a:bodyPr>
            <a:spAutoFit/>
          </a:bodyPr>
          <a:p>
            <a:pPr defTabSz="266700"/>
            <a:r>
              <a:rPr lang="en-US" altLang="zh-CN" sz="1600">
                <a:latin typeface="Times New Roman Regular" panose="02020503050405090304" charset="0"/>
                <a:ea typeface="宋体"/>
                <a:cs typeface="Times New Roman Regular" panose="02020503050405090304" charset="0"/>
              </a:rPr>
              <a:t>Time-varying inlet</a:t>
            </a:r>
            <a:endParaRPr lang="en-US" altLang="zh-CN" sz="1600">
              <a:latin typeface="Times New Roman Regular" panose="02020503050405090304" charset="0"/>
              <a:ea typeface="宋体"/>
              <a:cs typeface="Times New Roman Regular" panose="02020503050405090304" charset="0"/>
            </a:endParaRPr>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1863090" y="613410"/>
            <a:ext cx="7898765" cy="3238500"/>
          </a:xfrm>
          <a:prstGeom prst="rect">
            <a:avLst/>
          </a:prstGeom>
        </p:spPr>
      </p:pic>
      <p:sp>
        <p:nvSpPr>
          <p:cNvPr id="4" name="文本框 3"/>
          <p:cNvSpPr txBox="1"/>
          <p:nvPr/>
        </p:nvSpPr>
        <p:spPr>
          <a:xfrm>
            <a:off x="2837180" y="5104765"/>
            <a:ext cx="7188835" cy="1753235"/>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0.3048 m   →  50 pieces</a:t>
            </a:r>
            <a:r>
              <a:rPr lang="zh-CN" altLang="en-US">
                <a:latin typeface="Times New Roman Regular" panose="02020503050405090304" charset="0"/>
                <a:cs typeface="Times New Roman Regular" panose="02020503050405090304" charset="0"/>
              </a:rPr>
              <a:t>   ← </a:t>
            </a:r>
            <a:r>
              <a:rPr lang="en-US" altLang="zh-CN">
                <a:latin typeface="Times New Roman Regular" panose="02020503050405090304" charset="0"/>
                <a:cs typeface="Times New Roman Regular" panose="02020503050405090304" charset="0"/>
              </a:rPr>
              <a:t>Almost half of them are this</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0.2032 m  →  25 </a:t>
            </a:r>
            <a:r>
              <a:rPr lang="en-US" altLang="zh-CN">
                <a:latin typeface="Times New Roman Regular" panose="02020503050405090304" charset="0"/>
                <a:cs typeface="Times New Roman Regular" panose="02020503050405090304" charset="0"/>
                <a:sym typeface="+mn-ea"/>
              </a:rPr>
              <a:t>pieces</a:t>
            </a:r>
            <a:endParaRPr lang="zh-CN" altLang="en-US">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0.7620 m   →  13 </a:t>
            </a:r>
            <a:r>
              <a:rPr lang="en-US" altLang="zh-CN">
                <a:latin typeface="Times New Roman Regular" panose="02020503050405090304" charset="0"/>
                <a:cs typeface="Times New Roman Regular" panose="02020503050405090304" charset="0"/>
                <a:sym typeface="+mn-ea"/>
              </a:rPr>
              <a:t>pieces</a:t>
            </a:r>
            <a:endParaRPr lang="zh-CN" altLang="en-US">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0.6096 m   →  10 </a:t>
            </a:r>
            <a:r>
              <a:rPr lang="en-US" altLang="zh-CN">
                <a:latin typeface="Times New Roman Regular" panose="02020503050405090304" charset="0"/>
                <a:cs typeface="Times New Roman Regular" panose="02020503050405090304" charset="0"/>
                <a:sym typeface="+mn-ea"/>
              </a:rPr>
              <a:t>pieces</a:t>
            </a:r>
            <a:endParaRPr lang="zh-CN" altLang="en-US">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0.4064 m   →   7 </a:t>
            </a:r>
            <a:r>
              <a:rPr lang="en-US" altLang="zh-CN">
                <a:latin typeface="Times New Roman Regular" panose="02020503050405090304" charset="0"/>
                <a:cs typeface="Times New Roman Regular" panose="02020503050405090304" charset="0"/>
                <a:sym typeface="+mn-ea"/>
              </a:rPr>
              <a:t>pieces</a:t>
            </a:r>
            <a:endParaRPr lang="zh-CN" altLang="en-US">
              <a:latin typeface="Times New Roman Regular" panose="02020503050405090304" charset="0"/>
              <a:cs typeface="Times New Roman Regular" panose="02020503050405090304" charset="0"/>
            </a:endParaRPr>
          </a:p>
          <a:p>
            <a:r>
              <a:rPr lang="zh-CN" altLang="en-US">
                <a:latin typeface="Times New Roman Regular" panose="02020503050405090304" charset="0"/>
                <a:cs typeface="Times New Roman Regular" panose="02020503050405090304" charset="0"/>
              </a:rPr>
              <a:t>...</a:t>
            </a:r>
            <a:endParaRPr lang="zh-CN" altLang="en-US">
              <a:latin typeface="Times New Roman Regular" panose="02020503050405090304" charset="0"/>
              <a:cs typeface="Times New Roman Regular" panose="02020503050405090304" charset="0"/>
            </a:endParaRPr>
          </a:p>
        </p:txBody>
      </p:sp>
      <p:sp>
        <p:nvSpPr>
          <p:cNvPr id="5" name="文本框 4"/>
          <p:cNvSpPr txBox="1"/>
          <p:nvPr/>
        </p:nvSpPr>
        <p:spPr>
          <a:xfrm>
            <a:off x="2059305" y="4128135"/>
            <a:ext cx="9758045" cy="645160"/>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np.quantile(D, 0,0.2,0.4,0.6,0.8,1.0) = [0.203, 0.203, 0.305, 0.305, 0.61, 2.515]</a:t>
            </a:r>
            <a:endParaRPr lang="en-US" altLang="zh-CN">
              <a:latin typeface="Times New Roman Regular" panose="02020503050405090304" charset="0"/>
              <a:cs typeface="Times New Roman Regular" panose="02020503050405090304" charset="0"/>
            </a:endParaRPr>
          </a:p>
          <a:p>
            <a:r>
              <a:rPr lang="zh-CN" altLang="en-US">
                <a:latin typeface="Times New Roman Regular" panose="02020503050405090304" charset="0"/>
                <a:cs typeface="Times New Roman Regular" panose="02020503050405090304" charset="0"/>
              </a:rPr>
              <a:t>                                            </a:t>
            </a:r>
            <a:r>
              <a:rPr lang="en-US" altLang="zh-CN">
                <a:latin typeface="Times New Roman Regular" panose="02020503050405090304" charset="0"/>
                <a:cs typeface="Times New Roman Regular" panose="02020503050405090304" charset="0"/>
              </a:rPr>
              <a:t>                     </a:t>
            </a:r>
            <a:r>
              <a:rPr lang="zh-CN" altLang="en-US">
                <a:latin typeface="Times New Roman Regular" panose="02020503050405090304" charset="0"/>
                <a:cs typeface="Times New Roman Regular" panose="02020503050405090304" charset="0"/>
              </a:rPr>
              <a:t>↑</a:t>
            </a:r>
            <a:r>
              <a:rPr lang="en-US" altLang="zh-CN">
                <a:latin typeface="Times New Roman Regular" panose="02020503050405090304" charset="0"/>
                <a:cs typeface="Times New Roman Regular" panose="02020503050405090304" charset="0"/>
              </a:rPr>
              <a:t>repeat</a:t>
            </a:r>
            <a:r>
              <a:rPr lang="zh-CN" altLang="en-US">
                <a:latin typeface="Times New Roman Regular" panose="02020503050405090304" charset="0"/>
                <a:cs typeface="Times New Roman Regular" panose="02020503050405090304" charset="0"/>
              </a:rPr>
              <a:t>   ↑</a:t>
            </a:r>
            <a:r>
              <a:rPr lang="en-US" altLang="zh-CN">
                <a:latin typeface="Times New Roman Regular" panose="02020503050405090304" charset="0"/>
                <a:cs typeface="Times New Roman Regular" panose="02020503050405090304" charset="0"/>
                <a:sym typeface="+mn-ea"/>
              </a:rPr>
              <a:t>repeat</a:t>
            </a:r>
            <a:endParaRPr lang="zh-CN" altLang="en-US">
              <a:latin typeface="Times New Roman Regular" panose="02020503050405090304" charset="0"/>
              <a:cs typeface="Times New Roman Regular" panose="02020503050405090304" charset="0"/>
            </a:endParaRPr>
          </a:p>
        </p:txBody>
      </p:sp>
      <p:sp>
        <p:nvSpPr>
          <p:cNvPr id="6" name="文本框 5"/>
          <p:cNvSpPr txBox="1"/>
          <p:nvPr/>
        </p:nvSpPr>
        <p:spPr>
          <a:xfrm>
            <a:off x="162560" y="317"/>
            <a:ext cx="5080000" cy="337185"/>
          </a:xfrm>
          <a:prstGeom prst="rect">
            <a:avLst/>
          </a:prstGeom>
        </p:spPr>
        <p:txBody>
          <a:bodyPr>
            <a:spAutoFit/>
          </a:bodyPr>
          <a:p>
            <a:pPr defTabSz="266700"/>
            <a:r>
              <a:rPr lang="en-US" altLang="zh-CN" sz="1600">
                <a:latin typeface="Times New Roman" panose="02020503050405090304" charset="0"/>
                <a:ea typeface="宋体"/>
                <a:cs typeface="Times New Roman" panose="02020503050405090304" charset="0"/>
              </a:rPr>
              <a:t>Re-assign pipe groups by diameter quantiles</a:t>
            </a:r>
            <a:endParaRPr lang="en-US" altLang="zh-CN" sz="1600">
              <a:latin typeface="Times New Roman" panose="02020503050405090304" charset="0"/>
              <a:ea typeface="宋体"/>
              <a:cs typeface="Times New Roman" panose="02020503050405090304" charset="0"/>
            </a:endParaRPr>
          </a:p>
        </p:txBody>
      </p:sp>
      <p:sp>
        <p:nvSpPr>
          <p:cNvPr id="3" name="文本框 2"/>
          <p:cNvSpPr txBox="1"/>
          <p:nvPr/>
        </p:nvSpPr>
        <p:spPr>
          <a:xfrm>
            <a:off x="2059305" y="4772978"/>
            <a:ext cx="5080000" cy="337185"/>
          </a:xfrm>
          <a:prstGeom prst="rect">
            <a:avLst/>
          </a:prstGeom>
        </p:spPr>
        <p:txBody>
          <a:bodyPr>
            <a:spAutoFit/>
          </a:bodyPr>
          <a:p>
            <a:pPr marL="0" indent="0"/>
            <a:r>
              <a:rPr lang="en-US" altLang="zh-CN" sz="1600" b="0" i="0">
                <a:solidFill>
                  <a:schemeClr val="tx1"/>
                </a:solidFill>
                <a:latin typeface="Times New Roman" panose="02020503050405090304" charset="0"/>
                <a:ea typeface="-apple-system"/>
                <a:cs typeface="Times New Roman" panose="02020503050405090304" charset="0"/>
              </a:rPr>
              <a:t>kw = 0.0/−0.1/−0.7</a:t>
            </a:r>
            <a:endParaRPr lang="en-US" altLang="zh-CN" sz="1600" b="0" i="0">
              <a:solidFill>
                <a:schemeClr val="tx1"/>
              </a:solidFill>
              <a:latin typeface="Times New Roman" panose="02020503050405090304" charset="0"/>
              <a:ea typeface="-apple-system"/>
              <a:cs typeface="Times New Roman" panose="02020503050405090304" charset="0"/>
            </a:endParaRPr>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720725" y="567055"/>
            <a:ext cx="6096000" cy="2030095"/>
          </a:xfrm>
          <a:prstGeom prst="rect">
            <a:avLst/>
          </a:prstGeom>
          <a:noFill/>
        </p:spPr>
        <p:txBody>
          <a:bodyPr wrap="square" rtlCol="0" anchor="t">
            <a:spAutoFit/>
          </a:bodyPr>
          <a:p>
            <a:r>
              <a:rPr lang="en-US" altLang="zh-CN">
                <a:latin typeface="Times New Roman" panose="02020503050405090304" charset="0"/>
                <a:cs typeface="Times New Roman" panose="02020503050405090304" charset="0"/>
              </a:rPr>
              <a:t>          final_len   final_dia      rank_len  rank_dia</a:t>
            </a:r>
            <a:endParaRPr lang="en-US" altLang="zh-CN">
              <a:latin typeface="Times New Roman" panose="02020503050405090304" charset="0"/>
              <a:cs typeface="Times New Roman" panose="02020503050405090304" charset="0"/>
            </a:endParaRPr>
          </a:p>
          <a:p>
            <a:r>
              <a:rPr lang="en-US" altLang="zh-CN">
                <a:latin typeface="Times New Roman" panose="02020503050405090304" charset="0"/>
                <a:cs typeface="Times New Roman" panose="02020503050405090304" charset="0"/>
              </a:rPr>
              <a:t>10        0.828      0.828            5         4</a:t>
            </a:r>
            <a:endParaRPr lang="en-US" altLang="zh-CN">
              <a:latin typeface="Times New Roman" panose="02020503050405090304" charset="0"/>
              <a:cs typeface="Times New Roman" panose="02020503050405090304" charset="0"/>
            </a:endParaRPr>
          </a:p>
          <a:p>
            <a:r>
              <a:rPr lang="en-US" altLang="zh-CN">
                <a:latin typeface="Times New Roman" panose="02020503050405090304" charset="0"/>
                <a:cs typeface="Times New Roman" panose="02020503050405090304" charset="0"/>
              </a:rPr>
              <a:t>15        0.019       0.054           1         1</a:t>
            </a:r>
            <a:endParaRPr lang="en-US" altLang="zh-CN">
              <a:latin typeface="Times New Roman" panose="02020503050405090304" charset="0"/>
              <a:cs typeface="Times New Roman" panose="02020503050405090304" charset="0"/>
            </a:endParaRPr>
          </a:p>
          <a:p>
            <a:r>
              <a:rPr lang="en-US" altLang="zh-CN">
                <a:latin typeface="Times New Roman" panose="02020503050405090304" charset="0"/>
                <a:cs typeface="Times New Roman" panose="02020503050405090304" charset="0"/>
              </a:rPr>
              <a:t>20        0.394      0.909            4         5</a:t>
            </a:r>
            <a:endParaRPr lang="en-US" altLang="zh-CN">
              <a:latin typeface="Times New Roman" panose="02020503050405090304" charset="0"/>
              <a:cs typeface="Times New Roman" panose="02020503050405090304" charset="0"/>
            </a:endParaRPr>
          </a:p>
          <a:p>
            <a:r>
              <a:rPr lang="en-US" altLang="zh-CN">
                <a:latin typeface="Times New Roman" panose="02020503050405090304" charset="0"/>
                <a:cs typeface="Times New Roman" panose="02020503050405090304" charset="0"/>
              </a:rPr>
              <a:t>35        0.339      0.774            3         3</a:t>
            </a:r>
            <a:endParaRPr lang="en-US" altLang="zh-CN">
              <a:latin typeface="Times New Roman" panose="02020503050405090304" charset="0"/>
              <a:cs typeface="Times New Roman" panose="02020503050405090304" charset="0"/>
            </a:endParaRPr>
          </a:p>
          <a:p>
            <a:r>
              <a:rPr lang="en-US" altLang="zh-CN">
                <a:latin typeface="Times New Roman" panose="02020503050405090304" charset="0"/>
                <a:cs typeface="Times New Roman" panose="02020503050405090304" charset="0"/>
              </a:rPr>
              <a:t>40        0.077      0.163            2         2</a:t>
            </a:r>
            <a:endParaRPr lang="en-US" altLang="zh-CN">
              <a:latin typeface="Times New Roman" panose="02020503050405090304" charset="0"/>
              <a:cs typeface="Times New Roman" panose="02020503050405090304" charset="0"/>
            </a:endParaRPr>
          </a:p>
          <a:p>
            <a:r>
              <a:rPr lang="en-US" altLang="zh-CN">
                <a:latin typeface="Times New Roman" panose="02020503050405090304" charset="0"/>
                <a:cs typeface="Times New Roman" panose="02020503050405090304" charset="0"/>
              </a:rPr>
              <a:t>60        0.996      0.999            6         6</a:t>
            </a:r>
            <a:endParaRPr lang="zh-CN" altLang="en-US">
              <a:latin typeface="Times New Roman" panose="02020503050405090304" charset="0"/>
              <a:cs typeface="Times New Roman" panose="02020503050405090304" charset="0"/>
            </a:endParaRPr>
          </a:p>
        </p:txBody>
      </p:sp>
      <p:sp>
        <p:nvSpPr>
          <p:cNvPr id="6" name="文本框 5"/>
          <p:cNvSpPr txBox="1"/>
          <p:nvPr/>
        </p:nvSpPr>
        <p:spPr>
          <a:xfrm>
            <a:off x="6816725" y="5309870"/>
            <a:ext cx="5257800" cy="922020"/>
          </a:xfrm>
          <a:prstGeom prst="rect">
            <a:avLst/>
          </a:prstGeom>
          <a:noFill/>
        </p:spPr>
        <p:txBody>
          <a:bodyPr wrap="square" rtlCol="0" anchor="t">
            <a:spAutoFit/>
          </a:bodyPr>
          <a:p>
            <a:r>
              <a:rPr lang="en-US" altLang="zh-CN">
                <a:latin typeface="Times New Roman" panose="02020503050405090304" charset="0"/>
                <a:cs typeface="Times New Roman" panose="02020503050405090304" charset="0"/>
              </a:rPr>
              <a:t>monitor ranking is broadly robust, but predicted residual magnitudes are sensitive to the grouping proxy.</a:t>
            </a:r>
            <a:endParaRPr lang="en-US" altLang="zh-CN">
              <a:latin typeface="Times New Roman" panose="02020503050405090304" charset="0"/>
              <a:cs typeface="Times New Roman" panose="02020503050405090304" charset="0"/>
            </a:endParaRPr>
          </a:p>
        </p:txBody>
      </p:sp>
      <p:pic>
        <p:nvPicPr>
          <p:cNvPr id="8" name="图片 7"/>
          <p:cNvPicPr>
            <a:picLocks noChangeAspect="1"/>
          </p:cNvPicPr>
          <p:nvPr/>
        </p:nvPicPr>
        <p:blipFill>
          <a:blip r:embed="rId1"/>
          <a:stretch>
            <a:fillRect/>
          </a:stretch>
        </p:blipFill>
        <p:spPr>
          <a:xfrm>
            <a:off x="170815" y="2908935"/>
            <a:ext cx="6210300" cy="3724275"/>
          </a:xfrm>
          <a:prstGeom prst="rect">
            <a:avLst/>
          </a:prstGeom>
        </p:spPr>
      </p:pic>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5918835" y="1147445"/>
            <a:ext cx="5817235" cy="1198880"/>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means dividing into two groups based on the median of pipe length: </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Short tube → group 0 → kw_new  </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Long tube → group 1 → kw_old</a:t>
            </a:r>
            <a:endParaRPr lang="zh-CN" altLang="en-US">
              <a:latin typeface="Times New Roman Regular" panose="02020503050405090304" charset="0"/>
              <a:cs typeface="Times New Roman Regular" panose="02020503050405090304" charset="0"/>
            </a:endParaRPr>
          </a:p>
        </p:txBody>
      </p:sp>
      <p:sp>
        <p:nvSpPr>
          <p:cNvPr id="9" name="文本框 8"/>
          <p:cNvSpPr txBox="1"/>
          <p:nvPr/>
        </p:nvSpPr>
        <p:spPr>
          <a:xfrm>
            <a:off x="5640070" y="3094990"/>
            <a:ext cx="6096000" cy="368300"/>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SSE = Σ(simulated chlorine - truth chlorine)</a:t>
            </a:r>
            <a:r>
              <a:rPr lang="en-US" altLang="zh-CN" baseline="30000">
                <a:latin typeface="Times New Roman Regular" panose="02020503050405090304" charset="0"/>
                <a:cs typeface="Times New Roman Regular" panose="02020503050405090304" charset="0"/>
              </a:rPr>
              <a:t>2</a:t>
            </a:r>
            <a:endParaRPr lang="zh-CN" altLang="en-US" baseline="30000">
              <a:latin typeface="Times New Roman Regular" panose="02020503050405090304" charset="0"/>
              <a:cs typeface="Times New Roman Regular" panose="02020503050405090304" charset="0"/>
            </a:endParaRPr>
          </a:p>
        </p:txBody>
      </p:sp>
      <p:pic>
        <p:nvPicPr>
          <p:cNvPr id="11" name="图片 10"/>
          <p:cNvPicPr>
            <a:picLocks noChangeAspect="1"/>
          </p:cNvPicPr>
          <p:nvPr/>
        </p:nvPicPr>
        <p:blipFill>
          <a:blip r:embed="rId1"/>
          <a:stretch>
            <a:fillRect/>
          </a:stretch>
        </p:blipFill>
        <p:spPr>
          <a:xfrm>
            <a:off x="97155" y="485140"/>
            <a:ext cx="5236210" cy="2943860"/>
          </a:xfrm>
          <a:prstGeom prst="rect">
            <a:avLst/>
          </a:prstGeom>
        </p:spPr>
      </p:pic>
      <p:pic>
        <p:nvPicPr>
          <p:cNvPr id="12" name="图片 11"/>
          <p:cNvPicPr>
            <a:picLocks noChangeAspect="1"/>
          </p:cNvPicPr>
          <p:nvPr/>
        </p:nvPicPr>
        <p:blipFill>
          <a:blip r:embed="rId2"/>
          <a:stretch>
            <a:fillRect/>
          </a:stretch>
        </p:blipFill>
        <p:spPr>
          <a:xfrm>
            <a:off x="174625" y="3463290"/>
            <a:ext cx="4295140" cy="3378200"/>
          </a:xfrm>
          <a:prstGeom prst="rect">
            <a:avLst/>
          </a:prstGeom>
        </p:spPr>
      </p:pic>
      <p:sp>
        <p:nvSpPr>
          <p:cNvPr id="13" name="文本框 12"/>
          <p:cNvSpPr txBox="1"/>
          <p:nvPr/>
        </p:nvSpPr>
        <p:spPr>
          <a:xfrm>
            <a:off x="5640070" y="3924300"/>
            <a:ext cx="6096000" cy="645160"/>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1-group : kw = -1.125 coarse grid</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SSE = 0.3539</a:t>
            </a:r>
            <a:endParaRPr lang="zh-CN" altLang="en-US">
              <a:latin typeface="Times New Roman Regular" panose="02020503050405090304" charset="0"/>
              <a:cs typeface="Times New Roman Regular" panose="02020503050405090304" charset="0"/>
            </a:endParaRPr>
          </a:p>
        </p:txBody>
      </p:sp>
      <p:sp>
        <p:nvSpPr>
          <p:cNvPr id="14" name="文本框 13"/>
          <p:cNvSpPr txBox="1"/>
          <p:nvPr/>
        </p:nvSpPr>
        <p:spPr>
          <a:xfrm>
            <a:off x="5640070" y="5307330"/>
            <a:ext cx="6096000" cy="645160"/>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2-group : kw_new = -1.50, kw_old = -1.12</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SSE = 0.3536</a:t>
            </a:r>
            <a:endParaRPr lang="zh-CN" altLang="en-US">
              <a:latin typeface="Times New Roman Regular" panose="02020503050405090304" charset="0"/>
              <a:cs typeface="Times New Roman Regular" panose="02020503050405090304" charset="0"/>
            </a:endParaRPr>
          </a:p>
        </p:txBody>
      </p:sp>
      <p:sp>
        <p:nvSpPr>
          <p:cNvPr id="15" name="文本框 14"/>
          <p:cNvSpPr txBox="1"/>
          <p:nvPr/>
        </p:nvSpPr>
        <p:spPr>
          <a:xfrm>
            <a:off x="174625" y="45403"/>
            <a:ext cx="5080000" cy="337185"/>
          </a:xfrm>
          <a:prstGeom prst="rect">
            <a:avLst/>
          </a:prstGeom>
        </p:spPr>
        <p:txBody>
          <a:bodyPr>
            <a:spAutoFit/>
          </a:bodyPr>
          <a:p>
            <a:pPr defTabSz="266700"/>
            <a:r>
              <a:rPr lang="en-US" altLang="zh-CN" sz="1600">
                <a:latin typeface="Times New Roman Regular" panose="02020503050405090304" charset="0"/>
                <a:ea typeface="宋体"/>
                <a:cs typeface="Times New Roman Regular" panose="02020503050405090304" charset="0"/>
              </a:rPr>
              <a:t>Merge the 5 groups into 2 and refit</a:t>
            </a:r>
            <a:endParaRPr lang="en-US" altLang="zh-CN" sz="1600">
              <a:latin typeface="Times New Roman Regular" panose="02020503050405090304" charset="0"/>
              <a:ea typeface="宋体"/>
              <a:cs typeface="Times New Roman Regular" panose="02020503050405090304" charset="0"/>
            </a:endParaRPr>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99060" y="1059180"/>
            <a:ext cx="6567805" cy="3658235"/>
          </a:xfrm>
          <a:prstGeom prst="rect">
            <a:avLst/>
          </a:prstGeom>
        </p:spPr>
      </p:pic>
      <p:sp>
        <p:nvSpPr>
          <p:cNvPr id="5" name="文本框 4"/>
          <p:cNvSpPr txBox="1"/>
          <p:nvPr/>
        </p:nvSpPr>
        <p:spPr>
          <a:xfrm>
            <a:off x="334645" y="4717415"/>
            <a:ext cx="6096000" cy="2030095"/>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   </a:t>
            </a:r>
            <a:r>
              <a:rPr lang="en-US" altLang="zh-CN">
                <a:latin typeface="Times New Roman Regular" panose="02020503050405090304" charset="0"/>
                <a:cs typeface="Times New Roman Regular" panose="02020503050405090304" charset="0"/>
                <a:sym typeface="+mn-ea"/>
              </a:rPr>
              <a:t>name</a:t>
            </a:r>
            <a:r>
              <a:rPr lang="en-US" altLang="zh-CN">
                <a:latin typeface="Times New Roman Regular" panose="02020503050405090304" charset="0"/>
                <a:cs typeface="Times New Roman Regular" panose="02020503050405090304" charset="0"/>
              </a:rPr>
              <a:t>          max |zero-order - first-order| (mg/L):</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     10                      0.310</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     15                      0.530</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     20                     0.410</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     35                     0.422</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     40                     0.474</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     60                     0.003</a:t>
            </a:r>
            <a:endParaRPr lang="zh-CN" altLang="en-US">
              <a:latin typeface="Times New Roman Regular" panose="02020503050405090304" charset="0"/>
              <a:cs typeface="Times New Roman Regular" panose="02020503050405090304" charset="0"/>
            </a:endParaRPr>
          </a:p>
        </p:txBody>
      </p:sp>
      <p:sp>
        <p:nvSpPr>
          <p:cNvPr id="6" name="文本框 5"/>
          <p:cNvSpPr txBox="1"/>
          <p:nvPr/>
        </p:nvSpPr>
        <p:spPr>
          <a:xfrm>
            <a:off x="6666865" y="2281555"/>
            <a:ext cx="5646420" cy="645160"/>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sym typeface="+mn-ea"/>
              </a:rPr>
              <a:t>best zero-order mimic: kb = -1.20 mg/L/day, overall average RMSE = 0.236 mg/L</a:t>
            </a:r>
            <a:endParaRPr lang="en-US" altLang="zh-CN">
              <a:latin typeface="Times New Roman Regular" panose="02020503050405090304" charset="0"/>
              <a:cs typeface="Times New Roman Regular" panose="02020503050405090304" charset="0"/>
              <a:sym typeface="+mn-ea"/>
            </a:endParaRPr>
          </a:p>
        </p:txBody>
      </p:sp>
      <p:sp>
        <p:nvSpPr>
          <p:cNvPr id="7" name="文本框 6"/>
          <p:cNvSpPr txBox="1"/>
          <p:nvPr/>
        </p:nvSpPr>
        <p:spPr>
          <a:xfrm>
            <a:off x="99060" y="85408"/>
            <a:ext cx="5080000" cy="829945"/>
          </a:xfrm>
          <a:prstGeom prst="rect">
            <a:avLst/>
          </a:prstGeom>
        </p:spPr>
        <p:txBody>
          <a:bodyPr>
            <a:spAutoFit/>
          </a:bodyPr>
          <a:p>
            <a:pPr defTabSz="266700"/>
            <a:r>
              <a:rPr lang="en-US" altLang="zh-CN" sz="1600">
                <a:latin typeface="Times New Roman Regular" panose="02020503050405090304" charset="0"/>
                <a:ea typeface="宋体"/>
                <a:cs typeface="Times New Roman Regular" panose="02020503050405090304" charset="0"/>
              </a:rPr>
              <a:t>With the 6 original monitors, can a zero-order bulk run mimic the first-order traces to within sensor accuracy (~0.05 mg/L)</a:t>
            </a:r>
            <a:endParaRPr lang="en-US" altLang="zh-CN" sz="1600">
              <a:latin typeface="Times New Roman Regular" panose="02020503050405090304" charset="0"/>
              <a:ea typeface="宋体"/>
              <a:cs typeface="Times New Roman Regular" panose="02020503050405090304" charset="0"/>
            </a:endParaRPr>
          </a:p>
        </p:txBody>
      </p:sp>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5487670" y="1543050"/>
            <a:ext cx="5710555" cy="3042920"/>
          </a:xfrm>
          <a:prstGeom prst="rect">
            <a:avLst/>
          </a:prstGeom>
        </p:spPr>
      </p:pic>
      <p:sp>
        <p:nvSpPr>
          <p:cNvPr id="6" name="文本框 5"/>
          <p:cNvSpPr txBox="1"/>
          <p:nvPr/>
        </p:nvSpPr>
        <p:spPr>
          <a:xfrm>
            <a:off x="1694180" y="5214620"/>
            <a:ext cx="8803640" cy="368300"/>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['243', '10', '131', '193', '61']    </a:t>
            </a:r>
            <a:r>
              <a:rPr lang="en-US" altLang="zh-CN">
                <a:latin typeface="Times New Roman Regular" panose="02020503050405090304" charset="0"/>
                <a:cs typeface="Times New Roman Regular" panose="02020503050405090304" charset="0"/>
              </a:rPr>
              <a:t>→        info-optimal ['229', '237', '249', '213', '239']</a:t>
            </a:r>
            <a:endParaRPr lang="en-US" altLang="zh-CN">
              <a:latin typeface="Times New Roman Regular" panose="02020503050405090304" charset="0"/>
              <a:cs typeface="Times New Roman Regular" panose="02020503050405090304" charset="0"/>
            </a:endParaRPr>
          </a:p>
        </p:txBody>
      </p:sp>
      <p:sp>
        <p:nvSpPr>
          <p:cNvPr id="7" name="文本框 6"/>
          <p:cNvSpPr txBox="1"/>
          <p:nvPr/>
        </p:nvSpPr>
        <p:spPr>
          <a:xfrm>
            <a:off x="1694180" y="5747385"/>
            <a:ext cx="3091815" cy="645160"/>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std = 0.052</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95% CI = [-1.246, -1.039]</a:t>
            </a:r>
            <a:endParaRPr lang="zh-CN" altLang="en-US">
              <a:latin typeface="Times New Roman Regular" panose="02020503050405090304" charset="0"/>
              <a:cs typeface="Times New Roman Regular" panose="02020503050405090304" charset="0"/>
            </a:endParaRPr>
          </a:p>
        </p:txBody>
      </p:sp>
      <p:sp>
        <p:nvSpPr>
          <p:cNvPr id="8" name="文本框 7"/>
          <p:cNvSpPr txBox="1"/>
          <p:nvPr/>
        </p:nvSpPr>
        <p:spPr>
          <a:xfrm>
            <a:off x="6145530" y="5747385"/>
            <a:ext cx="4065905" cy="645160"/>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std = 0.036</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95% CI = [-0.974, -0.876]</a:t>
            </a:r>
            <a:endParaRPr lang="zh-CN" altLang="en-US">
              <a:latin typeface="Times New Roman Regular" panose="02020503050405090304" charset="0"/>
              <a:cs typeface="Times New Roman Regular" panose="02020503050405090304" charset="0"/>
            </a:endParaRPr>
          </a:p>
        </p:txBody>
      </p:sp>
      <p:pic>
        <p:nvPicPr>
          <p:cNvPr id="11" name="图片 10"/>
          <p:cNvPicPr>
            <a:picLocks noChangeAspect="1"/>
          </p:cNvPicPr>
          <p:nvPr/>
        </p:nvPicPr>
        <p:blipFill>
          <a:blip r:embed="rId2"/>
          <a:stretch>
            <a:fillRect/>
          </a:stretch>
        </p:blipFill>
        <p:spPr>
          <a:xfrm>
            <a:off x="162560" y="1658620"/>
            <a:ext cx="4809490" cy="3043555"/>
          </a:xfrm>
          <a:prstGeom prst="rect">
            <a:avLst/>
          </a:prstGeom>
        </p:spPr>
      </p:pic>
      <p:sp>
        <p:nvSpPr>
          <p:cNvPr id="12" name="文本框 11"/>
          <p:cNvSpPr txBox="1"/>
          <p:nvPr/>
        </p:nvSpPr>
        <p:spPr>
          <a:xfrm>
            <a:off x="323850" y="193358"/>
            <a:ext cx="5080000" cy="829945"/>
          </a:xfrm>
          <a:prstGeom prst="rect">
            <a:avLst/>
          </a:prstGeom>
        </p:spPr>
        <p:txBody>
          <a:bodyPr>
            <a:spAutoFit/>
          </a:bodyPr>
          <a:p>
            <a:pPr defTabSz="266700"/>
            <a:r>
              <a:rPr lang="en-US" altLang="zh-CN" sz="1600">
                <a:latin typeface="Times New Roman Regular" panose="02020503050405090304" charset="0"/>
                <a:ea typeface="宋体"/>
                <a:cs typeface="Times New Roman Regular" panose="02020503050405090304" charset="0"/>
              </a:rPr>
              <a:t>Select 5 sensors greedily by the </a:t>
            </a:r>
            <a:r>
              <a:rPr lang="zh-CN" altLang="en-US" sz="1600">
                <a:latin typeface="Times New Roman Regular" panose="02020503050405090304" charset="0"/>
                <a:ea typeface="宋体"/>
                <a:cs typeface="Times New Roman Regular" panose="02020503050405090304" charset="0"/>
              </a:rPr>
              <a:t>§</a:t>
            </a:r>
            <a:r>
              <a:rPr lang="en-US" altLang="zh-CN" sz="1600">
                <a:latin typeface="Times New Roman Regular" panose="02020503050405090304" charset="0"/>
                <a:ea typeface="宋体"/>
                <a:cs typeface="Times New Roman Regular" panose="02020503050405090304" charset="0"/>
              </a:rPr>
              <a:t>12.5 INFO metric, redo the bootstrap, and compare the spread against the farthest-point array.</a:t>
            </a:r>
            <a:endParaRPr lang="en-US" altLang="zh-CN" sz="1600">
              <a:latin typeface="Times New Roman Regular" panose="02020503050405090304" charset="0"/>
              <a:ea typeface="宋体"/>
              <a:cs typeface="Times New Roman Regular" panose="02020503050405090304" charset="0"/>
            </a:endParaRPr>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04470" y="4392930"/>
            <a:ext cx="6096000" cy="1938020"/>
          </a:xfrm>
          <a:prstGeom prst="rect">
            <a:avLst/>
          </a:prstGeom>
          <a:noFill/>
        </p:spPr>
        <p:txBody>
          <a:bodyPr wrap="square" rtlCol="0" anchor="t">
            <a:spAutoFit/>
          </a:bodyPr>
          <a:p>
            <a:r>
              <a:rPr lang="en-US" altLang="zh-CN" sz="2400">
                <a:latin typeface="Times New Roman Regular" panose="02020503050405090304" charset="0"/>
                <a:cs typeface="Times New Roman Regular" panose="02020503050405090304" charset="0"/>
              </a:rPr>
              <a:t>Euclidean set        : ['243', '10', '131', '193', '61']   total INFO = 0.743</a:t>
            </a:r>
            <a:endParaRPr lang="en-US" altLang="zh-CN" sz="2400">
              <a:latin typeface="Times New Roman Regular" panose="02020503050405090304" charset="0"/>
              <a:cs typeface="Times New Roman Regular" panose="02020503050405090304" charset="0"/>
            </a:endParaRPr>
          </a:p>
          <a:p>
            <a:r>
              <a:rPr lang="en-US" altLang="zh-CN" sz="2400">
                <a:latin typeface="Times New Roman Regular" panose="02020503050405090304" charset="0"/>
                <a:cs typeface="Times New Roman Regular" panose="02020503050405090304" charset="0"/>
              </a:rPr>
              <a:t>Network-distance set : ['243', '60', '10', '15', '111']   total INFO = 1.033</a:t>
            </a:r>
            <a:endParaRPr lang="en-US" altLang="zh-CN" sz="2400">
              <a:latin typeface="Times New Roman Regular" panose="02020503050405090304" charset="0"/>
              <a:cs typeface="Times New Roman Regular" panose="02020503050405090304" charset="0"/>
            </a:endParaRPr>
          </a:p>
          <a:p>
            <a:r>
              <a:rPr lang="en-US" altLang="zh-CN" sz="2400">
                <a:latin typeface="Times New Roman Regular" panose="02020503050405090304" charset="0"/>
                <a:cs typeface="Times New Roman Regular" panose="02020503050405090304" charset="0"/>
              </a:rPr>
              <a:t>sets identical? False</a:t>
            </a:r>
            <a:endParaRPr lang="en-US" altLang="zh-CN" sz="2400">
              <a:latin typeface="Times New Roman Regular" panose="02020503050405090304" charset="0"/>
              <a:cs typeface="Times New Roman Regular" panose="02020503050405090304" charset="0"/>
            </a:endParaRPr>
          </a:p>
        </p:txBody>
      </p:sp>
      <p:pic>
        <p:nvPicPr>
          <p:cNvPr id="6" name="图片 5"/>
          <p:cNvPicPr>
            <a:picLocks noChangeAspect="1"/>
          </p:cNvPicPr>
          <p:nvPr/>
        </p:nvPicPr>
        <p:blipFill>
          <a:blip r:embed="rId1"/>
          <a:stretch>
            <a:fillRect/>
          </a:stretch>
        </p:blipFill>
        <p:spPr>
          <a:xfrm>
            <a:off x="5490845" y="293370"/>
            <a:ext cx="5360670" cy="4707890"/>
          </a:xfrm>
          <a:prstGeom prst="rect">
            <a:avLst/>
          </a:prstGeom>
        </p:spPr>
      </p:pic>
      <p:sp>
        <p:nvSpPr>
          <p:cNvPr id="7" name="文本框 6"/>
          <p:cNvSpPr txBox="1"/>
          <p:nvPr/>
        </p:nvSpPr>
        <p:spPr>
          <a:xfrm>
            <a:off x="204470" y="482917"/>
            <a:ext cx="5080000" cy="1014730"/>
          </a:xfrm>
          <a:prstGeom prst="rect">
            <a:avLst/>
          </a:prstGeom>
        </p:spPr>
        <p:txBody>
          <a:bodyPr>
            <a:spAutoFit/>
          </a:bodyPr>
          <a:p>
            <a:pPr defTabSz="266700"/>
            <a:r>
              <a:rPr lang="en-US" altLang="zh-CN" sz="2000">
                <a:latin typeface="Times New Roman Regular" panose="02020503050405090304" charset="0"/>
                <a:ea typeface="宋体"/>
                <a:cs typeface="Times New Roman Regular" panose="02020503050405090304" charset="0"/>
              </a:rPr>
              <a:t>Repeat the farthest-point sampling with pipe-length shortest-path distance instead of Euclidean.</a:t>
            </a:r>
            <a:endParaRPr lang="en-US" altLang="zh-CN" sz="2000">
              <a:latin typeface="Times New Roman Regular" panose="02020503050405090304" charset="0"/>
              <a:ea typeface="宋体"/>
              <a:cs typeface="Times New Roman Regular" panose="02020503050405090304" charset="0"/>
            </a:endParaRPr>
          </a:p>
        </p:txBody>
      </p:sp>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rcRect r="50481"/>
          <a:stretch>
            <a:fillRect/>
          </a:stretch>
        </p:blipFill>
        <p:spPr>
          <a:xfrm>
            <a:off x="5755005" y="859790"/>
            <a:ext cx="5136515" cy="3895725"/>
          </a:xfrm>
          <a:prstGeom prst="rect">
            <a:avLst/>
          </a:prstGeom>
        </p:spPr>
      </p:pic>
      <p:sp>
        <p:nvSpPr>
          <p:cNvPr id="6" name="文本框 5"/>
          <p:cNvSpPr txBox="1"/>
          <p:nvPr/>
        </p:nvSpPr>
        <p:spPr>
          <a:xfrm>
            <a:off x="1198880" y="5537835"/>
            <a:ext cx="8901430" cy="1014730"/>
          </a:xfrm>
          <a:prstGeom prst="rect">
            <a:avLst/>
          </a:prstGeom>
          <a:noFill/>
        </p:spPr>
        <p:txBody>
          <a:bodyPr wrap="square" rtlCol="0" anchor="t">
            <a:spAutoFit/>
          </a:bodyPr>
          <a:p>
            <a:r>
              <a:rPr lang="en-US" altLang="zh-CN" sz="2000">
                <a:latin typeface="Times New Roman Regular" panose="02020503050405090304" charset="0"/>
                <a:cs typeface="Times New Roman Regular" panose="02020503050405090304" charset="0"/>
              </a:rPr>
              <a:t>sigma = 0.02: mean kw_hat = -1.147 | std = 0.030 | std/sigma = 1.52</a:t>
            </a:r>
            <a:endParaRPr lang="en-US" altLang="zh-CN" sz="2000">
              <a:latin typeface="Times New Roman Regular" panose="02020503050405090304" charset="0"/>
              <a:cs typeface="Times New Roman Regular" panose="02020503050405090304" charset="0"/>
            </a:endParaRPr>
          </a:p>
          <a:p>
            <a:r>
              <a:rPr lang="en-US" altLang="zh-CN" sz="2000">
                <a:latin typeface="Times New Roman Regular" panose="02020503050405090304" charset="0"/>
                <a:cs typeface="Times New Roman Regular" panose="02020503050405090304" charset="0"/>
              </a:rPr>
              <a:t>sigma = 0.05: mean kw_hat = -1.138 | std = 0.052 | std/sigma = 1.03</a:t>
            </a:r>
            <a:endParaRPr lang="en-US" altLang="zh-CN" sz="2000">
              <a:latin typeface="Times New Roman Regular" panose="02020503050405090304" charset="0"/>
              <a:cs typeface="Times New Roman Regular" panose="02020503050405090304" charset="0"/>
            </a:endParaRPr>
          </a:p>
          <a:p>
            <a:r>
              <a:rPr lang="en-US" altLang="zh-CN" sz="2000">
                <a:latin typeface="Times New Roman Regular" panose="02020503050405090304" charset="0"/>
                <a:cs typeface="Times New Roman Regular" panose="02020503050405090304" charset="0"/>
              </a:rPr>
              <a:t>sigma = 0.10: mean kw_hat = -1.143  | std = 0.087 | std/sigma = 0.87</a:t>
            </a:r>
            <a:endParaRPr lang="en-US" altLang="zh-CN" sz="2000">
              <a:latin typeface="Times New Roman Regular" panose="02020503050405090304" charset="0"/>
              <a:cs typeface="Times New Roman Regular" panose="02020503050405090304" charset="0"/>
            </a:endParaRPr>
          </a:p>
        </p:txBody>
      </p:sp>
      <p:sp>
        <p:nvSpPr>
          <p:cNvPr id="7" name="文本框 6"/>
          <p:cNvSpPr txBox="1"/>
          <p:nvPr/>
        </p:nvSpPr>
        <p:spPr>
          <a:xfrm>
            <a:off x="287655" y="244158"/>
            <a:ext cx="5080000" cy="922020"/>
          </a:xfrm>
          <a:prstGeom prst="rect">
            <a:avLst/>
          </a:prstGeom>
        </p:spPr>
        <p:txBody>
          <a:bodyPr>
            <a:spAutoFit/>
          </a:bodyPr>
          <a:p>
            <a:pPr defTabSz="266700"/>
            <a:r>
              <a:rPr lang="en-US" altLang="zh-CN">
                <a:latin typeface="Times New Roman Regular" panose="02020503050405090304" charset="0"/>
                <a:ea typeface="宋体"/>
                <a:cs typeface="Times New Roman Regular" panose="02020503050405090304" charset="0"/>
              </a:rPr>
              <a:t>Re-run </a:t>
            </a:r>
            <a:r>
              <a:rPr lang="zh-CN" altLang="en-US">
                <a:latin typeface="Times New Roman Regular" panose="02020503050405090304" charset="0"/>
                <a:ea typeface="宋体"/>
                <a:cs typeface="Times New Roman Regular" panose="02020503050405090304" charset="0"/>
              </a:rPr>
              <a:t>§</a:t>
            </a:r>
            <a:r>
              <a:rPr lang="en-US" altLang="zh-CN">
                <a:latin typeface="Times New Roman Regular" panose="02020503050405090304" charset="0"/>
                <a:ea typeface="宋体"/>
                <a:cs typeface="Times New Roman Regular" panose="02020503050405090304" charset="0"/>
              </a:rPr>
              <a:t>12.4 with SIGMA_NOISE = 0.02 and 0.10.</a:t>
            </a:r>
            <a:endParaRPr lang="en-US" altLang="zh-CN">
              <a:latin typeface="Times New Roman Regular" panose="02020503050405090304" charset="0"/>
              <a:ea typeface="宋体"/>
              <a:cs typeface="Times New Roman Regular" panose="02020503050405090304" charset="0"/>
            </a:endParaRPr>
          </a:p>
          <a:p>
            <a:pPr defTabSz="266700"/>
            <a:r>
              <a:rPr lang="en-US" altLang="zh-CN">
                <a:latin typeface="Times New Roman Regular" panose="02020503050405090304" charset="0"/>
                <a:ea typeface="宋体"/>
                <a:cs typeface="Times New Roman Regular" panose="02020503050405090304" charset="0"/>
              </a:rPr>
              <a:t>How does the histogram width scale? Does the bias change?</a:t>
            </a:r>
            <a:endParaRPr lang="en-US" altLang="zh-CN">
              <a:latin typeface="Times New Roman Regular" panose="02020503050405090304" charset="0"/>
              <a:ea typeface="宋体"/>
              <a:cs typeface="Times New Roman Regular" panose="02020503050405090304" charset="0"/>
            </a:endParaRPr>
          </a:p>
        </p:txBody>
      </p:sp>
    </p:spTree>
    <p:custDataLst>
      <p:tags r:id="rId2"/>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5798185" y="1445895"/>
            <a:ext cx="5740400" cy="3098165"/>
          </a:xfrm>
          <a:prstGeom prst="rect">
            <a:avLst/>
          </a:prstGeom>
        </p:spPr>
      </p:pic>
      <p:sp>
        <p:nvSpPr>
          <p:cNvPr id="5" name="文本框 4"/>
          <p:cNvSpPr txBox="1"/>
          <p:nvPr/>
        </p:nvSpPr>
        <p:spPr>
          <a:xfrm>
            <a:off x="168910" y="5154295"/>
            <a:ext cx="6167120" cy="829945"/>
          </a:xfrm>
          <a:prstGeom prst="rect">
            <a:avLst/>
          </a:prstGeom>
        </p:spPr>
        <p:txBody>
          <a:bodyPr wrap="square">
            <a:spAutoFit/>
          </a:bodyPr>
          <a:p>
            <a:r>
              <a:rPr lang="en-US" altLang="zh-CN" sz="1600">
                <a:latin typeface="Times New Roman Regular" panose="02020503050405090304" charset="0"/>
                <a:cs typeface="Times New Roman Regular" panose="02020503050405090304" charset="0"/>
              </a:rPr>
              <a:t>114 points above the detection limit</a:t>
            </a:r>
            <a:r>
              <a:rPr lang="zh-CN" altLang="en-US" sz="1600">
                <a:latin typeface="Times New Roman Regular" panose="02020503050405090304" charset="0"/>
                <a:cs typeface="Times New Roman Regular" panose="02020503050405090304" charset="0"/>
              </a:rPr>
              <a:t> </a:t>
            </a:r>
            <a:r>
              <a:rPr lang="en-US" altLang="zh-CN" sz="1600">
                <a:latin typeface="Times New Roman Regular" panose="02020503050405090304" charset="0"/>
                <a:cs typeface="Times New Roman Regular" panose="02020503050405090304" charset="0"/>
              </a:rPr>
              <a:t>→ (model − obs)²/(2σ²)</a:t>
            </a:r>
            <a:endParaRPr lang="en-US" altLang="zh-CN" sz="1600">
              <a:latin typeface="Times New Roman Regular" panose="02020503050405090304" charset="0"/>
              <a:cs typeface="Times New Roman Regular" panose="02020503050405090304" charset="0"/>
            </a:endParaRPr>
          </a:p>
          <a:p>
            <a:r>
              <a:rPr lang="en-US" altLang="zh-CN" sz="1600">
                <a:latin typeface="Times New Roman Regular" panose="02020503050405090304" charset="0"/>
                <a:cs typeface="Times New Roman Regular" panose="02020503050405090304" charset="0"/>
              </a:rPr>
              <a:t>71 points below the detection limit</a:t>
            </a:r>
            <a:r>
              <a:rPr lang="zh-CN" altLang="en-US" sz="1600">
                <a:latin typeface="Times New Roman Regular" panose="02020503050405090304" charset="0"/>
                <a:cs typeface="Times New Roman Regular" panose="02020503050405090304" charset="0"/>
              </a:rPr>
              <a:t> </a:t>
            </a:r>
            <a:r>
              <a:rPr lang="en-US" altLang="zh-CN" sz="1600">
                <a:latin typeface="Times New Roman Regular" panose="02020503050405090304" charset="0"/>
                <a:cs typeface="Times New Roman Regular" panose="02020503050405090304" charset="0"/>
              </a:rPr>
              <a:t>→ −ln Φ((L − model)/σ)</a:t>
            </a:r>
            <a:endParaRPr lang="en-US" altLang="zh-CN" sz="1600">
              <a:latin typeface="Times New Roman Regular" panose="02020503050405090304" charset="0"/>
              <a:cs typeface="Times New Roman Regular" panose="02020503050405090304" charset="0"/>
            </a:endParaRPr>
          </a:p>
          <a:p>
            <a:endParaRPr lang="zh-CN" altLang="en-US" sz="1600">
              <a:latin typeface="Times New Roman Regular" panose="02020503050405090304" charset="0"/>
              <a:cs typeface="Times New Roman Regular" panose="02020503050405090304" charset="0"/>
            </a:endParaRPr>
          </a:p>
        </p:txBody>
      </p:sp>
      <p:pic>
        <p:nvPicPr>
          <p:cNvPr id="6" name="图片 5"/>
          <p:cNvPicPr>
            <a:picLocks noChangeAspect="1"/>
          </p:cNvPicPr>
          <p:nvPr/>
        </p:nvPicPr>
        <p:blipFill>
          <a:blip r:embed="rId2"/>
          <a:stretch>
            <a:fillRect/>
          </a:stretch>
        </p:blipFill>
        <p:spPr>
          <a:xfrm>
            <a:off x="0" y="1569720"/>
            <a:ext cx="5290820" cy="2974340"/>
          </a:xfrm>
          <a:prstGeom prst="rect">
            <a:avLst/>
          </a:prstGeom>
        </p:spPr>
      </p:pic>
      <p:sp>
        <p:nvSpPr>
          <p:cNvPr id="7" name="文本框 6"/>
          <p:cNvSpPr txBox="1"/>
          <p:nvPr/>
        </p:nvSpPr>
        <p:spPr>
          <a:xfrm>
            <a:off x="6750050" y="5050473"/>
            <a:ext cx="5080000" cy="1076325"/>
          </a:xfrm>
          <a:prstGeom prst="rect">
            <a:avLst/>
          </a:prstGeom>
        </p:spPr>
        <p:txBody>
          <a:bodyPr>
            <a:spAutoFit/>
          </a:bodyPr>
          <a:p>
            <a:pPr marL="0" indent="0"/>
            <a:r>
              <a:rPr lang="en-US" altLang="zh-CN" sz="1600" b="0" i="0">
                <a:solidFill>
                  <a:schemeClr val="tx1"/>
                </a:solidFill>
                <a:latin typeface="Times New Roman Regular" panose="02020503050405090304" charset="0"/>
                <a:ea typeface="Menlo" panose="020B0609030804020204"/>
                <a:cs typeface="Times New Roman Regular" panose="02020503050405090304" charset="0"/>
              </a:rPr>
              <a:t>detection limit L = 2*</a:t>
            </a:r>
            <a:r>
              <a:rPr lang="en-US" altLang="zh-CN" sz="1600">
                <a:latin typeface="Times New Roman Regular" panose="02020503050405090304" charset="0"/>
                <a:cs typeface="Times New Roman Regular" panose="02020503050405090304" charset="0"/>
                <a:sym typeface="+mn-ea"/>
              </a:rPr>
              <a:t>σ</a:t>
            </a:r>
            <a:r>
              <a:rPr lang="en-US" altLang="zh-CN" sz="1600" b="0" i="0">
                <a:solidFill>
                  <a:schemeClr val="tx1"/>
                </a:solidFill>
                <a:latin typeface="Times New Roman Regular" panose="02020503050405090304" charset="0"/>
                <a:ea typeface="Menlo" panose="020B0609030804020204"/>
                <a:cs typeface="Times New Roman Regular" panose="02020503050405090304" charset="0"/>
              </a:rPr>
              <a:t> = 0.10 mg/L;</a:t>
            </a:r>
            <a:endParaRPr lang="en-US" altLang="zh-CN" sz="1600" b="0" i="0">
              <a:solidFill>
                <a:schemeClr val="tx1"/>
              </a:solidFill>
              <a:latin typeface="Times New Roman Regular" panose="02020503050405090304" charset="0"/>
              <a:ea typeface="Menlo" panose="020B0609030804020204"/>
              <a:cs typeface="Times New Roman Regular" panose="02020503050405090304" charset="0"/>
            </a:endParaRPr>
          </a:p>
          <a:p>
            <a:pPr marL="0" indent="0"/>
            <a:r>
              <a:rPr lang="en-US" altLang="zh-CN" sz="1600" b="0" i="0">
                <a:solidFill>
                  <a:schemeClr val="tx1"/>
                </a:solidFill>
                <a:latin typeface="Times New Roman Regular" panose="02020503050405090304" charset="0"/>
                <a:ea typeface="Menlo" panose="020B0609030804020204"/>
                <a:cs typeface="Times New Roman Regular" panose="02020503050405090304" charset="0"/>
              </a:rPr>
              <a:t>kw_hat(SSE) = -1.175/day </a:t>
            </a:r>
            <a:endParaRPr lang="en-US" altLang="zh-CN" sz="1600" b="0" i="0">
              <a:solidFill>
                <a:schemeClr val="tx1"/>
              </a:solidFill>
              <a:latin typeface="Times New Roman Regular" panose="02020503050405090304" charset="0"/>
              <a:ea typeface="Menlo" panose="020B0609030804020204"/>
              <a:cs typeface="Times New Roman Regular" panose="02020503050405090304" charset="0"/>
            </a:endParaRPr>
          </a:p>
          <a:p>
            <a:pPr marL="0" indent="0"/>
            <a:r>
              <a:rPr lang="en-US" altLang="zh-CN" sz="1600" b="0" i="0">
                <a:solidFill>
                  <a:schemeClr val="tx1"/>
                </a:solidFill>
                <a:latin typeface="Times New Roman Regular" panose="02020503050405090304" charset="0"/>
                <a:ea typeface="Menlo" panose="020B0609030804020204"/>
                <a:cs typeface="Times New Roman Regular" panose="02020503050405090304" charset="0"/>
              </a:rPr>
              <a:t>kw_hat(Tobit) = -1.076/day </a:t>
            </a:r>
            <a:endParaRPr lang="en-US" altLang="zh-CN" sz="1600" b="0" i="0">
              <a:solidFill>
                <a:schemeClr val="tx1"/>
              </a:solidFill>
              <a:latin typeface="Times New Roman Regular" panose="02020503050405090304" charset="0"/>
              <a:ea typeface="Menlo" panose="020B0609030804020204"/>
              <a:cs typeface="Times New Roman Regular" panose="02020503050405090304" charset="0"/>
            </a:endParaRPr>
          </a:p>
          <a:p>
            <a:pPr marL="0" indent="0"/>
            <a:r>
              <a:rPr lang="en-US" altLang="zh-CN" sz="1600" b="0" i="0">
                <a:solidFill>
                  <a:schemeClr val="tx1"/>
                </a:solidFill>
                <a:latin typeface="Times New Roman Regular" panose="02020503050405090304" charset="0"/>
                <a:ea typeface="Menlo" panose="020B0609030804020204"/>
                <a:cs typeface="Times New Roman Regular" panose="02020503050405090304" charset="0"/>
              </a:rPr>
              <a:t>(shift +0.099)</a:t>
            </a:r>
            <a:endParaRPr lang="en-US" altLang="zh-CN" sz="1600" b="0" i="0">
              <a:solidFill>
                <a:schemeClr val="tx1"/>
              </a:solidFill>
              <a:latin typeface="Times New Roman Regular" panose="02020503050405090304" charset="0"/>
              <a:ea typeface="Menlo" panose="020B0609030804020204"/>
              <a:cs typeface="Times New Roman Regular" panose="02020503050405090304" charset="0"/>
            </a:endParaRPr>
          </a:p>
        </p:txBody>
      </p:sp>
      <p:sp>
        <p:nvSpPr>
          <p:cNvPr id="8" name="文本框 7"/>
          <p:cNvSpPr txBox="1"/>
          <p:nvPr/>
        </p:nvSpPr>
        <p:spPr>
          <a:xfrm>
            <a:off x="299720" y="228918"/>
            <a:ext cx="5080000" cy="1076325"/>
          </a:xfrm>
          <a:prstGeom prst="rect">
            <a:avLst/>
          </a:prstGeom>
        </p:spPr>
        <p:txBody>
          <a:bodyPr>
            <a:spAutoFit/>
          </a:bodyPr>
          <a:p>
            <a:pPr defTabSz="266700"/>
            <a:r>
              <a:rPr lang="en-US" altLang="zh-CN" sz="1600">
                <a:latin typeface="Times New Roman Regular" panose="02020503050405090304" charset="0"/>
                <a:ea typeface="宋体"/>
                <a:cs typeface="Times New Roman Regular" panose="02020503050405090304" charset="0"/>
              </a:rPr>
              <a:t>Replace the SSE with a Tobit-style likelihood that treats observations below ~2σ as censored.</a:t>
            </a:r>
            <a:endParaRPr lang="en-US" altLang="zh-CN" sz="1600">
              <a:latin typeface="Times New Roman Regular" panose="02020503050405090304" charset="0"/>
              <a:ea typeface="宋体"/>
              <a:cs typeface="Times New Roman Regular" panose="02020503050405090304" charset="0"/>
            </a:endParaRPr>
          </a:p>
          <a:p>
            <a:pPr defTabSz="266700"/>
            <a:r>
              <a:rPr lang="en-US" altLang="zh-CN" sz="1600">
                <a:latin typeface="Times New Roman Regular" panose="02020503050405090304" charset="0"/>
                <a:ea typeface="宋体"/>
                <a:cs typeface="Times New Roman Regular" panose="02020503050405090304" charset="0"/>
              </a:rPr>
              <a:t>Does kw_hat move? When would it?</a:t>
            </a:r>
            <a:endParaRPr lang="en-US" altLang="zh-CN" sz="1600">
              <a:latin typeface="Times New Roman Regular" panose="02020503050405090304" charset="0"/>
              <a:ea typeface="宋体"/>
              <a:cs typeface="Times New Roman Regular" panose="02020503050405090304" charset="0"/>
            </a:endParaRPr>
          </a:p>
        </p:txBody>
      </p:sp>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3475355" y="1038860"/>
            <a:ext cx="6991350" cy="3876675"/>
          </a:xfrm>
          <a:prstGeom prst="rect">
            <a:avLst/>
          </a:prstGeom>
        </p:spPr>
      </p:pic>
      <p:sp>
        <p:nvSpPr>
          <p:cNvPr id="5" name="文本框 4"/>
          <p:cNvSpPr txBox="1"/>
          <p:nvPr/>
        </p:nvSpPr>
        <p:spPr>
          <a:xfrm>
            <a:off x="4211320" y="5213985"/>
            <a:ext cx="6991985" cy="922020"/>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inverse-crime estimate (truth - 300s)  kw= -0.3686/day</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honest estimate        (truth - 60s)  kw= -0.3678/day</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numerical-error contribution         = +0.0008/day</a:t>
            </a:r>
            <a:endParaRPr lang="zh-CN" altLang="en-US">
              <a:latin typeface="Times New Roman Regular" panose="02020503050405090304" charset="0"/>
              <a:cs typeface="Times New Roman Regular" panose="02020503050405090304" charset="0"/>
            </a:endParaRPr>
          </a:p>
        </p:txBody>
      </p:sp>
      <p:sp>
        <p:nvSpPr>
          <p:cNvPr id="6" name="文本框 5"/>
          <p:cNvSpPr txBox="1"/>
          <p:nvPr/>
        </p:nvSpPr>
        <p:spPr>
          <a:xfrm>
            <a:off x="7537450" y="403225"/>
            <a:ext cx="2761615" cy="337185"/>
          </a:xfrm>
          <a:prstGeom prst="rect">
            <a:avLst/>
          </a:prstGeom>
        </p:spPr>
        <p:txBody>
          <a:bodyPr wrap="square">
            <a:spAutoFit/>
          </a:bodyPr>
          <a:p>
            <a:pPr marL="0" indent="0"/>
            <a:r>
              <a:rPr lang="en-US" altLang="zh-CN" sz="1600" b="0" i="0">
                <a:solidFill>
                  <a:schemeClr val="tx1"/>
                </a:solidFill>
                <a:latin typeface="Times New Roman Regular" panose="02020503050405090304" charset="0"/>
                <a:ea typeface="-apple-system"/>
                <a:cs typeface="Times New Roman Regular" panose="02020503050405090304" charset="0"/>
              </a:rPr>
              <a:t>true - kw=-0.33</a:t>
            </a:r>
            <a:endParaRPr lang="en-US" altLang="zh-CN" sz="1600" b="0" i="0">
              <a:solidFill>
                <a:schemeClr val="tx1"/>
              </a:solidFill>
              <a:latin typeface="Times New Roman Regular" panose="02020503050405090304" charset="0"/>
              <a:ea typeface="-apple-system"/>
              <a:cs typeface="Times New Roman Regular" panose="02020503050405090304" charset="0"/>
            </a:endParaRPr>
          </a:p>
        </p:txBody>
      </p:sp>
      <p:sp>
        <p:nvSpPr>
          <p:cNvPr id="7" name="文本框 6"/>
          <p:cNvSpPr txBox="1"/>
          <p:nvPr/>
        </p:nvSpPr>
        <p:spPr>
          <a:xfrm>
            <a:off x="263525" y="177165"/>
            <a:ext cx="5437505" cy="829945"/>
          </a:xfrm>
          <a:prstGeom prst="rect">
            <a:avLst/>
          </a:prstGeom>
        </p:spPr>
        <p:txBody>
          <a:bodyPr wrap="square">
            <a:spAutoFit/>
          </a:bodyPr>
          <a:p>
            <a:pPr defTabSz="266700"/>
            <a:r>
              <a:rPr lang="en-US" altLang="zh-CN" sz="1600">
                <a:latin typeface="Times New Roman Regular" panose="02020503050405090304" charset="0"/>
                <a:ea typeface="宋体"/>
                <a:cs typeface="Times New Roman Regular" panose="02020503050405090304" charset="0"/>
              </a:rPr>
              <a:t>Regenerate the truth with quality_timestep = 60 s and re-estimate with the 300 s model.</a:t>
            </a:r>
            <a:endParaRPr lang="en-US" altLang="zh-CN" sz="1600">
              <a:latin typeface="Times New Roman Regular" panose="02020503050405090304" charset="0"/>
              <a:ea typeface="宋体"/>
              <a:cs typeface="Times New Roman Regular" panose="02020503050405090304" charset="0"/>
            </a:endParaRPr>
          </a:p>
          <a:p>
            <a:pPr defTabSz="266700"/>
            <a:r>
              <a:rPr lang="en-US" altLang="zh-CN" sz="1600">
                <a:latin typeface="Times New Roman Regular" panose="02020503050405090304" charset="0"/>
                <a:ea typeface="宋体"/>
                <a:cs typeface="Times New Roman Regular" panose="02020503050405090304" charset="0"/>
              </a:rPr>
              <a:t>The shift is your numerical-error contribution to the budget.</a:t>
            </a:r>
            <a:endParaRPr lang="en-US" altLang="zh-CN" sz="1600">
              <a:latin typeface="Times New Roman Regular" panose="02020503050405090304" charset="0"/>
              <a:ea typeface="宋体"/>
              <a:cs typeface="Times New Roman Regular" panose="02020503050405090304" charset="0"/>
            </a:endParaRPr>
          </a:p>
        </p:txBody>
      </p:sp>
    </p:spTree>
    <p:custDataLst>
      <p:tags r:id="rId2"/>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229995" y="5949315"/>
            <a:ext cx="8095615" cy="829945"/>
          </a:xfrm>
          <a:prstGeom prst="rect">
            <a:avLst/>
          </a:prstGeom>
        </p:spPr>
        <p:txBody>
          <a:bodyPr wrap="square">
            <a:spAutoFit/>
          </a:bodyPr>
          <a:p>
            <a:pPr marL="0" indent="0"/>
            <a:r>
              <a:rPr lang="en-US" altLang="zh-CN" sz="1600" b="0" i="0">
                <a:solidFill>
                  <a:schemeClr val="tx1"/>
                </a:solidFill>
                <a:latin typeface="Times New Roman Regular" panose="02020503050405090304" charset="0"/>
                <a:ea typeface="Menlo" panose="020B0609030804020204"/>
                <a:cs typeface="Times New Roman Regular" panose="02020503050405090304" charset="0"/>
              </a:rPr>
              <a:t>SSE minimum at kb = -0.450, kw = -0.350 (truth -0.5, -0.33) </a:t>
            </a:r>
            <a:endParaRPr lang="en-US" altLang="zh-CN" sz="1600" b="0" i="0">
              <a:solidFill>
                <a:schemeClr val="tx1"/>
              </a:solidFill>
              <a:latin typeface="Times New Roman Regular" panose="02020503050405090304" charset="0"/>
              <a:ea typeface="Menlo" panose="020B0609030804020204"/>
              <a:cs typeface="Times New Roman Regular" panose="02020503050405090304" charset="0"/>
            </a:endParaRPr>
          </a:p>
          <a:p>
            <a:pPr marL="0" indent="0"/>
            <a:r>
              <a:rPr lang="en-US" altLang="zh-CN" sz="1600" b="0" i="0">
                <a:solidFill>
                  <a:schemeClr val="tx1"/>
                </a:solidFill>
                <a:latin typeface="Times New Roman Regular" panose="02020503050405090304" charset="0"/>
                <a:ea typeface="Menlo" panose="020B0609030804020204"/>
                <a:cs typeface="Times New Roman Regular" panose="02020503050405090304" charset="0"/>
              </a:rPr>
              <a:t>kw SE (kb unknown, joint) = 0.017/day </a:t>
            </a:r>
            <a:endParaRPr lang="en-US" altLang="zh-CN" sz="1600" b="0" i="0">
              <a:solidFill>
                <a:schemeClr val="tx1"/>
              </a:solidFill>
              <a:latin typeface="Times New Roman Regular" panose="02020503050405090304" charset="0"/>
              <a:ea typeface="Menlo" panose="020B0609030804020204"/>
              <a:cs typeface="Times New Roman Regular" panose="02020503050405090304" charset="0"/>
            </a:endParaRPr>
          </a:p>
          <a:p>
            <a:pPr marL="0" indent="0"/>
            <a:r>
              <a:rPr lang="en-US" altLang="zh-CN" sz="1600" b="0" i="0">
                <a:solidFill>
                  <a:schemeClr val="tx1"/>
                </a:solidFill>
                <a:latin typeface="Times New Roman Regular" panose="02020503050405090304" charset="0"/>
                <a:ea typeface="Menlo" panose="020B0609030804020204"/>
                <a:cs typeface="Times New Roman Regular" panose="02020503050405090304" charset="0"/>
              </a:rPr>
              <a:t>kw SE (kb known) = 0.015/day price of unknown kb = 1.17x wider kw interval</a:t>
            </a:r>
            <a:endParaRPr lang="en-US" altLang="zh-CN" sz="1600" b="0" i="0">
              <a:solidFill>
                <a:schemeClr val="tx1"/>
              </a:solidFill>
              <a:latin typeface="Times New Roman Regular" panose="02020503050405090304" charset="0"/>
              <a:ea typeface="Menlo" panose="020B0609030804020204"/>
              <a:cs typeface="Times New Roman Regular" panose="02020503050405090304" charset="0"/>
            </a:endParaRPr>
          </a:p>
        </p:txBody>
      </p:sp>
      <p:sp>
        <p:nvSpPr>
          <p:cNvPr id="7" name="文本框 6"/>
          <p:cNvSpPr txBox="1"/>
          <p:nvPr/>
        </p:nvSpPr>
        <p:spPr>
          <a:xfrm>
            <a:off x="6456680" y="1638300"/>
            <a:ext cx="5493385" cy="1476375"/>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Given a kw  </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  </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Find the minimum SSE across all kb  </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  </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Obtain the profile SSE under this kw</a:t>
            </a:r>
            <a:endParaRPr lang="zh-CN" altLang="en-US">
              <a:latin typeface="Times New Roman Regular" panose="02020503050405090304" charset="0"/>
              <a:cs typeface="Times New Roman Regular" panose="02020503050405090304" charset="0"/>
            </a:endParaRPr>
          </a:p>
        </p:txBody>
      </p:sp>
      <p:sp>
        <p:nvSpPr>
          <p:cNvPr id="9" name="文本框 8"/>
          <p:cNvSpPr txBox="1"/>
          <p:nvPr/>
        </p:nvSpPr>
        <p:spPr>
          <a:xfrm>
            <a:off x="6250940" y="3331210"/>
            <a:ext cx="6096000" cy="2030095"/>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SSE = the fitting error score for a given set of parameters.  </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The smaller the SSE, the better the parameter set fits the observed data. </a:t>
            </a:r>
            <a:endParaRPr lang="en-US" altLang="zh-CN">
              <a:latin typeface="Times New Roman Regular" panose="02020503050405090304" charset="0"/>
              <a:cs typeface="Times New Roman Regular" panose="02020503050405090304" charset="0"/>
            </a:endParaRPr>
          </a:p>
          <a:p>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SE = uncertainty in parameter estimation.  </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SE is derived from the curvature or sharpness near the minimum of SSE. Small parameter uncertainty, small SE</a:t>
            </a:r>
            <a:endParaRPr lang="en-US" altLang="zh-CN">
              <a:latin typeface="Times New Roman Regular" panose="02020503050405090304" charset="0"/>
              <a:cs typeface="Times New Roman Regular" panose="02020503050405090304" charset="0"/>
            </a:endParaRPr>
          </a:p>
        </p:txBody>
      </p:sp>
      <p:pic>
        <p:nvPicPr>
          <p:cNvPr id="10" name="图片 9"/>
          <p:cNvPicPr>
            <a:picLocks noChangeAspect="1"/>
          </p:cNvPicPr>
          <p:nvPr/>
        </p:nvPicPr>
        <p:blipFill>
          <a:blip r:embed="rId1"/>
          <a:stretch>
            <a:fillRect/>
          </a:stretch>
        </p:blipFill>
        <p:spPr>
          <a:xfrm>
            <a:off x="326390" y="1093470"/>
            <a:ext cx="5924550" cy="4610100"/>
          </a:xfrm>
          <a:prstGeom prst="rect">
            <a:avLst/>
          </a:prstGeom>
        </p:spPr>
      </p:pic>
      <p:sp>
        <p:nvSpPr>
          <p:cNvPr id="11" name="文本框 10"/>
          <p:cNvSpPr txBox="1"/>
          <p:nvPr/>
        </p:nvSpPr>
        <p:spPr>
          <a:xfrm>
            <a:off x="326390" y="399097"/>
            <a:ext cx="5080000" cy="583565"/>
          </a:xfrm>
          <a:prstGeom prst="rect">
            <a:avLst/>
          </a:prstGeom>
        </p:spPr>
        <p:txBody>
          <a:bodyPr>
            <a:spAutoFit/>
          </a:bodyPr>
          <a:p>
            <a:pPr defTabSz="266700"/>
            <a:r>
              <a:rPr lang="en-US" altLang="zh-CN" sz="1600">
                <a:latin typeface="Times New Roman" panose="02020503050405090304" charset="0"/>
                <a:ea typeface="宋体"/>
                <a:cs typeface="Times New Roman" panose="02020503050405090304" charset="0"/>
              </a:rPr>
              <a:t>Drop the known-kb assumption: fit both on a 2-D grid,</a:t>
            </a:r>
            <a:endParaRPr lang="en-US" altLang="zh-CN" sz="1600">
              <a:latin typeface="Times New Roman" panose="02020503050405090304" charset="0"/>
              <a:ea typeface="宋体"/>
              <a:cs typeface="Times New Roman" panose="02020503050405090304" charset="0"/>
            </a:endParaRPr>
          </a:p>
          <a:p>
            <a:pPr defTabSz="266700"/>
            <a:r>
              <a:rPr lang="en-US" altLang="zh-CN" sz="1600">
                <a:latin typeface="Times New Roman" panose="02020503050405090304" charset="0"/>
                <a:ea typeface="宋体"/>
                <a:cs typeface="Times New Roman" panose="02020503050405090304" charset="0"/>
              </a:rPr>
              <a:t>plot the SSE surface.</a:t>
            </a:r>
            <a:endParaRPr lang="en-US" altLang="zh-CN" sz="1600">
              <a:latin typeface="Times New Roman" panose="02020503050405090304" charset="0"/>
              <a:ea typeface="宋体"/>
              <a:cs typeface="Times New Roman" panose="02020503050405090304" charset="0"/>
            </a:endParaRPr>
          </a:p>
        </p:txBody>
      </p:sp>
    </p:spTree>
    <p:custDataLst>
      <p:tags r:id="rId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5200015" y="5537200"/>
            <a:ext cx="6096000" cy="922020"/>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top-5 residence - 48h: ['243', '131', '166', '139', '141']</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top-5 residence  - 96h: ['243', '131', '166', '20', '139']</a:t>
            </a:r>
            <a:endParaRPr lang="en-US" altLang="zh-CN">
              <a:latin typeface="Times New Roman Regular" panose="02020503050405090304" charset="0"/>
              <a:cs typeface="Times New Roman Regular" panose="02020503050405090304" charset="0"/>
            </a:endParaRPr>
          </a:p>
          <a:p>
            <a:r>
              <a:rPr lang="en-US" altLang="zh-CN">
                <a:latin typeface="Times New Roman Regular" panose="02020503050405090304" charset="0"/>
                <a:cs typeface="Times New Roman Regular" panose="02020503050405090304" charset="0"/>
              </a:rPr>
              <a:t>ranking changed</a:t>
            </a:r>
            <a:endParaRPr lang="zh-CN" altLang="en-US">
              <a:latin typeface="Times New Roman Regular" panose="02020503050405090304" charset="0"/>
              <a:cs typeface="Times New Roman Regular" panose="02020503050405090304" charset="0"/>
            </a:endParaRPr>
          </a:p>
        </p:txBody>
      </p:sp>
      <p:pic>
        <p:nvPicPr>
          <p:cNvPr id="7" name="内容占位符 6"/>
          <p:cNvPicPr>
            <a:picLocks noChangeAspect="1"/>
          </p:cNvPicPr>
          <p:nvPr>
            <p:ph idx="1"/>
            <p:custDataLst>
              <p:tags r:id="rId1"/>
            </p:custDataLst>
          </p:nvPr>
        </p:nvPicPr>
        <p:blipFill>
          <a:blip r:embed="rId2"/>
          <a:stretch>
            <a:fillRect/>
          </a:stretch>
        </p:blipFill>
        <p:spPr>
          <a:xfrm>
            <a:off x="5063490" y="220980"/>
            <a:ext cx="4775835" cy="4759325"/>
          </a:xfrm>
          <a:prstGeom prst="rect">
            <a:avLst/>
          </a:prstGeom>
        </p:spPr>
      </p:pic>
      <p:sp>
        <p:nvSpPr>
          <p:cNvPr id="8" name="文本框 7"/>
          <p:cNvSpPr txBox="1"/>
          <p:nvPr/>
        </p:nvSpPr>
        <p:spPr>
          <a:xfrm>
            <a:off x="120015" y="216853"/>
            <a:ext cx="5080000" cy="829945"/>
          </a:xfrm>
          <a:prstGeom prst="rect">
            <a:avLst/>
          </a:prstGeom>
        </p:spPr>
        <p:txBody>
          <a:bodyPr>
            <a:spAutoFit/>
          </a:bodyPr>
          <a:p>
            <a:pPr defTabSz="266700"/>
            <a:r>
              <a:rPr lang="en-US" altLang="zh-CN" sz="1600">
                <a:latin typeface="Times New Roman Regular" panose="02020503050405090304" charset="0"/>
                <a:ea typeface="宋体"/>
                <a:cs typeface="Times New Roman Regular" panose="02020503050405090304" charset="0"/>
              </a:rPr>
              <a:t>Re-run the </a:t>
            </a:r>
            <a:r>
              <a:rPr lang="zh-CN" altLang="en-US" sz="1600">
                <a:latin typeface="Times New Roman Regular" panose="02020503050405090304" charset="0"/>
                <a:ea typeface="宋体"/>
                <a:cs typeface="Times New Roman Regular" panose="02020503050405090304" charset="0"/>
              </a:rPr>
              <a:t>§</a:t>
            </a:r>
            <a:r>
              <a:rPr lang="en-US" altLang="zh-CN" sz="1600">
                <a:latin typeface="Times New Roman Regular" panose="02020503050405090304" charset="0"/>
                <a:ea typeface="宋体"/>
                <a:cs typeface="Times New Roman Regular" panose="02020503050405090304" charset="0"/>
              </a:rPr>
              <a:t>12.1 tracer with a 96 h duration.</a:t>
            </a:r>
            <a:endParaRPr lang="en-US" altLang="zh-CN" sz="1600">
              <a:latin typeface="Times New Roman Regular" panose="02020503050405090304" charset="0"/>
              <a:ea typeface="宋体"/>
              <a:cs typeface="Times New Roman Regular" panose="02020503050405090304" charset="0"/>
            </a:endParaRPr>
          </a:p>
          <a:p>
            <a:pPr defTabSz="266700"/>
            <a:r>
              <a:rPr lang="en-US" altLang="zh-CN" sz="1600">
                <a:latin typeface="Times New Roman Regular" panose="02020503050405090304" charset="0"/>
                <a:ea typeface="宋体"/>
                <a:cs typeface="Times New Roman Regular" panose="02020503050405090304" charset="0"/>
              </a:rPr>
              <a:t>Which junctions' tau_hat were truncation-limited by the 48 h record?</a:t>
            </a:r>
            <a:endParaRPr lang="en-US" altLang="zh-CN" sz="1600">
              <a:latin typeface="Times New Roman Regular" panose="02020503050405090304" charset="0"/>
              <a:ea typeface="宋体"/>
              <a:cs typeface="Times New Roman Regular" panose="02020503050405090304" charset="0"/>
            </a:endParaRPr>
          </a:p>
        </p:txBody>
      </p:sp>
    </p:spTree>
    <p:custDataLst>
      <p:tags r:id="rId3"/>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custDataLst>
              <p:tags r:id="rId1"/>
            </p:custDataLst>
          </p:nvPr>
        </p:nvSpPr>
        <p:spPr/>
        <p:txBody>
          <a:bodyPr/>
          <a:p>
            <a:endParaRPr lang="zh-CN" altLang="en-US"/>
          </a:p>
        </p:txBody>
      </p:sp>
      <p:sp>
        <p:nvSpPr>
          <p:cNvPr id="3" name="副标题 2"/>
          <p:cNvSpPr>
            <a:spLocks noGrp="1"/>
          </p:cNvSpPr>
          <p:nvPr>
            <p:ph type="subTitle" idx="1"/>
            <p:custDataLst>
              <p:tags r:id="rId2"/>
            </p:custDataLst>
          </p:nvPr>
        </p:nvSpPr>
        <p:spPr/>
        <p:txBody>
          <a:bodyPr/>
          <a:p>
            <a:endParaRPr lang="zh-CN" altLang="en-US"/>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BEAUTIFY_FLAG" val="#wm#"/>
  <p:tag name="KSO_WM_TEMPLATE_CATEGORY" val="custom"/>
  <p:tag name="KSO_WM_TEMPLATE_INDEX" val="20205081"/>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5.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6340</Words>
  <Application>WPS 文字</Application>
  <PresentationFormat>宽屏</PresentationFormat>
  <Paragraphs>180</Paragraphs>
  <Slides>19</Slides>
  <Notes>4</Notes>
  <HiddenSlides>0</HiddenSlides>
  <MMClips>0</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19</vt:i4>
      </vt:variant>
    </vt:vector>
  </HeadingPairs>
  <TitlesOfParts>
    <vt:vector size="45" baseType="lpstr">
      <vt:lpstr>Arial</vt:lpstr>
      <vt:lpstr>宋体</vt:lpstr>
      <vt:lpstr>Wingdings</vt:lpstr>
      <vt:lpstr>Wingdings</vt:lpstr>
      <vt:lpstr>Times New Roman</vt:lpstr>
      <vt:lpstr>Times New Roman</vt:lpstr>
      <vt:lpstr>宋体</vt:lpstr>
      <vt:lpstr>汉仪书宋二KW</vt:lpstr>
      <vt:lpstr>Menlo</vt:lpstr>
      <vt:lpstr>Courier New</vt:lpstr>
      <vt:lpstr>Times New Roman Regular</vt:lpstr>
      <vt:lpstr>-apple-system</vt:lpstr>
      <vt:lpstr>Thonburi</vt:lpstr>
      <vt:lpstr>苹方-简</vt:lpstr>
      <vt:lpstr>微软雅黑</vt:lpstr>
      <vt:lpstr>汉仪旗黑</vt:lpstr>
      <vt:lpstr>宋体</vt:lpstr>
      <vt:lpstr>Arial Unicode MS</vt:lpstr>
      <vt:lpstr>-apple-system</vt:lpstr>
      <vt:lpstr>Courier New</vt:lpstr>
      <vt:lpstr>Menlo</vt:lpstr>
      <vt:lpstr>Consolas</vt:lpstr>
      <vt:lpstr>PingFang SC</vt:lpstr>
      <vt:lpstr>Consolas</vt:lpstr>
      <vt:lpstr>MS PGothic</vt:lpstr>
      <vt:lpstr>WPS</vt:lpstr>
      <vt:lpstr>Weekly  Report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彭睿欣</cp:lastModifiedBy>
  <cp:revision>202</cp:revision>
  <dcterms:created xsi:type="dcterms:W3CDTF">2026-07-10T10:10:18Z</dcterms:created>
  <dcterms:modified xsi:type="dcterms:W3CDTF">2026-07-10T10:10:18Z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2052-12.1.25895.25895</vt:lpwstr>
  </property>
  <property fmtid="{D5CDD505-2E9C-101B-9397-08002B2CF9AE}" pid="3" name="ICV">
    <vt:lpwstr>E35143BA911F95CDC9C54F6A4B5C2B39_41</vt:lpwstr>
  </property>
</Properties>
</file>