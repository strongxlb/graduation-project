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
  </p:notesMasterIdLst>
  <p:handoutMasterIdLst>
    <p:handoutMasterId r:id="rId19"/>
  </p:handoutMasterIdLst>
  <p:sldIdLst>
    <p:sldId id="256" r:id="rId3"/>
    <p:sldId id="259" r:id="rId4"/>
    <p:sldId id="265" r:id="rId5"/>
    <p:sldId id="261" r:id="rId6"/>
    <p:sldId id="262" r:id="rId7"/>
    <p:sldId id="266" r:id="rId8"/>
    <p:sldId id="267" r:id="rId10"/>
    <p:sldId id="279" r:id="rId11"/>
    <p:sldId id="268" r:id="rId12"/>
    <p:sldId id="270" r:id="rId13"/>
    <p:sldId id="280" r:id="rId14"/>
    <p:sldId id="281" r:id="rId15"/>
    <p:sldId id="276" r:id="rId16"/>
    <p:sldId id="282" r:id="rId17"/>
    <p:sldId id="278" r:id="rId18"/>
  </p:sldIdLst>
  <p:sldSz cx="12192000" cy="6858000"/>
  <p:notesSz cx="6858000" cy="9144000"/>
  <p:custDataLst>
    <p:tags r:id="rId23"/>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7"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2E06FB2-9B10-4A49-BD92-07C697D3BEEB}" styleName="表样式 1 14">
    <a:wholeTbl>
      <a:tcTxStyle>
        <a:fontRef idx="none">
          <a:srgbClr val="000000"/>
        </a:fontRef>
      </a:tcTxStyle>
      <a:tcStyle>
        <a:tcBdr>
          <a:left>
            <a:ln w="12700" cmpd="sng">
              <a:solidFill>
                <a:schemeClr val="dk1"/>
              </a:solidFill>
              <a:prstDash val="solid"/>
            </a:ln>
          </a:left>
          <a:right>
            <a:ln w="12700" cmpd="sng">
              <a:solidFill>
                <a:schemeClr val="dk1"/>
              </a:solidFill>
              <a:prstDash val="solid"/>
            </a:ln>
          </a:right>
          <a:top>
            <a:ln w="12700" cmpd="sng">
              <a:solidFill>
                <a:schemeClr val="dk1"/>
              </a:solidFill>
              <a:prstDash val="solid"/>
            </a:ln>
          </a:top>
          <a:bottom>
            <a:ln w="12700" cmpd="sng">
              <a:solidFill>
                <a:schemeClr val="dk1"/>
              </a:solidFill>
              <a:prstDash val="solid"/>
            </a:ln>
          </a:bottom>
          <a:insideH>
            <a:ln>
              <a:noFill/>
            </a:ln>
          </a:insideH>
          <a:insideV>
            <a:ln>
              <a:noFill/>
            </a:ln>
          </a:insideV>
        </a:tcBdr>
        <a:fill>
          <a:solidFill>
            <a:srgbClr val="FFFFFF"/>
          </a:solidFill>
        </a:fill>
      </a:tcStyle>
    </a:wholeTbl>
    <a:band2H>
      <a:tcTxStyle/>
      <a:tcStyle>
        <a:tcBdr/>
        <a:fill>
          <a:solidFill>
            <a:schemeClr val="dk1">
              <a:lumMod val="10000"/>
              <a:lumOff val="90000"/>
            </a:schemeClr>
          </a:solidFill>
        </a:fill>
      </a:tcStyle>
    </a:band2H>
    <a:band1V>
      <a:tcTxStyle/>
      <a:tcStyle>
        <a:tcBdr/>
        <a:fill>
          <a:solidFill>
            <a:schemeClr val="dk1">
              <a:lumMod val="10000"/>
              <a:lumOff val="90000"/>
            </a:schemeClr>
          </a:solidFill>
        </a:fill>
      </a:tcStyle>
    </a:band1V>
    <a:lastCol>
      <a:tcTxStyle b="on">
        <a:fontRef idx="none">
          <a:srgbClr val="08090C"/>
        </a:fontRef>
      </a:tcTxStyle>
      <a:tcStyle>
        <a:tcBdr>
          <a:left>
            <a:ln>
              <a:noFill/>
            </a:ln>
          </a:left>
          <a:right>
            <a:ln w="12700" cmpd="sng">
              <a:solidFill>
                <a:schemeClr val="dk1"/>
              </a:solidFill>
              <a:prstDash val="solid"/>
            </a:ln>
          </a:right>
          <a:top>
            <a:ln w="12700" cmpd="sng">
              <a:solidFill>
                <a:schemeClr val="dk1"/>
              </a:solidFill>
              <a:prstDash val="solid"/>
            </a:ln>
          </a:top>
          <a:bottom>
            <a:ln w="12700" cmpd="sng">
              <a:solidFill>
                <a:schemeClr val="dk1"/>
              </a:solidFill>
              <a:prstDash val="solid"/>
            </a:ln>
          </a:bottom>
          <a:insideH>
            <a:ln>
              <a:noFill/>
            </a:ln>
          </a:insideH>
          <a:insideV>
            <a:ln>
              <a:noFill/>
            </a:ln>
          </a:insideV>
        </a:tcBdr>
        <a:fill>
          <a:solidFill>
            <a:schemeClr val="dk1">
              <a:lumMod val="20000"/>
              <a:lumOff val="80000"/>
            </a:schemeClr>
          </a:solidFill>
        </a:fill>
      </a:tcStyle>
    </a:lastCol>
    <a:firstCol>
      <a:tcTxStyle b="on">
        <a:fontRef idx="none">
          <a:srgbClr val="08090C"/>
        </a:fontRef>
      </a:tcTxStyle>
      <a:tcStyle>
        <a:tcBdr>
          <a:left>
            <a:ln w="12700" cmpd="sng">
              <a:solidFill>
                <a:schemeClr val="dk1"/>
              </a:solidFill>
              <a:prstDash val="solid"/>
            </a:ln>
          </a:left>
          <a:right>
            <a:ln>
              <a:noFill/>
            </a:ln>
          </a:right>
          <a:top>
            <a:ln w="12700" cmpd="sng">
              <a:solidFill>
                <a:schemeClr val="dk1"/>
              </a:solidFill>
              <a:prstDash val="solid"/>
            </a:ln>
          </a:top>
          <a:bottom>
            <a:ln w="12700" cmpd="sng">
              <a:solidFill>
                <a:schemeClr val="dk1"/>
              </a:solidFill>
              <a:prstDash val="solid"/>
            </a:ln>
          </a:bottom>
          <a:insideH>
            <a:ln>
              <a:noFill/>
            </a:ln>
          </a:insideH>
          <a:insideV>
            <a:ln>
              <a:noFill/>
            </a:ln>
          </a:insideV>
        </a:tcBdr>
        <a:fill>
          <a:solidFill>
            <a:schemeClr val="dk1">
              <a:lumMod val="20000"/>
              <a:lumOff val="80000"/>
            </a:schemeClr>
          </a:solidFill>
        </a:fill>
      </a:tcStyle>
    </a:firstCol>
    <a:lastRow>
      <a:tcTxStyle b="on">
        <a:fontRef idx="none">
          <a:schemeClr val="dk1"/>
        </a:fontRef>
      </a:tcTxStyle>
      <a:tcStyle>
        <a:tcBdr>
          <a:left>
            <a:ln w="12700" cmpd="sng">
              <a:solidFill>
                <a:schemeClr val="dk1"/>
              </a:solidFill>
              <a:prstDash val="solid"/>
            </a:ln>
          </a:left>
          <a:right>
            <a:ln w="12700" cmpd="sng">
              <a:solidFill>
                <a:schemeClr val="dk1"/>
              </a:solidFill>
              <a:prstDash val="solid"/>
            </a:ln>
          </a:right>
          <a:top>
            <a:ln w="9525" cmpd="sng">
              <a:solidFill>
                <a:schemeClr val="dk1"/>
              </a:solidFill>
              <a:prstDash val="solid"/>
            </a:ln>
          </a:top>
          <a:bottom>
            <a:ln w="12700" cmpd="sng">
              <a:solidFill>
                <a:schemeClr val="dk1"/>
              </a:solidFill>
              <a:prstDash val="solid"/>
            </a:ln>
          </a:bottom>
          <a:insideH>
            <a:ln>
              <a:noFill/>
            </a:ln>
          </a:insideH>
          <a:insideV>
            <a:ln>
              <a:noFill/>
            </a:ln>
          </a:insideV>
        </a:tcBdr>
      </a:tcStyle>
    </a:lastRow>
    <a:seCell>
      <a:tcTxStyle/>
      <a:tcStyle>
        <a:tcBdr>
          <a:left>
            <a:ln>
              <a:noFill/>
            </a:ln>
          </a:left>
          <a:right>
            <a:ln w="12700" cmpd="sng">
              <a:solidFill>
                <a:schemeClr val="dk1"/>
              </a:solidFill>
              <a:prstDash val="solid"/>
            </a:ln>
          </a:right>
          <a:top>
            <a:ln w="9525" cmpd="sng">
              <a:solidFill>
                <a:schemeClr val="dk1"/>
              </a:solidFill>
              <a:prstDash val="solid"/>
            </a:ln>
          </a:top>
          <a:bottom>
            <a:ln w="12700" cmpd="sng">
              <a:solidFill>
                <a:schemeClr val="dk1"/>
              </a:solidFill>
              <a:prstDash val="solid"/>
            </a:ln>
          </a:bottom>
          <a:insideH>
            <a:ln>
              <a:noFill/>
            </a:ln>
          </a:insideH>
          <a:insideV>
            <a:ln>
              <a:noFill/>
            </a:ln>
          </a:insideV>
        </a:tcBdr>
        <a:fill>
          <a:solidFill>
            <a:srgbClr val="FFFFFF"/>
          </a:solidFill>
        </a:fill>
      </a:tcStyle>
    </a:seCell>
    <a:swCell>
      <a:tcTxStyle/>
      <a:tcStyle>
        <a:tcBdr>
          <a:left>
            <a:ln w="12700" cmpd="sng">
              <a:solidFill>
                <a:schemeClr val="dk1"/>
              </a:solidFill>
              <a:prstDash val="solid"/>
            </a:ln>
          </a:left>
          <a:right>
            <a:ln>
              <a:noFill/>
            </a:ln>
          </a:right>
          <a:top>
            <a:ln w="9525" cmpd="sng">
              <a:solidFill>
                <a:schemeClr val="dk1"/>
              </a:solidFill>
              <a:prstDash val="solid"/>
            </a:ln>
          </a:top>
          <a:bottom>
            <a:ln w="12700" cmpd="sng">
              <a:solidFill>
                <a:schemeClr val="dk1"/>
              </a:solidFill>
              <a:prstDash val="solid"/>
            </a:ln>
          </a:bottom>
          <a:insideH>
            <a:ln>
              <a:noFill/>
            </a:ln>
          </a:insideH>
          <a:insideV>
            <a:ln>
              <a:noFill/>
            </a:ln>
          </a:insideV>
        </a:tcBdr>
        <a:fill>
          <a:solidFill>
            <a:srgbClr val="FFFFFF"/>
          </a:solidFill>
        </a:fill>
      </a:tcStyle>
    </a:swCell>
    <a:firstRow>
      <a:tcTxStyle b="on">
        <a:fontRef idx="none">
          <a:schemeClr val="dk1"/>
        </a:fontRef>
      </a:tcTxStyle>
      <a:tcStyle>
        <a:tcBdr>
          <a:left>
            <a:ln w="12700" cmpd="sng">
              <a:solidFill>
                <a:schemeClr val="dk1"/>
              </a:solidFill>
              <a:prstDash val="solid"/>
            </a:ln>
          </a:left>
          <a:right>
            <a:ln w="12700" cmpd="sng">
              <a:solidFill>
                <a:schemeClr val="dk1"/>
              </a:solidFill>
              <a:prstDash val="solid"/>
            </a:ln>
          </a:right>
          <a:top>
            <a:ln w="12700" cmpd="sng">
              <a:solidFill>
                <a:schemeClr val="dk1"/>
              </a:solidFill>
              <a:prstDash val="solid"/>
            </a:ln>
          </a:top>
          <a:bottom>
            <a:ln w="12700" cmpd="sng">
              <a:solidFill>
                <a:schemeClr val="dk1"/>
              </a:solidFill>
              <a:prstDash val="solid"/>
            </a:ln>
          </a:bottom>
          <a:insideH>
            <a:ln>
              <a:noFill/>
            </a:ln>
          </a:insideH>
          <a:insideV>
            <a:ln>
              <a:noFill/>
            </a:ln>
          </a:insideV>
        </a:tcBdr>
        <a:fill>
          <a:solidFill>
            <a:srgbClr val="FFFFFF"/>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37"/>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notesMaster" Target="notesMasters/notesMaster1.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3" Type="http://schemas.openxmlformats.org/officeDocument/2006/relationships/tags" Target="tags/tag80.xml"/><Relationship Id="rId22" Type="http://schemas.openxmlformats.org/officeDocument/2006/relationships/tableStyles" Target="tableStyles.xml"/><Relationship Id="rId21" Type="http://schemas.openxmlformats.org/officeDocument/2006/relationships/viewProps" Target="viewProps.xml"/><Relationship Id="rId20" Type="http://schemas.openxmlformats.org/officeDocument/2006/relationships/presProps" Target="presProps.xml"/><Relationship Id="rId2" Type="http://schemas.openxmlformats.org/officeDocument/2006/relationships/theme" Target="theme/theme1.xml"/><Relationship Id="rId19" Type="http://schemas.openxmlformats.org/officeDocument/2006/relationships/handoutMaster" Target="handoutMasters/handoutMaster1.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sym typeface="+mn-ea"/>
              </a:rPr>
              <a:t>• 均匀先验：3个</a:t>
            </a:r>
            <a:r>
              <a:rPr lang="en-US" altLang="zh-CN">
                <a:sym typeface="+mn-ea"/>
              </a:rPr>
              <a:t>kw</a:t>
            </a:r>
            <a:r>
              <a:rPr lang="zh-CN" altLang="en-US">
                <a:sym typeface="+mn-ea"/>
              </a:rPr>
              <a:t>在各自范围内一开始"同等可能"（不预设某个值更对）；</a:t>
            </a:r>
            <a:r>
              <a:rPr lang="en-US" altLang="zh-CN">
                <a:sym typeface="+mn-ea"/>
              </a:rPr>
              <a:t>k_b </a:t>
            </a:r>
            <a:r>
              <a:rPr lang="zh-CN" altLang="en-US">
                <a:sym typeface="+mn-ea"/>
              </a:rPr>
              <a:t>固定不反演。</a:t>
            </a:r>
            <a:endParaRPr lang="zh-CN" altLang="en-US"/>
          </a:p>
          <a:p>
            <a:r>
              <a:rPr lang="zh-CN" altLang="en-US">
                <a:sym typeface="+mn-ea"/>
              </a:rPr>
              <a:t>•流程：</a:t>
            </a:r>
            <a:endParaRPr lang="zh-CN" altLang="en-US"/>
          </a:p>
          <a:p>
            <a:r>
              <a:rPr lang="zh-CN" altLang="en-US">
                <a:sym typeface="+mn-ea"/>
              </a:rPr>
              <a:t>1.从先验蒙特卡洛抽样 </a:t>
            </a:r>
            <a:r>
              <a:rPr lang="en-US" altLang="zh-CN">
                <a:sym typeface="+mn-ea"/>
              </a:rPr>
              <a:t>2000</a:t>
            </a:r>
            <a:r>
              <a:rPr lang="zh-CN" altLang="en-US">
                <a:sym typeface="+mn-ea"/>
              </a:rPr>
              <a:t>组（</a:t>
            </a:r>
            <a:r>
              <a:rPr lang="en-US" altLang="zh-CN">
                <a:sym typeface="+mn-ea"/>
              </a:rPr>
              <a:t>kw_old, kw_avg, kw_new）；</a:t>
            </a:r>
            <a:endParaRPr lang="en-US" altLang="zh-CN"/>
          </a:p>
          <a:p>
            <a:r>
              <a:rPr lang="zh-CN" altLang="en-US">
                <a:sym typeface="+mn-ea"/>
              </a:rPr>
              <a:t>2.每组跑 </a:t>
            </a:r>
            <a:r>
              <a:rPr lang="en-US" altLang="zh-CN">
                <a:sym typeface="+mn-ea"/>
              </a:rPr>
              <a:t>WNTR</a:t>
            </a:r>
            <a:r>
              <a:rPr lang="zh-CN" altLang="en-US">
                <a:sym typeface="+mn-ea"/>
              </a:rPr>
              <a:t>正向，算监测点 </a:t>
            </a:r>
            <a:r>
              <a:rPr lang="en-US" altLang="zh-CN">
                <a:sym typeface="+mn-ea"/>
              </a:rPr>
              <a:t>RMSE；</a:t>
            </a:r>
            <a:endParaRPr lang="en-US" altLang="zh-CN"/>
          </a:p>
          <a:p>
            <a:r>
              <a:rPr lang="en-US" altLang="zh-CN">
                <a:sym typeface="+mn-ea"/>
              </a:rPr>
              <a:t>3. RMSE </a:t>
            </a:r>
            <a:r>
              <a:rPr lang="zh-CN" altLang="en-US">
                <a:sym typeface="+mn-ea"/>
              </a:rPr>
              <a:t>高斯似然</a:t>
            </a:r>
            <a:r>
              <a:rPr lang="en-US" altLang="zh-CN">
                <a:sym typeface="+mn-ea"/>
              </a:rPr>
              <a:t>；</a:t>
            </a:r>
            <a:endParaRPr lang="en-US" altLang="zh-CN"/>
          </a:p>
          <a:p>
            <a:r>
              <a:rPr lang="zh-CN" altLang="en-US">
                <a:sym typeface="+mn-ea"/>
              </a:rPr>
              <a:t>4.用</a:t>
            </a:r>
            <a:r>
              <a:rPr lang="en-US" altLang="zh-CN">
                <a:sym typeface="+mn-ea"/>
              </a:rPr>
              <a:t>behavioural </a:t>
            </a:r>
            <a:r>
              <a:rPr lang="zh-CN" altLang="en-US">
                <a:sym typeface="+mn-ea"/>
              </a:rPr>
              <a:t>阈值（</a:t>
            </a:r>
            <a:r>
              <a:rPr lang="en-US" altLang="zh-CN">
                <a:sym typeface="+mn-ea"/>
              </a:rPr>
              <a:t>RMSE＜0.12mg/L</a:t>
            </a:r>
            <a:r>
              <a:rPr lang="zh-CN" altLang="en-US">
                <a:sym typeface="+mn-ea"/>
              </a:rPr>
              <a:t>）筛掉差的；</a:t>
            </a:r>
            <a:endParaRPr lang="zh-CN" altLang="en-US"/>
          </a:p>
          <a:p>
            <a:r>
              <a:rPr lang="zh-CN" altLang="en-US">
                <a:sym typeface="+mn-ea"/>
              </a:rPr>
              <a:t>5. 似然归一化成权重；</a:t>
            </a:r>
            <a:endParaRPr lang="zh-CN" altLang="en-US"/>
          </a:p>
          <a:p>
            <a:r>
              <a:rPr lang="zh-CN" altLang="en-US">
                <a:sym typeface="+mn-ea"/>
              </a:rPr>
              <a:t>6. 输出：</a:t>
            </a:r>
            <a:r>
              <a:rPr lang="en-US" altLang="zh-CN">
                <a:sym typeface="+mn-ea"/>
              </a:rPr>
              <a:t>behavioural kw </a:t>
            </a:r>
            <a:r>
              <a:rPr lang="zh-CN" altLang="en-US">
                <a:sym typeface="+mn-ea"/>
              </a:rPr>
              <a:t>分布、5-95% 预测区间、加权</a:t>
            </a:r>
            <a:endParaRPr lang="zh-CN" altLang="en-US"/>
          </a:p>
          <a:p>
            <a:r>
              <a:rPr lang="en-US" altLang="zh-CN">
                <a:sym typeface="+mn-ea"/>
              </a:rPr>
              <a:t>P(C&lt;0.2) </a:t>
            </a:r>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04000"/>
            <a:ext cx="5342400" cy="4140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04000"/>
            <a:ext cx="5342400" cy="4140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397600"/>
            <a:ext cx="9799200" cy="11052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5040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ea"/>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9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9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9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9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63.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64.xml"/></Relationships>
</file>

<file path=ppt/slides/_rels/slide3.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65.xml"/><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66.xml"/><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tags" Target="../tags/tag67.xml"/><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68.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69.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70.xml"/><Relationship Id="rId1" Type="http://schemas.openxmlformats.org/officeDocument/2006/relationships/image" Target="../media/image9.png"/></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71.xml"/><Relationship Id="rId2" Type="http://schemas.openxmlformats.org/officeDocument/2006/relationships/image" Target="../media/image11.png"/><Relationship Id="rId1"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72.xml"/><Relationship Id="rId1" Type="http://schemas.openxmlformats.org/officeDocument/2006/relationships/image" Target="../media/image12.png"/></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73.xml"/><Relationship Id="rId2" Type="http://schemas.openxmlformats.org/officeDocument/2006/relationships/image" Target="../media/image14.png"/><Relationship Id="rId1" Type="http://schemas.openxmlformats.org/officeDocument/2006/relationships/image" Target="../media/image13.png"/></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74.xml"/><Relationship Id="rId2" Type="http://schemas.openxmlformats.org/officeDocument/2006/relationships/image" Target="../media/image16.png"/><Relationship Id="rId1"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75.xml"/><Relationship Id="rId1" Type="http://schemas.openxmlformats.org/officeDocument/2006/relationships/image" Target="../media/image17.png"/></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76.xml"/><Relationship Id="rId2" Type="http://schemas.openxmlformats.org/officeDocument/2006/relationships/image" Target="../media/image12.png"/><Relationship Id="rId1" Type="http://schemas.openxmlformats.org/officeDocument/2006/relationships/image" Target="../media/image18.png"/></Relationships>
</file>

<file path=ppt/slides/_rels/slide15.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79.xml"/><Relationship Id="rId2" Type="http://schemas.openxmlformats.org/officeDocument/2006/relationships/tags" Target="../tags/tag78.xml"/><Relationship Id="rId1" Type="http://schemas.openxmlformats.org/officeDocument/2006/relationships/tags" Target="../tags/tag7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3735070" y="1739265"/>
            <a:ext cx="5260340" cy="922020"/>
          </a:xfrm>
          <a:prstGeom prst="rect">
            <a:avLst/>
          </a:prstGeom>
          <a:noFill/>
        </p:spPr>
        <p:txBody>
          <a:bodyPr wrap="square" rtlCol="0" anchor="t">
            <a:spAutoFit/>
          </a:bodyPr>
          <a:p>
            <a:r>
              <a:rPr lang="en-GB" altLang="zh-CN" sz="5400" b="1" dirty="0">
                <a:latin typeface="Times New Roman" panose="02020503050405090304" charset="0"/>
                <a:cs typeface="Times New Roman" panose="02020503050405090304" charset="0"/>
                <a:sym typeface="+mn-ea"/>
              </a:rPr>
              <a:t>Week</a:t>
            </a:r>
            <a:r>
              <a:rPr lang="en-US" sz="5400" b="1" dirty="0">
                <a:latin typeface="Times New Roman" panose="02020503050405090304" charset="0"/>
                <a:cs typeface="Times New Roman" panose="02020503050405090304" charset="0"/>
                <a:sym typeface="+mn-ea"/>
              </a:rPr>
              <a:t>ly</a:t>
            </a:r>
            <a:r>
              <a:rPr lang="en-GB" altLang="zh-CN" sz="5400" b="1" dirty="0">
                <a:latin typeface="Times New Roman" panose="02020503050405090304" charset="0"/>
                <a:cs typeface="Times New Roman" panose="02020503050405090304" charset="0"/>
                <a:sym typeface="+mn-ea"/>
              </a:rPr>
              <a:t> Report</a:t>
            </a:r>
            <a:endParaRPr lang="en-GB" altLang="zh-CN" sz="5400" b="1" dirty="0">
              <a:solidFill>
                <a:schemeClr val="tx1"/>
              </a:solidFill>
              <a:latin typeface="Times New Roman" panose="02020503050405090304" charset="0"/>
              <a:cs typeface="Times New Roman" panose="02020503050405090304" charset="0"/>
            </a:endParaRPr>
          </a:p>
        </p:txBody>
      </p:sp>
      <p:sp>
        <p:nvSpPr>
          <p:cNvPr id="7" name="副标题 2"/>
          <p:cNvSpPr txBox="1"/>
          <p:nvPr/>
        </p:nvSpPr>
        <p:spPr>
          <a:xfrm>
            <a:off x="9550400" y="5644222"/>
            <a:ext cx="2288200" cy="80931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r>
              <a:rPr lang="en-US" altLang="zh-CN" sz="1800" dirty="0" err="1">
                <a:latin typeface="Times New Roman" panose="02020503050405090304" charset="0"/>
                <a:cs typeface="Times New Roman" panose="02020503050405090304" charset="0"/>
              </a:rPr>
              <a:t>Ruixin</a:t>
            </a:r>
            <a:r>
              <a:rPr lang="zh-CN" altLang="en-US" sz="1800" dirty="0">
                <a:latin typeface="Times New Roman" panose="02020503050405090304" charset="0"/>
                <a:cs typeface="Times New Roman" panose="02020503050405090304" charset="0"/>
              </a:rPr>
              <a:t> </a:t>
            </a:r>
            <a:r>
              <a:rPr lang="en-US" altLang="zh-CN" sz="1800" dirty="0">
                <a:latin typeface="Times New Roman" panose="02020503050405090304" charset="0"/>
                <a:cs typeface="Times New Roman" panose="02020503050405090304" charset="0"/>
              </a:rPr>
              <a:t>Peng</a:t>
            </a:r>
            <a:endParaRPr lang="en-US" altLang="zh-CN" sz="1800" dirty="0">
              <a:latin typeface="Times New Roman" panose="02020503050405090304" charset="0"/>
              <a:cs typeface="Times New Roman" panose="02020503050405090304" charset="0"/>
            </a:endParaRPr>
          </a:p>
          <a:p>
            <a:r>
              <a:rPr lang="en-US" altLang="en-GB" sz="1800" dirty="0">
                <a:latin typeface="Times New Roman" panose="02020503050405090304" charset="0"/>
                <a:cs typeface="Times New Roman" panose="02020503050405090304" charset="0"/>
              </a:rPr>
              <a:t>Ju</a:t>
            </a:r>
            <a:r>
              <a:rPr lang="en-US" altLang="en-GB" sz="1800" dirty="0">
                <a:latin typeface="Times New Roman" panose="02020503050405090304" charset="0"/>
                <a:cs typeface="Times New Roman" panose="02020503050405090304" charset="0"/>
              </a:rPr>
              <a:t>ly 02</a:t>
            </a:r>
            <a:r>
              <a:rPr lang="en-GB" altLang="zh-CN" sz="1800" dirty="0">
                <a:latin typeface="Times New Roman" panose="02020503050405090304" charset="0"/>
                <a:cs typeface="Times New Roman" panose="02020503050405090304" charset="0"/>
              </a:rPr>
              <a:t>, 2026</a:t>
            </a:r>
            <a:endParaRPr lang="en-GB" altLang="zh-CN" sz="1800" dirty="0">
              <a:latin typeface="Times New Roman" panose="02020503050405090304" charset="0"/>
              <a:cs typeface="Times New Roman" panose="02020503050405090304" charset="0"/>
            </a:endParaRPr>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135890" y="1090295"/>
            <a:ext cx="8093075" cy="2861310"/>
          </a:xfrm>
          <a:prstGeom prst="rect">
            <a:avLst/>
          </a:prstGeom>
          <a:noFill/>
        </p:spPr>
        <p:txBody>
          <a:bodyPr wrap="square" rtlCol="0" anchor="t">
            <a:spAutoFit/>
          </a:bodyPr>
          <a:p>
            <a:r>
              <a:rPr lang="en-US" altLang="zh-CN">
                <a:latin typeface="Times New Roman Regular" panose="02020503050405090304" charset="0"/>
                <a:cs typeface="Times New Roman Regular" panose="02020503050405090304" charset="0"/>
              </a:rPr>
              <a:t>Hallam et al. concluded that unlined iron pipes are </a:t>
            </a:r>
            <a:r>
              <a:rPr lang="en-US" altLang="zh-CN" b="1">
                <a:latin typeface="Times New Roman" panose="02020503050405090304" charset="0"/>
                <a:ea typeface="PingFang SC Semibold" panose="020B0400000000000000" charset="-122"/>
                <a:cs typeface="Times New Roman" panose="02020503050405090304" charset="0"/>
              </a:rPr>
              <a:t>reactive pipes</a:t>
            </a:r>
            <a:r>
              <a:rPr lang="en-US" altLang="zh-CN">
                <a:latin typeface="Times New Roman Regular" panose="02020503050405090304" charset="0"/>
                <a:cs typeface="Times New Roman Regular" panose="02020503050405090304" charset="0"/>
              </a:rPr>
              <a:t>, while PVC, MDPE, and cement-lined pipes are </a:t>
            </a:r>
            <a:r>
              <a:rPr lang="en-US" altLang="zh-CN" b="1">
                <a:latin typeface="Times New Roman" panose="02020503050405090304" charset="0"/>
                <a:ea typeface="PingFang SC Semibold" panose="020B0400000000000000" charset="-122"/>
                <a:cs typeface="Times New Roman" panose="02020503050405090304" charset="0"/>
              </a:rPr>
              <a:t>relatively unreactive pipes</a:t>
            </a:r>
            <a:r>
              <a:rPr lang="en-US" altLang="zh-CN">
                <a:latin typeface="Times New Roman Regular" panose="02020503050405090304" charset="0"/>
                <a:cs typeface="Times New Roman Regular" panose="02020503050405090304" charset="0"/>
              </a:rPr>
              <a:t>. </a:t>
            </a:r>
            <a:endParaRPr lang="en-US" altLang="zh-CN">
              <a:latin typeface="Times New Roman Regular" panose="02020503050405090304" charset="0"/>
              <a:cs typeface="Times New Roman Regular" panose="02020503050405090304" charset="0"/>
            </a:endParaRPr>
          </a:p>
          <a:p>
            <a:endParaRPr lang="en-US" altLang="zh-CN">
              <a:latin typeface="Times New Roman Regular" panose="02020503050405090304" charset="0"/>
              <a:cs typeface="Times New Roman Regular" panose="02020503050405090304" charset="0"/>
            </a:endParaRPr>
          </a:p>
          <a:p>
            <a:r>
              <a:rPr lang="en-US" altLang="zh-CN">
                <a:latin typeface="Times New Roman Regular" panose="02020503050405090304" charset="0"/>
                <a:cs typeface="Times New Roman Regular" panose="02020503050405090304" charset="0"/>
              </a:rPr>
              <a:t>Al-Jasser also noted that pipe age significantly affects the effective wall decay constant for cast iron, steel, CLDI, and CLCI, whereas its influence on PVC, uPVC, and PE is relatively minor.</a:t>
            </a:r>
            <a:endParaRPr lang="en-US" altLang="zh-CN">
              <a:latin typeface="Times New Roman Regular" panose="02020503050405090304" charset="0"/>
              <a:cs typeface="Times New Roman Regular" panose="02020503050405090304" charset="0"/>
            </a:endParaRPr>
          </a:p>
          <a:p>
            <a:endParaRPr lang="en-US" altLang="zh-CN">
              <a:latin typeface="Times New Roman Regular" panose="02020503050405090304" charset="0"/>
              <a:cs typeface="Times New Roman Regular" panose="02020503050405090304" charset="0"/>
            </a:endParaRPr>
          </a:p>
          <a:p>
            <a:r>
              <a:rPr lang="en-US" altLang="zh-CN">
                <a:latin typeface="Times New Roman Regular" panose="02020503050405090304" charset="0"/>
                <a:cs typeface="Times New Roman Regular" panose="02020503050405090304" charset="0"/>
              </a:rPr>
              <a:t>Rossman 1994 wall 0.15–0.45 m/day, Net1 original Global Wall ≈ -0.3 m/day. old=-1.0 </a:t>
            </a:r>
            <a:r>
              <a:rPr lang="en-US" altLang="zh-CN">
                <a:latin typeface="Times New Roman Regular" panose="02020503050405090304" charset="0"/>
                <a:cs typeface="Times New Roman Regular" panose="02020503050405090304" charset="0"/>
                <a:sym typeface="+mn-ea"/>
              </a:rPr>
              <a:t>m/day</a:t>
            </a:r>
            <a:r>
              <a:rPr lang="en-US" altLang="zh-CN">
                <a:latin typeface="Times New Roman Regular" panose="02020503050405090304" charset="0"/>
                <a:cs typeface="Times New Roman Regular" panose="02020503050405090304" charset="0"/>
              </a:rPr>
              <a:t> is slightly overestimated, but credible for old cast iron pipes.</a:t>
            </a:r>
            <a:endParaRPr lang="en-US" altLang="zh-CN">
              <a:latin typeface="Times New Roman Regular" panose="02020503050405090304" charset="0"/>
              <a:cs typeface="Times New Roman Regular" panose="02020503050405090304" charset="0"/>
            </a:endParaRPr>
          </a:p>
          <a:p>
            <a:endParaRPr lang="en-US" altLang="zh-CN">
              <a:latin typeface="Times New Roman Regular" panose="02020503050405090304" charset="0"/>
              <a:cs typeface="Times New Roman Regular" panose="02020503050405090304" charset="0"/>
            </a:endParaRPr>
          </a:p>
        </p:txBody>
      </p:sp>
      <p:graphicFrame>
        <p:nvGraphicFramePr>
          <p:cNvPr id="7" name="表格 6"/>
          <p:cNvGraphicFramePr/>
          <p:nvPr/>
        </p:nvGraphicFramePr>
        <p:xfrm>
          <a:off x="82550" y="4279265"/>
          <a:ext cx="11412855" cy="1097280"/>
        </p:xfrm>
        <a:graphic>
          <a:graphicData uri="http://schemas.openxmlformats.org/drawingml/2006/table">
            <a:tbl>
              <a:tblPr firstRow="1" bandCol="1">
                <a:tableStyleId>{72E06FB2-9B10-4A49-BD92-07C697D3BEEB}</a:tableStyleId>
              </a:tblPr>
              <a:tblGrid>
                <a:gridCol w="3820160"/>
                <a:gridCol w="3916680"/>
                <a:gridCol w="3676015"/>
              </a:tblGrid>
              <a:tr h="0">
                <a:tc>
                  <a:txBody>
                    <a:bodyPr/>
                    <a:p>
                      <a:pPr algn="ctr"/>
                      <a:r>
                        <a:rPr lang="en-US" altLang="zh-CN" sz="1800" b="0">
                          <a:latin typeface="Times New Roman" panose="02020503050405090304" charset="0"/>
                          <a:cs typeface="Times New Roman" panose="02020503050405090304" charset="0"/>
                        </a:rPr>
                        <a:t>Material group</a:t>
                      </a:r>
                      <a:endParaRPr lang="en-US" altLang="zh-CN" sz="1800" b="0">
                        <a:latin typeface="Times New Roman" panose="02020503050405090304" charset="0"/>
                        <a:cs typeface="Times New Roman" panose="02020503050405090304" charset="0"/>
                      </a:endParaRPr>
                    </a:p>
                  </a:txBody>
                  <a:tcPr marL="0" marR="0" marT="0" marB="0" anchor="ctr" anchorCtr="0">
                    <a:solidFill>
                      <a:srgbClr val="C8C8C8"/>
                    </a:solidFill>
                  </a:tcPr>
                </a:tc>
                <a:tc>
                  <a:txBody>
                    <a:bodyPr/>
                    <a:p>
                      <a:pPr algn="ctr"/>
                      <a:r>
                        <a:rPr lang="en-US" altLang="zh-CN" sz="1800" b="0">
                          <a:latin typeface="Times New Roman" panose="02020503050405090304" charset="0"/>
                          <a:cs typeface="Times New Roman" panose="02020503050405090304" charset="0"/>
                        </a:rPr>
                        <a:t>Included materials</a:t>
                      </a:r>
                      <a:endParaRPr lang="en-US" altLang="zh-CN" sz="1800" b="0">
                        <a:latin typeface="Times New Roman" panose="02020503050405090304" charset="0"/>
                        <a:cs typeface="Times New Roman" panose="02020503050405090304" charset="0"/>
                      </a:endParaRPr>
                    </a:p>
                  </a:txBody>
                  <a:tcPr marL="0" marR="0" marT="0" marB="0" anchor="ctr" anchorCtr="0"/>
                </a:tc>
                <a:tc>
                  <a:txBody>
                    <a:bodyPr/>
                    <a:p>
                      <a:pPr algn="ctr"/>
                      <a:r>
                        <a:rPr lang="en-US" altLang="zh-CN" sz="1800" b="0">
                          <a:latin typeface="Times New Roman" panose="02020503050405090304" charset="0"/>
                          <a:cs typeface="Times New Roman" panose="02020503050405090304" charset="0"/>
                        </a:rPr>
                        <a:t>Prior distribution kw (</a:t>
                      </a:r>
                      <a:r>
                        <a:rPr lang="en-US" altLang="zh-CN" sz="1800" b="0">
                          <a:latin typeface="Times New Roman" panose="02020503050405090304" charset="0"/>
                          <a:cs typeface="Times New Roman" panose="02020503050405090304" charset="0"/>
                        </a:rPr>
                        <a:t>m/day)</a:t>
                      </a:r>
                      <a:endParaRPr lang="en-US" altLang="zh-CN" sz="1800" b="0">
                        <a:latin typeface="Times New Roman" panose="02020503050405090304" charset="0"/>
                        <a:cs typeface="Times New Roman" panose="02020503050405090304" charset="0"/>
                      </a:endParaRPr>
                    </a:p>
                  </a:txBody>
                  <a:tcPr marL="0" marR="0" marT="0" marB="0" anchor="ctr" anchorCtr="0">
                    <a:solidFill>
                      <a:srgbClr val="C8C8C8"/>
                    </a:solidFill>
                  </a:tcPr>
                </a:tc>
              </a:tr>
              <a:tr h="0">
                <a:tc>
                  <a:txBody>
                    <a:bodyPr/>
                    <a:p>
                      <a:pPr algn="ctr"/>
                      <a:r>
                        <a:rPr lang="en-US" altLang="zh-CN" sz="1800" b="0">
                          <a:latin typeface="Times New Roman" panose="02020503050405090304" charset="0"/>
                          <a:cs typeface="Times New Roman" panose="02020503050405090304" charset="0"/>
                        </a:rPr>
                        <a:t>High-reactivity old iron pipes</a:t>
                      </a:r>
                      <a:endParaRPr lang="en-US" altLang="zh-CN" sz="1800" b="0">
                        <a:latin typeface="Times New Roman" panose="02020503050405090304" charset="0"/>
                        <a:cs typeface="Times New Roman" panose="02020503050405090304" charset="0"/>
                      </a:endParaRPr>
                    </a:p>
                  </a:txBody>
                  <a:tcPr marL="0" marR="0" marT="0" marB="0" anchor="ctr" anchorCtr="0">
                    <a:solidFill>
                      <a:srgbClr val="C8C8C8"/>
                    </a:solidFill>
                  </a:tcPr>
                </a:tc>
                <a:tc>
                  <a:txBody>
                    <a:bodyPr/>
                    <a:p>
                      <a:pPr algn="ctr"/>
                      <a:r>
                        <a:rPr lang="en-US" altLang="zh-CN" sz="1800" b="0">
                          <a:latin typeface="Times New Roman" panose="02020503050405090304" charset="0"/>
                          <a:cs typeface="Times New Roman" panose="02020503050405090304" charset="0"/>
                        </a:rPr>
                        <a:t>CI, SI, unlined DI, severely corroded steel</a:t>
                      </a:r>
                      <a:endParaRPr lang="en-US" altLang="zh-CN" sz="1800" b="0">
                        <a:latin typeface="Times New Roman" panose="02020503050405090304" charset="0"/>
                        <a:cs typeface="Times New Roman" panose="02020503050405090304" charset="0"/>
                      </a:endParaRPr>
                    </a:p>
                  </a:txBody>
                  <a:tcPr marL="0" marR="0" marT="0" marB="0" anchor="ctr" anchorCtr="0"/>
                </a:tc>
                <a:tc>
                  <a:txBody>
                    <a:bodyPr/>
                    <a:p>
                      <a:pPr algn="ctr"/>
                      <a:r>
                        <a:rPr lang="en-US" altLang="zh-CN" sz="1800" b="0">
                          <a:latin typeface="Times New Roman" panose="02020503050405090304" charset="0"/>
                          <a:cs typeface="Times New Roman" panose="02020503050405090304" charset="0"/>
                        </a:rPr>
                        <a:t>(0.20, 1.50)</a:t>
                      </a:r>
                      <a:endParaRPr lang="en-US" altLang="zh-CN" sz="1800" b="0">
                        <a:latin typeface="Times New Roman" panose="02020503050405090304" charset="0"/>
                        <a:cs typeface="Times New Roman" panose="02020503050405090304" charset="0"/>
                      </a:endParaRPr>
                    </a:p>
                  </a:txBody>
                  <a:tcPr marL="0" marR="0" marT="0" marB="0" anchor="ctr" anchorCtr="0">
                    <a:solidFill>
                      <a:srgbClr val="C8C8C8"/>
                    </a:solidFill>
                  </a:tcPr>
                </a:tc>
              </a:tr>
              <a:tr h="0">
                <a:tc>
                  <a:txBody>
                    <a:bodyPr/>
                    <a:p>
                      <a:pPr algn="ctr"/>
                      <a:r>
                        <a:rPr lang="en-US" altLang="zh-CN" sz="1800" b="0">
                          <a:latin typeface="Times New Roman" panose="02020503050405090304" charset="0"/>
                          <a:cs typeface="Times New Roman" panose="02020503050405090304" charset="0"/>
                        </a:rPr>
                        <a:t>Medium-reactivity metal or lined pipes</a:t>
                      </a:r>
                      <a:endParaRPr lang="en-US" altLang="zh-CN" sz="1800" b="0">
                        <a:latin typeface="Times New Roman" panose="02020503050405090304" charset="0"/>
                        <a:cs typeface="Times New Roman" panose="02020503050405090304" charset="0"/>
                      </a:endParaRPr>
                    </a:p>
                  </a:txBody>
                  <a:tcPr marL="0" marR="0" marT="0" marB="0" anchor="ctr" anchorCtr="0">
                    <a:solidFill>
                      <a:srgbClr val="C8C8C8"/>
                    </a:solidFill>
                  </a:tcPr>
                </a:tc>
                <a:tc>
                  <a:txBody>
                    <a:bodyPr/>
                    <a:p>
                      <a:pPr algn="ctr"/>
                      <a:r>
                        <a:rPr lang="en-US" altLang="zh-CN" sz="1800" b="0">
                          <a:latin typeface="Times New Roman" panose="02020503050405090304" charset="0"/>
                          <a:cs typeface="Times New Roman" panose="02020503050405090304" charset="0"/>
                        </a:rPr>
                        <a:t>steel, GS, DICL, CICL</a:t>
                      </a:r>
                      <a:endParaRPr lang="en-US" altLang="zh-CN" sz="1800" b="0">
                        <a:latin typeface="Times New Roman" panose="02020503050405090304" charset="0"/>
                        <a:cs typeface="Times New Roman" panose="02020503050405090304" charset="0"/>
                      </a:endParaRPr>
                    </a:p>
                  </a:txBody>
                  <a:tcPr marL="0" marR="0" marT="0" marB="0" anchor="ctr" anchorCtr="0"/>
                </a:tc>
                <a:tc>
                  <a:txBody>
                    <a:bodyPr/>
                    <a:p>
                      <a:pPr algn="ctr"/>
                      <a:r>
                        <a:rPr lang="en-US" altLang="zh-CN" sz="1800" b="0">
                          <a:latin typeface="Times New Roman" panose="02020503050405090304" charset="0"/>
                          <a:cs typeface="Times New Roman" panose="02020503050405090304" charset="0"/>
                        </a:rPr>
                        <a:t>(0.04, 0.20)</a:t>
                      </a:r>
                      <a:endParaRPr lang="en-US" altLang="zh-CN" sz="1800" b="0">
                        <a:latin typeface="Times New Roman" panose="02020503050405090304" charset="0"/>
                        <a:cs typeface="Times New Roman" panose="02020503050405090304" charset="0"/>
                      </a:endParaRPr>
                    </a:p>
                  </a:txBody>
                  <a:tcPr marL="0" marR="0" marT="0" marB="0" anchor="ctr" anchorCtr="0">
                    <a:solidFill>
                      <a:srgbClr val="C8C8C8"/>
                    </a:solidFill>
                  </a:tcPr>
                </a:tc>
              </a:tr>
              <a:tr h="0">
                <a:tc>
                  <a:txBody>
                    <a:bodyPr/>
                    <a:p>
                      <a:pPr algn="ctr"/>
                      <a:r>
                        <a:rPr lang="en-US" altLang="zh-CN" sz="1800" b="0">
                          <a:latin typeface="Times New Roman" panose="02020503050405090304" charset="0"/>
                          <a:cs typeface="Times New Roman" panose="02020503050405090304" charset="0"/>
                        </a:rPr>
                        <a:t>Low-reactivity plastic pipes</a:t>
                      </a:r>
                      <a:endParaRPr lang="en-US" altLang="zh-CN" sz="1800" b="0">
                        <a:latin typeface="Times New Roman" panose="02020503050405090304" charset="0"/>
                        <a:cs typeface="Times New Roman" panose="02020503050405090304" charset="0"/>
                      </a:endParaRPr>
                    </a:p>
                  </a:txBody>
                  <a:tcPr marL="0" marR="0" marT="0" marB="0" anchor="ctr" anchorCtr="0">
                    <a:solidFill>
                      <a:srgbClr val="C8C8C8"/>
                    </a:solidFill>
                  </a:tcPr>
                </a:tc>
                <a:tc>
                  <a:txBody>
                    <a:bodyPr/>
                    <a:p>
                      <a:pPr algn="ctr"/>
                      <a:r>
                        <a:rPr lang="en-US" altLang="zh-CN" sz="1800" b="0">
                          <a:latin typeface="Times New Roman" panose="02020503050405090304" charset="0"/>
                          <a:cs typeface="Times New Roman" panose="02020503050405090304" charset="0"/>
                        </a:rPr>
                        <a:t>PVC, uPVC, PE, MDPE, HDPE, PP</a:t>
                      </a:r>
                      <a:endParaRPr lang="en-US" altLang="zh-CN" sz="1800" b="0">
                        <a:latin typeface="Times New Roman" panose="02020503050405090304" charset="0"/>
                        <a:cs typeface="Times New Roman" panose="02020503050405090304" charset="0"/>
                      </a:endParaRPr>
                    </a:p>
                  </a:txBody>
                  <a:tcPr marL="0" marR="0" marT="0" marB="0" anchor="ctr" anchorCtr="0"/>
                </a:tc>
                <a:tc>
                  <a:txBody>
                    <a:bodyPr/>
                    <a:p>
                      <a:pPr algn="ctr"/>
                      <a:r>
                        <a:rPr lang="en-US" altLang="zh-CN" sz="1800" b="0">
                          <a:latin typeface="Times New Roman" panose="02020503050405090304" charset="0"/>
                          <a:cs typeface="Times New Roman" panose="02020503050405090304" charset="0"/>
                        </a:rPr>
                        <a:t>(0.005, 0.1)</a:t>
                      </a:r>
                      <a:endParaRPr lang="en-US" altLang="zh-CN" sz="1800" b="0">
                        <a:latin typeface="Times New Roman" panose="02020503050405090304" charset="0"/>
                        <a:cs typeface="Times New Roman" panose="02020503050405090304" charset="0"/>
                      </a:endParaRPr>
                    </a:p>
                  </a:txBody>
                  <a:tcPr marL="0" marR="0" marT="0" marB="0" anchor="ctr" anchorCtr="0">
                    <a:solidFill>
                      <a:srgbClr val="C8C8C8"/>
                    </a:solidFill>
                  </a:tcPr>
                </a:tc>
              </a:tr>
            </a:tbl>
          </a:graphicData>
        </a:graphic>
      </p:graphicFrame>
      <p:sp>
        <p:nvSpPr>
          <p:cNvPr id="10" name="文本框 9"/>
          <p:cNvSpPr txBox="1"/>
          <p:nvPr/>
        </p:nvSpPr>
        <p:spPr>
          <a:xfrm>
            <a:off x="135890" y="110490"/>
            <a:ext cx="4064000" cy="460375"/>
          </a:xfrm>
          <a:prstGeom prst="rect">
            <a:avLst/>
          </a:prstGeom>
          <a:noFill/>
        </p:spPr>
        <p:txBody>
          <a:bodyPr wrap="square" rtlCol="0">
            <a:spAutoFit/>
          </a:bodyPr>
          <a:p>
            <a:r>
              <a:rPr lang="en-US" altLang="zh-CN" sz="2400" b="1">
                <a:solidFill>
                  <a:schemeClr val="tx1"/>
                </a:solidFill>
                <a:latin typeface="Times New Roman" panose="02020503050405090304" charset="0"/>
                <a:cs typeface="Times New Roman" panose="02020503050405090304" charset="0"/>
              </a:rPr>
              <a:t>Grouping</a:t>
            </a:r>
            <a:endParaRPr lang="en-US" altLang="zh-CN" sz="2400" b="1">
              <a:solidFill>
                <a:schemeClr val="tx1"/>
              </a:solidFill>
              <a:latin typeface="Times New Roman" panose="02020503050405090304" charset="0"/>
              <a:cs typeface="Times New Roman" panose="02020503050405090304" charset="0"/>
            </a:endParaRPr>
          </a:p>
        </p:txBody>
      </p:sp>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62560" y="193675"/>
            <a:ext cx="6096000" cy="398780"/>
          </a:xfrm>
          <a:prstGeom prst="rect">
            <a:avLst/>
          </a:prstGeom>
          <a:noFill/>
        </p:spPr>
        <p:txBody>
          <a:bodyPr wrap="square" rtlCol="0" anchor="t">
            <a:spAutoFit/>
          </a:bodyPr>
          <a:p>
            <a:r>
              <a:rPr lang="en-US" altLang="zh-CN" sz="2000" b="1">
                <a:latin typeface="Times New Roman" panose="02020503050405090304" charset="0"/>
                <a:cs typeface="Times New Roman" panose="02020503050405090304" charset="0"/>
              </a:rPr>
              <a:t>Uncertainty in residual chlorine model parameters</a:t>
            </a:r>
            <a:endParaRPr lang="en-US" altLang="zh-CN" sz="2000" b="1">
              <a:latin typeface="Times New Roman" panose="02020503050405090304" charset="0"/>
              <a:cs typeface="Times New Roman" panose="02020503050405090304" charset="0"/>
            </a:endParaRPr>
          </a:p>
        </p:txBody>
      </p:sp>
      <p:sp>
        <p:nvSpPr>
          <p:cNvPr id="9" name="文本框 8"/>
          <p:cNvSpPr txBox="1"/>
          <p:nvPr/>
        </p:nvSpPr>
        <p:spPr>
          <a:xfrm>
            <a:off x="3118485" y="5252720"/>
            <a:ext cx="5080000" cy="1198880"/>
          </a:xfrm>
          <a:prstGeom prst="rect">
            <a:avLst/>
          </a:prstGeom>
          <a:noFill/>
        </p:spPr>
        <p:txBody>
          <a:bodyPr wrap="square" rtlCol="0" anchor="t">
            <a:spAutoFit/>
          </a:bodyPr>
          <a:p>
            <a:r>
              <a:rPr lang="en-US" altLang="zh-CN">
                <a:latin typeface="Times New Roman Regular" panose="02020503050405090304" charset="0"/>
                <a:cs typeface="Times New Roman Regular" panose="02020503050405090304" charset="0"/>
              </a:rPr>
              <a:t>The prior simply samples each Kw uniformly within a reasonable range, then GLUE becomes more natural and easier to defend. Forcing N to be multiplied will make the likelihood extremely sharp.</a:t>
            </a:r>
            <a:endParaRPr lang="en-US" altLang="zh-CN">
              <a:latin typeface="Times New Roman Regular" panose="02020503050405090304" charset="0"/>
              <a:cs typeface="Times New Roman Regular" panose="02020503050405090304" charset="0"/>
            </a:endParaRPr>
          </a:p>
        </p:txBody>
      </p:sp>
      <p:sp>
        <p:nvSpPr>
          <p:cNvPr id="11" name="文本框 10"/>
          <p:cNvSpPr txBox="1"/>
          <p:nvPr/>
        </p:nvSpPr>
        <p:spPr>
          <a:xfrm>
            <a:off x="8552180" y="1533525"/>
            <a:ext cx="1128395" cy="368300"/>
          </a:xfrm>
          <a:prstGeom prst="rect">
            <a:avLst/>
          </a:prstGeom>
        </p:spPr>
        <p:txBody>
          <a:bodyPr wrap="square">
            <a:spAutoFit/>
          </a:bodyPr>
          <a:p>
            <a:r>
              <a:rPr lang="en-US" altLang="zh-CN">
                <a:solidFill>
                  <a:schemeClr val="tx1"/>
                </a:solidFill>
                <a:latin typeface="Times New Roman Regular" panose="02020503050405090304" charset="0"/>
                <a:cs typeface="Times New Roman Regular" panose="02020503050405090304" charset="0"/>
              </a:rPr>
              <a:t>GLUE</a:t>
            </a:r>
            <a:endParaRPr lang="en-US" altLang="zh-CN">
              <a:solidFill>
                <a:schemeClr val="tx1"/>
              </a:solidFill>
              <a:latin typeface="Times New Roman Regular" panose="02020503050405090304" charset="0"/>
              <a:cs typeface="Times New Roman Regular" panose="02020503050405090304" charset="0"/>
            </a:endParaRPr>
          </a:p>
        </p:txBody>
      </p:sp>
      <p:pic>
        <p:nvPicPr>
          <p:cNvPr id="16" name="图片 15"/>
          <p:cNvPicPr>
            <a:picLocks noChangeAspect="1"/>
          </p:cNvPicPr>
          <p:nvPr/>
        </p:nvPicPr>
        <p:blipFill>
          <a:blip r:embed="rId1"/>
          <a:stretch>
            <a:fillRect/>
          </a:stretch>
        </p:blipFill>
        <p:spPr>
          <a:xfrm>
            <a:off x="8414385" y="4502150"/>
            <a:ext cx="3103880" cy="1670050"/>
          </a:xfrm>
          <a:prstGeom prst="rect">
            <a:avLst/>
          </a:prstGeom>
        </p:spPr>
      </p:pic>
      <p:pic>
        <p:nvPicPr>
          <p:cNvPr id="17" name="图片 16"/>
          <p:cNvPicPr>
            <a:picLocks noChangeAspect="1"/>
          </p:cNvPicPr>
          <p:nvPr/>
        </p:nvPicPr>
        <p:blipFill>
          <a:blip r:embed="rId2"/>
          <a:stretch>
            <a:fillRect/>
          </a:stretch>
        </p:blipFill>
        <p:spPr>
          <a:xfrm>
            <a:off x="8414385" y="3392170"/>
            <a:ext cx="3378835" cy="1065530"/>
          </a:xfrm>
          <a:prstGeom prst="rect">
            <a:avLst/>
          </a:prstGeom>
        </p:spPr>
      </p:pic>
      <p:sp>
        <p:nvSpPr>
          <p:cNvPr id="12" name="文本框 11"/>
          <p:cNvSpPr txBox="1"/>
          <p:nvPr/>
        </p:nvSpPr>
        <p:spPr>
          <a:xfrm>
            <a:off x="5020310" y="1533525"/>
            <a:ext cx="2460625" cy="368300"/>
          </a:xfrm>
          <a:prstGeom prst="rect">
            <a:avLst/>
          </a:prstGeom>
        </p:spPr>
        <p:txBody>
          <a:bodyPr wrap="square">
            <a:spAutoFit/>
          </a:bodyPr>
          <a:p>
            <a:r>
              <a:rPr lang="en-US" altLang="zh-CN">
                <a:latin typeface="Times New Roman Regular" panose="02020503050405090304" charset="0"/>
                <a:cs typeface="Times New Roman Regular" panose="02020503050405090304" charset="0"/>
              </a:rPr>
              <a:t>Bayesian / MCMC</a:t>
            </a:r>
            <a:endParaRPr lang="en-US" altLang="zh-CN">
              <a:latin typeface="Times New Roman Regular" panose="02020503050405090304" charset="0"/>
              <a:cs typeface="Times New Roman Regular" panose="02020503050405090304" charset="0"/>
            </a:endParaRPr>
          </a:p>
        </p:txBody>
      </p:sp>
      <p:sp>
        <p:nvSpPr>
          <p:cNvPr id="13" name="文本框 12"/>
          <p:cNvSpPr txBox="1"/>
          <p:nvPr/>
        </p:nvSpPr>
        <p:spPr>
          <a:xfrm>
            <a:off x="314960" y="1533525"/>
            <a:ext cx="2803525" cy="368300"/>
          </a:xfrm>
          <a:prstGeom prst="rect">
            <a:avLst/>
          </a:prstGeom>
        </p:spPr>
        <p:txBody>
          <a:bodyPr wrap="square">
            <a:spAutoFit/>
          </a:bodyPr>
          <a:p>
            <a:r>
              <a:rPr lang="en-US" altLang="zh-CN">
                <a:latin typeface="Times New Roman Regular" panose="02020503050405090304" charset="0"/>
                <a:cs typeface="Times New Roman Regular" panose="02020503050405090304" charset="0"/>
              </a:rPr>
              <a:t>GA = Genetic Algorithm</a:t>
            </a:r>
            <a:endParaRPr lang="en-US" altLang="zh-CN">
              <a:latin typeface="Times New Roman Regular" panose="02020503050405090304" charset="0"/>
              <a:cs typeface="Times New Roman Regular" panose="02020503050405090304" charset="0"/>
            </a:endParaRPr>
          </a:p>
        </p:txBody>
      </p:sp>
      <p:sp>
        <p:nvSpPr>
          <p:cNvPr id="14" name="文本框 13"/>
          <p:cNvSpPr txBox="1"/>
          <p:nvPr/>
        </p:nvSpPr>
        <p:spPr>
          <a:xfrm>
            <a:off x="293370" y="2327275"/>
            <a:ext cx="3589655" cy="922020"/>
          </a:xfrm>
          <a:prstGeom prst="rect">
            <a:avLst/>
          </a:prstGeom>
          <a:noFill/>
        </p:spPr>
        <p:txBody>
          <a:bodyPr wrap="square" rtlCol="0" anchor="t">
            <a:spAutoFit/>
          </a:bodyPr>
          <a:p>
            <a:r>
              <a:rPr lang="en-US" altLang="zh-CN">
                <a:latin typeface="Times New Roman Regular" panose="02020503050405090304" charset="0"/>
                <a:cs typeface="Times New Roman Regular" panose="02020503050405090304" charset="0"/>
              </a:rPr>
              <a:t>Minimize the error between simulated residual chlorine and observed residual chlorine</a:t>
            </a:r>
            <a:endParaRPr lang="en-US" altLang="zh-CN">
              <a:latin typeface="Times New Roman Regular" panose="02020503050405090304" charset="0"/>
              <a:cs typeface="Times New Roman Regular" panose="02020503050405090304" charset="0"/>
            </a:endParaRPr>
          </a:p>
        </p:txBody>
      </p:sp>
      <p:sp>
        <p:nvSpPr>
          <p:cNvPr id="15" name="文本框 14"/>
          <p:cNvSpPr txBox="1"/>
          <p:nvPr/>
        </p:nvSpPr>
        <p:spPr>
          <a:xfrm>
            <a:off x="293370" y="3863340"/>
            <a:ext cx="3216275" cy="368300"/>
          </a:xfrm>
          <a:prstGeom prst="rect">
            <a:avLst/>
          </a:prstGeom>
          <a:noFill/>
        </p:spPr>
        <p:txBody>
          <a:bodyPr wrap="square" rtlCol="0" anchor="t">
            <a:spAutoFit/>
          </a:bodyPr>
          <a:p>
            <a:r>
              <a:rPr lang="en-US" altLang="zh-CN">
                <a:latin typeface="Times New Roman Regular" panose="02020503050405090304" charset="0"/>
                <a:cs typeface="Times New Roman Regular" panose="02020503050405090304" charset="0"/>
              </a:rPr>
              <a:t>Optimal parameter set</a:t>
            </a:r>
            <a:endParaRPr lang="en-US" altLang="zh-CN">
              <a:latin typeface="Times New Roman Regular" panose="02020503050405090304" charset="0"/>
              <a:cs typeface="Times New Roman Regular" panose="02020503050405090304" charset="0"/>
            </a:endParaRPr>
          </a:p>
        </p:txBody>
      </p:sp>
      <p:sp>
        <p:nvSpPr>
          <p:cNvPr id="18" name="文本框 17"/>
          <p:cNvSpPr txBox="1"/>
          <p:nvPr/>
        </p:nvSpPr>
        <p:spPr>
          <a:xfrm>
            <a:off x="8551545" y="2242820"/>
            <a:ext cx="3379470" cy="645160"/>
          </a:xfrm>
          <a:prstGeom prst="rect">
            <a:avLst/>
          </a:prstGeom>
        </p:spPr>
        <p:txBody>
          <a:bodyPr wrap="square">
            <a:spAutoFit/>
          </a:bodyPr>
          <a:p>
            <a:r>
              <a:rPr lang="en-US" altLang="zh-CN">
                <a:latin typeface="Times New Roman Regular" panose="02020503050405090304" charset="0"/>
                <a:cs typeface="Times New Roman Regular" panose="02020503050405090304" charset="0"/>
              </a:rPr>
              <a:t>behavioural parameter sets + uncertainty interval</a:t>
            </a:r>
            <a:endParaRPr lang="en-US" altLang="zh-CN">
              <a:latin typeface="Times New Roman Regular" panose="02020503050405090304" charset="0"/>
              <a:cs typeface="Times New Roman Regular" panose="02020503050405090304" charset="0"/>
            </a:endParaRPr>
          </a:p>
        </p:txBody>
      </p:sp>
      <p:sp>
        <p:nvSpPr>
          <p:cNvPr id="19" name="文本框 18"/>
          <p:cNvSpPr txBox="1"/>
          <p:nvPr/>
        </p:nvSpPr>
        <p:spPr>
          <a:xfrm>
            <a:off x="4674235" y="4541520"/>
            <a:ext cx="3710305" cy="368300"/>
          </a:xfrm>
          <a:prstGeom prst="rect">
            <a:avLst/>
          </a:prstGeom>
          <a:noFill/>
        </p:spPr>
        <p:txBody>
          <a:bodyPr wrap="square" rtlCol="0" anchor="t">
            <a:spAutoFit/>
          </a:bodyPr>
          <a:p>
            <a:r>
              <a:rPr lang="en-US" altLang="zh-CN">
                <a:latin typeface="Times New Roman Regular" panose="02020503050405090304" charset="0"/>
                <a:cs typeface="Times New Roman Regular" panose="02020503050405090304" charset="0"/>
              </a:rPr>
              <a:t>Posterior = Likelihood × Prior</a:t>
            </a:r>
            <a:endParaRPr lang="en-US" altLang="zh-CN">
              <a:latin typeface="Times New Roman Regular" panose="02020503050405090304" charset="0"/>
              <a:cs typeface="Times New Roman Regular" panose="02020503050405090304" charset="0"/>
            </a:endParaRPr>
          </a:p>
        </p:txBody>
      </p:sp>
      <p:pic>
        <p:nvPicPr>
          <p:cNvPr id="7" name="图片 6"/>
          <p:cNvPicPr>
            <a:picLocks noChangeAspect="1"/>
          </p:cNvPicPr>
          <p:nvPr/>
        </p:nvPicPr>
        <p:blipFill>
          <a:blip r:embed="rId3"/>
          <a:stretch>
            <a:fillRect/>
          </a:stretch>
        </p:blipFill>
        <p:spPr>
          <a:xfrm>
            <a:off x="4395470" y="3378835"/>
            <a:ext cx="3710305" cy="819785"/>
          </a:xfrm>
          <a:prstGeom prst="rect">
            <a:avLst/>
          </a:prstGeom>
        </p:spPr>
      </p:pic>
      <p:pic>
        <p:nvPicPr>
          <p:cNvPr id="8" name="图片 7"/>
          <p:cNvPicPr>
            <a:picLocks noChangeAspect="1"/>
          </p:cNvPicPr>
          <p:nvPr/>
        </p:nvPicPr>
        <p:blipFill>
          <a:blip r:embed="rId4"/>
          <a:stretch>
            <a:fillRect/>
          </a:stretch>
        </p:blipFill>
        <p:spPr>
          <a:xfrm>
            <a:off x="3903345" y="2324100"/>
            <a:ext cx="4648835" cy="819785"/>
          </a:xfrm>
          <a:prstGeom prst="rect">
            <a:avLst/>
          </a:prstGeom>
        </p:spPr>
      </p:pic>
    </p:spTree>
    <p:custDataLst>
      <p:tags r:id="rId5"/>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589915" y="186055"/>
            <a:ext cx="5276215" cy="4307840"/>
          </a:xfrm>
          <a:prstGeom prst="rect">
            <a:avLst/>
          </a:prstGeom>
        </p:spPr>
      </p:pic>
      <p:sp>
        <p:nvSpPr>
          <p:cNvPr id="6" name="文本框 5"/>
          <p:cNvSpPr txBox="1"/>
          <p:nvPr/>
        </p:nvSpPr>
        <p:spPr>
          <a:xfrm>
            <a:off x="6731635" y="457200"/>
            <a:ext cx="5009515" cy="2522855"/>
          </a:xfrm>
          <a:prstGeom prst="rect">
            <a:avLst/>
          </a:prstGeom>
          <a:noFill/>
        </p:spPr>
        <p:txBody>
          <a:bodyPr wrap="square" rtlCol="0" anchor="t">
            <a:spAutoFit/>
          </a:bodyPr>
          <a:p>
            <a:pPr marL="0" indent="0">
              <a:spcBef>
                <a:spcPts val="600"/>
              </a:spcBef>
              <a:spcAft>
                <a:spcPts val="600"/>
              </a:spcAft>
              <a:buFont typeface="Arial" panose="020B0604020202090204"/>
              <a:buChar char="•"/>
            </a:pPr>
            <a:r>
              <a:rPr lang="en-US" altLang="zh-CN">
                <a:latin typeface="Times New Roman" panose="02020503050405090304" charset="0"/>
                <a:ea typeface="-apple-system"/>
                <a:cs typeface="Times New Roman" panose="02020503050405090304" charset="0"/>
                <a:sym typeface="+mn-ea"/>
              </a:rPr>
              <a:t> Source initial chlorine = </a:t>
            </a:r>
            <a:r>
              <a:rPr lang="en-US" altLang="zh-CN" b="1">
                <a:latin typeface="Times New Roman" panose="02020503050405090304" charset="0"/>
                <a:ea typeface="-apple-system"/>
                <a:cs typeface="Times New Roman" panose="02020503050405090304" charset="0"/>
                <a:sym typeface="+mn-ea"/>
              </a:rPr>
              <a:t>1.0 mg/L</a:t>
            </a:r>
            <a:endParaRPr lang="en-US" altLang="zh-CN" b="1">
              <a:latin typeface="Times New Roman" panose="02020503050405090304" charset="0"/>
              <a:ea typeface="-apple-system"/>
              <a:cs typeface="Times New Roman" panose="02020503050405090304" charset="0"/>
              <a:sym typeface="+mn-ea"/>
            </a:endParaRPr>
          </a:p>
          <a:p>
            <a:pPr marL="0" indent="0">
              <a:spcBef>
                <a:spcPts val="600"/>
              </a:spcBef>
              <a:spcAft>
                <a:spcPts val="600"/>
              </a:spcAft>
              <a:buFont typeface="Arial" panose="020B0604020202090204"/>
              <a:buChar char="•"/>
            </a:pPr>
            <a:r>
              <a:rPr lang="en-US" altLang="zh-CN">
                <a:latin typeface="Times New Roman" panose="02020503050405090304" charset="0"/>
                <a:ea typeface="-apple-system"/>
                <a:cs typeface="Times New Roman" panose="02020503050405090304" charset="0"/>
                <a:sym typeface="+mn-ea"/>
              </a:rPr>
              <a:t> Tank initial chlorine = 0.5 </a:t>
            </a:r>
            <a:endParaRPr lang="en-US" altLang="zh-CN">
              <a:latin typeface="Times New Roman" panose="02020503050405090304" charset="0"/>
              <a:ea typeface="-apple-system"/>
              <a:cs typeface="Times New Roman" panose="02020503050405090304" charset="0"/>
              <a:sym typeface="+mn-ea"/>
            </a:endParaRPr>
          </a:p>
          <a:p>
            <a:pPr marL="0" indent="0">
              <a:spcBef>
                <a:spcPts val="600"/>
              </a:spcBef>
              <a:spcAft>
                <a:spcPts val="600"/>
              </a:spcAft>
              <a:buFont typeface="Arial" panose="020B0604020202090204"/>
              <a:buChar char="•"/>
            </a:pPr>
            <a:r>
              <a:rPr lang="en-US" altLang="zh-CN">
                <a:latin typeface="Times New Roman" panose="02020503050405090304" charset="0"/>
                <a:ea typeface="-apple-system"/>
                <a:cs typeface="Times New Roman" panose="02020503050405090304" charset="0"/>
                <a:sym typeface="+mn-ea"/>
              </a:rPr>
              <a:t> kb = −0.5 /day (original = 0, no decay)</a:t>
            </a:r>
            <a:endParaRPr lang="en-US" altLang="zh-CN" b="0" i="0">
              <a:latin typeface="Times New Roman" panose="02020503050405090304" charset="0"/>
              <a:ea typeface="-apple-system"/>
              <a:cs typeface="Times New Roman" panose="02020503050405090304" charset="0"/>
            </a:endParaRPr>
          </a:p>
          <a:p>
            <a:pPr marL="0" indent="0">
              <a:spcBef>
                <a:spcPts val="600"/>
              </a:spcBef>
              <a:spcAft>
                <a:spcPts val="600"/>
              </a:spcAft>
              <a:buFont typeface="Arial" panose="020B0604020202090204"/>
              <a:buChar char="•"/>
            </a:pPr>
            <a:r>
              <a:rPr lang="en-US" altLang="zh-CN">
                <a:latin typeface="Times New Roman" panose="02020503050405090304" charset="0"/>
                <a:ea typeface="-apple-system"/>
                <a:cs typeface="Times New Roman" panose="02020503050405090304" charset="0"/>
                <a:sym typeface="+mn-ea"/>
              </a:rPr>
              <a:t> kw_old = -1.0/day </a:t>
            </a:r>
            <a:endParaRPr lang="en-US" altLang="zh-CN">
              <a:latin typeface="Times New Roman" panose="02020503050405090304" charset="0"/>
              <a:ea typeface="-apple-system"/>
              <a:cs typeface="Times New Roman" panose="02020503050405090304" charset="0"/>
              <a:sym typeface="+mn-ea"/>
            </a:endParaRPr>
          </a:p>
          <a:p>
            <a:pPr marL="0" indent="0">
              <a:spcBef>
                <a:spcPts val="600"/>
              </a:spcBef>
              <a:spcAft>
                <a:spcPts val="600"/>
              </a:spcAft>
              <a:buFont typeface="Arial" panose="020B0604020202090204"/>
              <a:buChar char="•"/>
            </a:pPr>
            <a:r>
              <a:rPr lang="en-US" altLang="zh-CN">
                <a:latin typeface="Times New Roman" panose="02020503050405090304" charset="0"/>
                <a:ea typeface="-apple-system"/>
                <a:cs typeface="Times New Roman" panose="02020503050405090304" charset="0"/>
                <a:sym typeface="+mn-ea"/>
              </a:rPr>
              <a:t> kw_ave = -0.1/day</a:t>
            </a:r>
            <a:endParaRPr lang="en-US" altLang="zh-CN" b="0" i="0">
              <a:latin typeface="Times New Roman" panose="02020503050405090304" charset="0"/>
              <a:ea typeface="-apple-system"/>
              <a:cs typeface="Times New Roman" panose="02020503050405090304" charset="0"/>
            </a:endParaRPr>
          </a:p>
          <a:p>
            <a:pPr marL="0" indent="0">
              <a:spcBef>
                <a:spcPts val="600"/>
              </a:spcBef>
              <a:spcAft>
                <a:spcPts val="600"/>
              </a:spcAft>
              <a:buFont typeface="Arial" panose="020B0604020202090204"/>
              <a:buChar char="•"/>
            </a:pPr>
            <a:r>
              <a:rPr lang="en-US" altLang="zh-CN">
                <a:latin typeface="Times New Roman" panose="02020503050405090304" charset="0"/>
                <a:ea typeface="-apple-system"/>
                <a:cs typeface="Times New Roman" panose="02020503050405090304" charset="0"/>
                <a:sym typeface="+mn-ea"/>
              </a:rPr>
              <a:t> kw_new =   -0.05 /day</a:t>
            </a:r>
            <a:endParaRPr lang="en-US" altLang="zh-CN">
              <a:latin typeface="Times New Roman" panose="02020503050405090304" charset="0"/>
              <a:ea typeface="-apple-system"/>
              <a:cs typeface="Times New Roman" panose="02020503050405090304" charset="0"/>
              <a:sym typeface="+mn-ea"/>
            </a:endParaRPr>
          </a:p>
        </p:txBody>
      </p:sp>
      <p:graphicFrame>
        <p:nvGraphicFramePr>
          <p:cNvPr id="7" name="表格 6"/>
          <p:cNvGraphicFramePr/>
          <p:nvPr/>
        </p:nvGraphicFramePr>
        <p:xfrm>
          <a:off x="262255" y="4493895"/>
          <a:ext cx="10485120" cy="2463800"/>
        </p:xfrm>
        <a:graphic>
          <a:graphicData uri="http://schemas.openxmlformats.org/drawingml/2006/table">
            <a:tbl>
              <a:tblPr/>
              <a:tblGrid>
                <a:gridCol w="3495040"/>
                <a:gridCol w="3192145"/>
                <a:gridCol w="3797935"/>
              </a:tblGrid>
              <a:tr h="0">
                <a:tc>
                  <a:txBody>
                    <a:bodyPr/>
                    <a:p>
                      <a:pPr algn="l" fontAlgn="t"/>
                      <a:r>
                        <a:rPr lang="en-US" altLang="zh-CN" sz="2000" b="0" i="0">
                          <a:solidFill>
                            <a:schemeClr val="tx1"/>
                          </a:solidFill>
                          <a:latin typeface="Times New Roman" panose="02020503050405090304" charset="0"/>
                          <a:ea typeface="-apple-system"/>
                        </a:rPr>
                        <a:t>Group</a:t>
                      </a:r>
                      <a:endParaRPr lang="en-US" altLang="zh-CN" sz="2000" b="0" i="0">
                        <a:solidFill>
                          <a:schemeClr val="tx1"/>
                        </a:solidFill>
                        <a:latin typeface="Times New Roman" panose="02020503050405090304" charset="0"/>
                        <a:ea typeface="-apple-system"/>
                      </a:endParaRPr>
                    </a:p>
                  </a:txBody>
                  <a:tcPr marL="114617" marR="114617" marT="63817" marB="63817" anchor="t" anchorCtr="0">
                    <a:lnL>
                      <a:noFill/>
                    </a:lnL>
                    <a:lnR>
                      <a:noFill/>
                    </a:lnR>
                    <a:lnT>
                      <a:noFill/>
                    </a:lnT>
                    <a:lnB>
                      <a:noFill/>
                    </a:lnB>
                    <a:noFill/>
                  </a:tcPr>
                </a:tc>
                <a:tc>
                  <a:txBody>
                    <a:bodyPr/>
                    <a:p>
                      <a:pPr algn="l" fontAlgn="t"/>
                      <a:r>
                        <a:rPr lang="en-US" altLang="zh-CN" sz="2000" b="0" i="0">
                          <a:solidFill>
                            <a:schemeClr val="tx1"/>
                          </a:solidFill>
                          <a:latin typeface="Times New Roman" panose="02020503050405090304" charset="0"/>
                          <a:ea typeface="-apple-system"/>
                          <a:cs typeface="Times New Roman" panose="02020503050405090304" charset="0"/>
                        </a:rPr>
                        <a:t>01 (</a:t>
                      </a:r>
                      <a:r>
                        <a:rPr lang="en-US" altLang="zh-CN" sz="2000" b="0" i="0">
                          <a:solidFill>
                            <a:schemeClr val="tx1"/>
                          </a:solidFill>
                          <a:latin typeface="Times New Roman" panose="02020503050405090304" charset="0"/>
                          <a:ea typeface="-apple-system"/>
                          <a:cs typeface="Times New Roman" panose="02020503050405090304" charset="0"/>
                        </a:rPr>
                        <a:t>Spatial partitioning)</a:t>
                      </a:r>
                      <a:endParaRPr lang="en-US" altLang="zh-CN" sz="2000" b="0" i="0">
                        <a:solidFill>
                          <a:schemeClr val="tx1"/>
                        </a:solidFill>
                        <a:latin typeface="Times New Roman" panose="02020503050405090304" charset="0"/>
                        <a:ea typeface="-apple-system"/>
                        <a:cs typeface="Times New Roman" panose="02020503050405090304" charset="0"/>
                      </a:endParaRPr>
                    </a:p>
                  </a:txBody>
                  <a:tcPr marL="114617" marR="114617" marT="63817" marB="63817" anchor="t" anchorCtr="0">
                    <a:lnL>
                      <a:noFill/>
                    </a:lnL>
                    <a:lnR>
                      <a:noFill/>
                    </a:lnR>
                    <a:lnT>
                      <a:noFill/>
                    </a:lnT>
                    <a:lnB>
                      <a:noFill/>
                    </a:lnB>
                    <a:noFill/>
                  </a:tcPr>
                </a:tc>
                <a:tc>
                  <a:txBody>
                    <a:bodyPr/>
                    <a:p>
                      <a:pPr algn="l" fontAlgn="t"/>
                      <a:r>
                        <a:rPr lang="en-US" altLang="zh-CN" sz="2000" b="0" i="0">
                          <a:solidFill>
                            <a:schemeClr val="tx1"/>
                          </a:solidFill>
                          <a:latin typeface="Times New Roman" panose="02020503050405090304" charset="0"/>
                          <a:ea typeface="-apple-system"/>
                          <a:cs typeface="Times New Roman" panose="02020503050405090304" charset="0"/>
                        </a:rPr>
                        <a:t>02</a:t>
                      </a:r>
                      <a:r>
                        <a:rPr lang="zh-CN" altLang="en-US" sz="2000" b="0" i="0">
                          <a:solidFill>
                            <a:schemeClr val="tx1"/>
                          </a:solidFill>
                          <a:latin typeface="Times New Roman" panose="02020503050405090304" charset="0"/>
                          <a:ea typeface="-apple-system"/>
                          <a:cs typeface="Times New Roman" panose="02020503050405090304" charset="0"/>
                        </a:rPr>
                        <a:t>（</a:t>
                      </a:r>
                      <a:r>
                        <a:rPr lang="en-US" altLang="zh-CN" sz="2000" b="0" i="0">
                          <a:solidFill>
                            <a:schemeClr val="tx1"/>
                          </a:solidFill>
                          <a:latin typeface="Times New Roman" panose="02020503050405090304" charset="0"/>
                          <a:ea typeface="-apple-system"/>
                          <a:cs typeface="Times New Roman" panose="02020503050405090304" charset="0"/>
                        </a:rPr>
                        <a:t>Take turns in sequence</a:t>
                      </a:r>
                      <a:r>
                        <a:rPr lang="en-US" altLang="zh-CN" sz="2000" b="0" i="0">
                          <a:solidFill>
                            <a:schemeClr val="tx1"/>
                          </a:solidFill>
                          <a:latin typeface="Times New Roman" panose="02020503050405090304" charset="0"/>
                          <a:ea typeface="-apple-system"/>
                          <a:cs typeface="Times New Roman" panose="02020503050405090304" charset="0"/>
                        </a:rPr>
                        <a:t>)</a:t>
                      </a:r>
                      <a:endParaRPr lang="en-US" altLang="zh-CN" sz="2000" b="0" i="0">
                        <a:solidFill>
                          <a:schemeClr val="tx1"/>
                        </a:solidFill>
                        <a:latin typeface="Times New Roman" panose="02020503050405090304" charset="0"/>
                        <a:ea typeface="-apple-system"/>
                        <a:cs typeface="Times New Roman" panose="02020503050405090304" charset="0"/>
                      </a:endParaRPr>
                    </a:p>
                  </a:txBody>
                  <a:tcPr marL="114617" marR="114617" marT="63817" marB="63817" anchor="t" anchorCtr="0">
                    <a:lnL>
                      <a:noFill/>
                    </a:lnL>
                    <a:lnR>
                      <a:noFill/>
                    </a:lnR>
                    <a:lnT>
                      <a:noFill/>
                    </a:lnT>
                    <a:lnB>
                      <a:noFill/>
                    </a:lnB>
                    <a:noFill/>
                  </a:tcPr>
                </a:tc>
              </a:tr>
              <a:tr h="0">
                <a:tc>
                  <a:txBody>
                    <a:bodyPr/>
                    <a:p>
                      <a:pPr algn="l" fontAlgn="t" latinLnBrk="0"/>
                      <a:r>
                        <a:rPr lang="en-US" altLang="zh-CN" sz="2000" b="0" i="0">
                          <a:solidFill>
                            <a:schemeClr val="tx1"/>
                          </a:solidFill>
                          <a:latin typeface="Times New Roman" panose="02020503050405090304" charset="0"/>
                          <a:ea typeface="-apple-system"/>
                          <a:cs typeface="Times New Roman" panose="02020503050405090304" charset="0"/>
                        </a:rPr>
                        <a:t>old</a:t>
                      </a:r>
                      <a:endParaRPr lang="en-US" altLang="zh-CN" sz="2000" b="0" i="0">
                        <a:solidFill>
                          <a:schemeClr val="tx1"/>
                        </a:solidFill>
                        <a:latin typeface="Times New Roman" panose="02020503050405090304" charset="0"/>
                        <a:ea typeface="-apple-system"/>
                        <a:cs typeface="Times New Roman" panose="02020503050405090304" charset="0"/>
                      </a:endParaRPr>
                    </a:p>
                  </a:txBody>
                  <a:tcPr marL="114617" marR="114617" marT="63817" marB="63817" anchor="t" anchorCtr="0">
                    <a:lnL>
                      <a:noFill/>
                    </a:lnL>
                    <a:lnR>
                      <a:noFill/>
                    </a:lnR>
                    <a:lnT>
                      <a:noFill/>
                    </a:lnT>
                    <a:lnB>
                      <a:noFill/>
                    </a:lnB>
                    <a:noFill/>
                  </a:tcPr>
                </a:tc>
                <a:tc>
                  <a:txBody>
                    <a:bodyPr/>
                    <a:p>
                      <a:pPr algn="l" fontAlgn="t" latinLnBrk="0"/>
                      <a:r>
                        <a:rPr lang="en-US" altLang="zh-CN" sz="2000" b="0" i="0">
                          <a:solidFill>
                            <a:schemeClr val="tx1"/>
                          </a:solidFill>
                          <a:latin typeface="Times New Roman" panose="02020503050405090304" charset="0"/>
                          <a:ea typeface="-apple-system"/>
                          <a:cs typeface="Times New Roman" panose="02020503050405090304" charset="0"/>
                        </a:rPr>
                        <a:t>14</a:t>
                      </a:r>
                      <a:endParaRPr lang="en-US" altLang="zh-CN" sz="2000" b="0" i="0">
                        <a:solidFill>
                          <a:schemeClr val="tx1"/>
                        </a:solidFill>
                        <a:latin typeface="Times New Roman" panose="02020503050405090304" charset="0"/>
                        <a:ea typeface="-apple-system"/>
                        <a:cs typeface="Times New Roman" panose="02020503050405090304" charset="0"/>
                      </a:endParaRPr>
                    </a:p>
                  </a:txBody>
                  <a:tcPr marL="114617" marR="114617" marT="63817" marB="63817" anchor="t" anchorCtr="0">
                    <a:lnL>
                      <a:noFill/>
                    </a:lnL>
                    <a:lnR>
                      <a:noFill/>
                    </a:lnR>
                    <a:lnT>
                      <a:noFill/>
                    </a:lnT>
                    <a:lnB>
                      <a:noFill/>
                    </a:lnB>
                    <a:noFill/>
                  </a:tcPr>
                </a:tc>
                <a:tc>
                  <a:txBody>
                    <a:bodyPr/>
                    <a:p>
                      <a:pPr algn="l" fontAlgn="t" latinLnBrk="0"/>
                      <a:r>
                        <a:rPr lang="en-US" altLang="zh-CN" sz="2000" b="0" i="0">
                          <a:solidFill>
                            <a:schemeClr val="tx1"/>
                          </a:solidFill>
                          <a:latin typeface="Times New Roman" panose="02020503050405090304" charset="0"/>
                          <a:ea typeface="-apple-system"/>
                          <a:cs typeface="Times New Roman" panose="02020503050405090304" charset="0"/>
                        </a:rPr>
                        <a:t>39</a:t>
                      </a:r>
                      <a:endParaRPr lang="en-US" altLang="zh-CN" sz="2000" b="0" i="0">
                        <a:solidFill>
                          <a:schemeClr val="tx1"/>
                        </a:solidFill>
                        <a:latin typeface="Times New Roman" panose="02020503050405090304" charset="0"/>
                        <a:ea typeface="-apple-system"/>
                        <a:cs typeface="Times New Roman" panose="02020503050405090304" charset="0"/>
                      </a:endParaRPr>
                    </a:p>
                  </a:txBody>
                  <a:tcPr marL="114617" marR="114617" marT="63817" marB="63817" anchor="t" anchorCtr="0">
                    <a:lnL>
                      <a:noFill/>
                    </a:lnL>
                    <a:lnR>
                      <a:noFill/>
                    </a:lnR>
                    <a:lnT>
                      <a:noFill/>
                    </a:lnT>
                    <a:lnB>
                      <a:noFill/>
                    </a:lnB>
                    <a:noFill/>
                  </a:tcPr>
                </a:tc>
              </a:tr>
              <a:tr h="0">
                <a:tc>
                  <a:txBody>
                    <a:bodyPr/>
                    <a:p>
                      <a:pPr algn="l" fontAlgn="t" latinLnBrk="0"/>
                      <a:r>
                        <a:rPr lang="en-US" altLang="zh-CN" sz="2000" b="0" i="0">
                          <a:solidFill>
                            <a:schemeClr val="tx1"/>
                          </a:solidFill>
                          <a:latin typeface="Times New Roman" panose="02020503050405090304" charset="0"/>
                          <a:ea typeface="-apple-system"/>
                          <a:cs typeface="Times New Roman" panose="02020503050405090304" charset="0"/>
                        </a:rPr>
                        <a:t>average</a:t>
                      </a:r>
                      <a:endParaRPr lang="en-US" altLang="zh-CN" sz="2000" b="0" i="0">
                        <a:solidFill>
                          <a:schemeClr val="tx1"/>
                        </a:solidFill>
                        <a:latin typeface="Times New Roman" panose="02020503050405090304" charset="0"/>
                        <a:ea typeface="-apple-system"/>
                        <a:cs typeface="Times New Roman" panose="02020503050405090304" charset="0"/>
                      </a:endParaRPr>
                    </a:p>
                  </a:txBody>
                  <a:tcPr marL="114617" marR="114617" marT="63817" marB="63817" anchor="t" anchorCtr="0">
                    <a:lnL>
                      <a:noFill/>
                    </a:lnL>
                    <a:lnR>
                      <a:noFill/>
                    </a:lnR>
                    <a:lnT>
                      <a:noFill/>
                    </a:lnT>
                    <a:lnB>
                      <a:noFill/>
                    </a:lnB>
                    <a:noFill/>
                  </a:tcPr>
                </a:tc>
                <a:tc>
                  <a:txBody>
                    <a:bodyPr/>
                    <a:p>
                      <a:pPr algn="l" fontAlgn="t" latinLnBrk="0"/>
                      <a:r>
                        <a:rPr lang="en-US" altLang="zh-CN" sz="2000" b="0" i="0">
                          <a:solidFill>
                            <a:schemeClr val="tx1"/>
                          </a:solidFill>
                          <a:latin typeface="Times New Roman" panose="02020503050405090304" charset="0"/>
                          <a:ea typeface="-apple-system"/>
                          <a:cs typeface="Times New Roman" panose="02020503050405090304" charset="0"/>
                        </a:rPr>
                        <a:t>37</a:t>
                      </a:r>
                      <a:endParaRPr lang="en-US" altLang="zh-CN" sz="2000" b="0" i="0">
                        <a:solidFill>
                          <a:schemeClr val="tx1"/>
                        </a:solidFill>
                        <a:latin typeface="Times New Roman" panose="02020503050405090304" charset="0"/>
                        <a:ea typeface="-apple-system"/>
                        <a:cs typeface="Times New Roman" panose="02020503050405090304" charset="0"/>
                      </a:endParaRPr>
                    </a:p>
                  </a:txBody>
                  <a:tcPr marL="114617" marR="114617" marT="63817" marB="63817" anchor="t" anchorCtr="0">
                    <a:lnL>
                      <a:noFill/>
                    </a:lnL>
                    <a:lnR>
                      <a:noFill/>
                    </a:lnR>
                    <a:lnT>
                      <a:noFill/>
                    </a:lnT>
                    <a:lnB>
                      <a:noFill/>
                    </a:lnB>
                    <a:noFill/>
                  </a:tcPr>
                </a:tc>
                <a:tc>
                  <a:txBody>
                    <a:bodyPr/>
                    <a:p>
                      <a:pPr algn="l" fontAlgn="t" latinLnBrk="0"/>
                      <a:r>
                        <a:rPr lang="en-US" altLang="zh-CN" sz="2000" b="0" i="0">
                          <a:solidFill>
                            <a:schemeClr val="tx1"/>
                          </a:solidFill>
                          <a:latin typeface="Times New Roman" panose="02020503050405090304" charset="0"/>
                          <a:ea typeface="-apple-system"/>
                          <a:cs typeface="Times New Roman" panose="02020503050405090304" charset="0"/>
                        </a:rPr>
                        <a:t>39</a:t>
                      </a:r>
                      <a:endParaRPr lang="en-US" altLang="zh-CN" sz="2000" b="0" i="0">
                        <a:solidFill>
                          <a:schemeClr val="tx1"/>
                        </a:solidFill>
                        <a:latin typeface="Times New Roman" panose="02020503050405090304" charset="0"/>
                        <a:ea typeface="-apple-system"/>
                        <a:cs typeface="Times New Roman" panose="02020503050405090304" charset="0"/>
                      </a:endParaRPr>
                    </a:p>
                  </a:txBody>
                  <a:tcPr marL="114617" marR="114617" marT="63817" marB="63817" anchor="t" anchorCtr="0">
                    <a:lnL>
                      <a:noFill/>
                    </a:lnL>
                    <a:lnR>
                      <a:noFill/>
                    </a:lnR>
                    <a:lnT>
                      <a:noFill/>
                    </a:lnT>
                    <a:lnB>
                      <a:noFill/>
                    </a:lnB>
                    <a:noFill/>
                  </a:tcPr>
                </a:tc>
              </a:tr>
              <a:tr h="0">
                <a:tc>
                  <a:txBody>
                    <a:bodyPr/>
                    <a:p>
                      <a:pPr algn="l" fontAlgn="t" latinLnBrk="0"/>
                      <a:r>
                        <a:rPr lang="en-US" altLang="zh-CN" sz="2000" b="0" i="0">
                          <a:solidFill>
                            <a:schemeClr val="tx1"/>
                          </a:solidFill>
                          <a:latin typeface="Times New Roman" panose="02020503050405090304" charset="0"/>
                          <a:ea typeface="-apple-system"/>
                          <a:cs typeface="Times New Roman" panose="02020503050405090304" charset="0"/>
                        </a:rPr>
                        <a:t>new</a:t>
                      </a:r>
                      <a:endParaRPr lang="en-US" altLang="zh-CN" sz="2000" b="0" i="0">
                        <a:solidFill>
                          <a:schemeClr val="tx1"/>
                        </a:solidFill>
                        <a:latin typeface="Times New Roman" panose="02020503050405090304" charset="0"/>
                        <a:ea typeface="-apple-system"/>
                        <a:cs typeface="Times New Roman" panose="02020503050405090304" charset="0"/>
                      </a:endParaRPr>
                    </a:p>
                  </a:txBody>
                  <a:tcPr marL="114617" marR="114617" marT="63817" marB="63817" anchor="t" anchorCtr="0">
                    <a:lnL>
                      <a:noFill/>
                    </a:lnL>
                    <a:lnR>
                      <a:noFill/>
                    </a:lnR>
                    <a:lnT>
                      <a:noFill/>
                    </a:lnT>
                    <a:lnB>
                      <a:noFill/>
                    </a:lnB>
                    <a:noFill/>
                  </a:tcPr>
                </a:tc>
                <a:tc>
                  <a:txBody>
                    <a:bodyPr/>
                    <a:p>
                      <a:pPr algn="l" fontAlgn="t" latinLnBrk="0"/>
                      <a:r>
                        <a:rPr lang="en-US" altLang="zh-CN" sz="2000" b="0" i="0">
                          <a:solidFill>
                            <a:schemeClr val="tx1"/>
                          </a:solidFill>
                          <a:latin typeface="Times New Roman" panose="02020503050405090304" charset="0"/>
                          <a:ea typeface="-apple-system"/>
                          <a:cs typeface="Times New Roman" panose="02020503050405090304" charset="0"/>
                        </a:rPr>
                        <a:t>66</a:t>
                      </a:r>
                      <a:endParaRPr lang="en-US" altLang="zh-CN" sz="2000" b="0" i="0">
                        <a:solidFill>
                          <a:schemeClr val="tx1"/>
                        </a:solidFill>
                        <a:latin typeface="Times New Roman" panose="02020503050405090304" charset="0"/>
                        <a:ea typeface="-apple-system"/>
                        <a:cs typeface="Times New Roman" panose="02020503050405090304" charset="0"/>
                      </a:endParaRPr>
                    </a:p>
                  </a:txBody>
                  <a:tcPr marL="114617" marR="114617" marT="63817" marB="63817" anchor="t" anchorCtr="0">
                    <a:lnL>
                      <a:noFill/>
                    </a:lnL>
                    <a:lnR>
                      <a:noFill/>
                    </a:lnR>
                    <a:lnT>
                      <a:noFill/>
                    </a:lnT>
                    <a:lnB>
                      <a:noFill/>
                    </a:lnB>
                    <a:noFill/>
                  </a:tcPr>
                </a:tc>
                <a:tc>
                  <a:txBody>
                    <a:bodyPr/>
                    <a:p>
                      <a:pPr algn="l" fontAlgn="t" latinLnBrk="0"/>
                      <a:r>
                        <a:rPr lang="en-US" altLang="zh-CN" sz="2000" b="0" i="0">
                          <a:solidFill>
                            <a:schemeClr val="tx1"/>
                          </a:solidFill>
                          <a:latin typeface="Times New Roman" panose="02020503050405090304" charset="0"/>
                          <a:ea typeface="-apple-system"/>
                          <a:cs typeface="Times New Roman" panose="02020503050405090304" charset="0"/>
                        </a:rPr>
                        <a:t>39</a:t>
                      </a:r>
                      <a:endParaRPr lang="en-US" altLang="zh-CN" sz="2000" b="0" i="0">
                        <a:solidFill>
                          <a:schemeClr val="tx1"/>
                        </a:solidFill>
                        <a:latin typeface="Times New Roman" panose="02020503050405090304" charset="0"/>
                        <a:ea typeface="-apple-system"/>
                        <a:cs typeface="Times New Roman" panose="02020503050405090304" charset="0"/>
                      </a:endParaRPr>
                    </a:p>
                  </a:txBody>
                  <a:tcPr marL="114617" marR="114617" marT="63817" marB="63817" anchor="t" anchorCtr="0">
                    <a:lnL>
                      <a:noFill/>
                    </a:lnL>
                    <a:lnR>
                      <a:noFill/>
                    </a:lnR>
                    <a:lnT>
                      <a:noFill/>
                    </a:lnT>
                    <a:lnB>
                      <a:noFill/>
                    </a:lnB>
                    <a:noFill/>
                  </a:tcPr>
                </a:tc>
              </a:tr>
              <a:tr h="0">
                <a:tc>
                  <a:txBody>
                    <a:bodyPr/>
                    <a:p>
                      <a:pPr algn="l" fontAlgn="t" latinLnBrk="0"/>
                      <a:r>
                        <a:rPr lang="en-US" altLang="zh-CN" sz="2000" b="0" i="0">
                          <a:solidFill>
                            <a:schemeClr val="tx1"/>
                          </a:solidFill>
                          <a:latin typeface="Times New Roman" panose="02020503050405090304" charset="0"/>
                          <a:ea typeface="-apple-system"/>
                        </a:rPr>
                        <a:t>Total</a:t>
                      </a:r>
                      <a:endParaRPr lang="en-US" altLang="zh-CN" sz="2000" b="0" i="0">
                        <a:solidFill>
                          <a:schemeClr val="tx1"/>
                        </a:solidFill>
                        <a:latin typeface="Times New Roman" panose="02020503050405090304" charset="0"/>
                        <a:ea typeface="-apple-system"/>
                      </a:endParaRPr>
                    </a:p>
                  </a:txBody>
                  <a:tcPr marL="114617" marR="114617" marT="63817" marB="63817" anchor="t" anchorCtr="0">
                    <a:lnL>
                      <a:noFill/>
                    </a:lnL>
                    <a:lnR>
                      <a:noFill/>
                    </a:lnR>
                    <a:lnT>
                      <a:noFill/>
                    </a:lnT>
                    <a:lnB>
                      <a:noFill/>
                    </a:lnB>
                    <a:noFill/>
                  </a:tcPr>
                </a:tc>
                <a:tc>
                  <a:txBody>
                    <a:bodyPr/>
                    <a:p>
                      <a:pPr algn="l" fontAlgn="t" latinLnBrk="0"/>
                      <a:r>
                        <a:rPr lang="en-US" altLang="zh-CN" sz="2000" b="0" i="0">
                          <a:solidFill>
                            <a:schemeClr val="tx1"/>
                          </a:solidFill>
                          <a:latin typeface="Times New Roman" panose="02020503050405090304" charset="0"/>
                          <a:ea typeface="-apple-system"/>
                          <a:cs typeface="Times New Roman" panose="02020503050405090304" charset="0"/>
                        </a:rPr>
                        <a:t>117</a:t>
                      </a:r>
                      <a:endParaRPr lang="en-US" altLang="zh-CN" sz="2000" b="0" i="0">
                        <a:solidFill>
                          <a:schemeClr val="tx1"/>
                        </a:solidFill>
                        <a:latin typeface="Times New Roman" panose="02020503050405090304" charset="0"/>
                        <a:ea typeface="-apple-system"/>
                        <a:cs typeface="Times New Roman" panose="02020503050405090304" charset="0"/>
                      </a:endParaRPr>
                    </a:p>
                  </a:txBody>
                  <a:tcPr marL="114617" marR="114617" marT="63817" marB="63817" anchor="t" anchorCtr="0">
                    <a:lnL>
                      <a:noFill/>
                    </a:lnL>
                    <a:lnR>
                      <a:noFill/>
                    </a:lnR>
                    <a:lnT>
                      <a:noFill/>
                    </a:lnT>
                    <a:lnB>
                      <a:noFill/>
                    </a:lnB>
                    <a:noFill/>
                  </a:tcPr>
                </a:tc>
                <a:tc>
                  <a:txBody>
                    <a:bodyPr/>
                    <a:p>
                      <a:pPr algn="l" fontAlgn="t" latinLnBrk="0"/>
                      <a:r>
                        <a:rPr lang="en-US" altLang="zh-CN" sz="2000" b="0" i="0">
                          <a:solidFill>
                            <a:schemeClr val="tx1"/>
                          </a:solidFill>
                          <a:latin typeface="Times New Roman" panose="02020503050405090304" charset="0"/>
                          <a:ea typeface="-apple-system"/>
                          <a:cs typeface="Times New Roman" panose="02020503050405090304" charset="0"/>
                        </a:rPr>
                        <a:t>117</a:t>
                      </a:r>
                      <a:endParaRPr lang="en-US" altLang="zh-CN" sz="2000" b="0" i="0">
                        <a:solidFill>
                          <a:schemeClr val="tx1"/>
                        </a:solidFill>
                        <a:latin typeface="Times New Roman" panose="02020503050405090304" charset="0"/>
                        <a:ea typeface="-apple-system"/>
                        <a:cs typeface="Times New Roman" panose="02020503050405090304" charset="0"/>
                      </a:endParaRPr>
                    </a:p>
                  </a:txBody>
                  <a:tcPr marL="114617" marR="114617" marT="63817" marB="63817" anchor="t" anchorCtr="0">
                    <a:lnL>
                      <a:noFill/>
                    </a:lnL>
                    <a:lnR>
                      <a:noFill/>
                    </a:lnR>
                    <a:lnT>
                      <a:noFill/>
                    </a:lnT>
                    <a:lnB>
                      <a:noFill/>
                    </a:lnB>
                    <a:noFill/>
                  </a:tcPr>
                </a:tc>
              </a:tr>
            </a:tbl>
          </a:graphicData>
        </a:graphic>
      </p:graphicFrame>
    </p:spTree>
    <p:custDataLst>
      <p:tags r:id="rId2"/>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22225" y="3429000"/>
            <a:ext cx="5960110" cy="3285490"/>
          </a:xfrm>
          <a:prstGeom prst="rect">
            <a:avLst/>
          </a:prstGeom>
        </p:spPr>
      </p:pic>
      <p:pic>
        <p:nvPicPr>
          <p:cNvPr id="5" name="图片 4"/>
          <p:cNvPicPr>
            <a:picLocks noChangeAspect="1"/>
          </p:cNvPicPr>
          <p:nvPr/>
        </p:nvPicPr>
        <p:blipFill>
          <a:blip r:embed="rId2"/>
          <a:stretch>
            <a:fillRect/>
          </a:stretch>
        </p:blipFill>
        <p:spPr>
          <a:xfrm>
            <a:off x="22225" y="30480"/>
            <a:ext cx="5717540" cy="3151505"/>
          </a:xfrm>
          <a:prstGeom prst="rect">
            <a:avLst/>
          </a:prstGeom>
        </p:spPr>
      </p:pic>
      <p:pic>
        <p:nvPicPr>
          <p:cNvPr id="6" name="图片 5"/>
          <p:cNvPicPr>
            <a:picLocks noChangeAspect="1"/>
          </p:cNvPicPr>
          <p:nvPr/>
        </p:nvPicPr>
        <p:blipFill>
          <a:blip r:embed="rId3"/>
          <a:stretch>
            <a:fillRect/>
          </a:stretch>
        </p:blipFill>
        <p:spPr>
          <a:xfrm>
            <a:off x="6096000" y="236855"/>
            <a:ext cx="5386070" cy="4882515"/>
          </a:xfrm>
          <a:prstGeom prst="rect">
            <a:avLst/>
          </a:prstGeom>
        </p:spPr>
      </p:pic>
    </p:spTree>
    <p:custDataLst>
      <p:tags r:id="rId4"/>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54940" y="204153"/>
            <a:ext cx="5080000" cy="460375"/>
          </a:xfrm>
          <a:prstGeom prst="rect">
            <a:avLst/>
          </a:prstGeom>
        </p:spPr>
        <p:txBody>
          <a:bodyPr>
            <a:spAutoFit/>
          </a:bodyPr>
          <a:p>
            <a:r>
              <a:rPr lang="en-US" altLang="zh-CN" sz="2400" b="1">
                <a:solidFill>
                  <a:schemeClr val="tx1"/>
                </a:solidFill>
                <a:latin typeface="Times New Roman" panose="02020503050405090304" charset="0"/>
                <a:cs typeface="Times New Roman" panose="02020503050405090304" charset="0"/>
              </a:rPr>
              <a:t>GLUE</a:t>
            </a:r>
            <a:endParaRPr lang="en-US" altLang="zh-CN" sz="2400" b="1">
              <a:solidFill>
                <a:schemeClr val="tx1"/>
              </a:solidFill>
              <a:latin typeface="Times New Roman" panose="02020503050405090304" charset="0"/>
              <a:cs typeface="Times New Roman" panose="02020503050405090304" charset="0"/>
            </a:endParaRPr>
          </a:p>
        </p:txBody>
      </p:sp>
      <p:sp>
        <p:nvSpPr>
          <p:cNvPr id="6" name="文本框 5"/>
          <p:cNvSpPr txBox="1"/>
          <p:nvPr/>
        </p:nvSpPr>
        <p:spPr>
          <a:xfrm>
            <a:off x="217805" y="2366645"/>
            <a:ext cx="2988945" cy="1245235"/>
          </a:xfrm>
          <a:prstGeom prst="rect">
            <a:avLst/>
          </a:prstGeom>
        </p:spPr>
        <p:txBody>
          <a:bodyPr wrap="square">
            <a:spAutoFit/>
          </a:bodyPr>
          <a:p>
            <a:pPr>
              <a:lnSpc>
                <a:spcPts val="1800"/>
              </a:lnSpc>
            </a:pPr>
            <a:r>
              <a:rPr lang="en-US" altLang="zh-CN" sz="2000" b="0">
                <a:solidFill>
                  <a:schemeClr val="tx1"/>
                </a:solidFill>
                <a:latin typeface="Times New Roman" panose="02020503050405090304" charset="0"/>
                <a:ea typeface="Menlo" panose="020B0609030804020204"/>
                <a:cs typeface="Times New Roman" panose="02020503050405090304" charset="0"/>
              </a:rPr>
              <a:t>kw_old ∈ [-1.5, -0.2] </a:t>
            </a:r>
            <a:endParaRPr lang="en-US" altLang="zh-CN" sz="2000" b="0">
              <a:solidFill>
                <a:schemeClr val="tx1"/>
              </a:solidFill>
              <a:latin typeface="Times New Roman" panose="02020503050405090304" charset="0"/>
              <a:ea typeface="Menlo" panose="020B0609030804020204"/>
              <a:cs typeface="Times New Roman" panose="02020503050405090304" charset="0"/>
            </a:endParaRPr>
          </a:p>
          <a:p>
            <a:pPr>
              <a:lnSpc>
                <a:spcPts val="1800"/>
              </a:lnSpc>
            </a:pPr>
            <a:endParaRPr lang="en-US" altLang="zh-CN" sz="2000" b="0">
              <a:solidFill>
                <a:schemeClr val="tx1"/>
              </a:solidFill>
              <a:latin typeface="Times New Roman" panose="02020503050405090304" charset="0"/>
              <a:ea typeface="Menlo" panose="020B0609030804020204"/>
              <a:cs typeface="Times New Roman" panose="02020503050405090304" charset="0"/>
            </a:endParaRPr>
          </a:p>
          <a:p>
            <a:pPr>
              <a:lnSpc>
                <a:spcPts val="1800"/>
              </a:lnSpc>
            </a:pPr>
            <a:r>
              <a:rPr lang="en-US" altLang="zh-CN" sz="2000" b="0">
                <a:solidFill>
                  <a:schemeClr val="tx1"/>
                </a:solidFill>
                <a:latin typeface="Times New Roman" panose="02020503050405090304" charset="0"/>
                <a:ea typeface="Menlo" panose="020B0609030804020204"/>
                <a:cs typeface="Times New Roman" panose="02020503050405090304" charset="0"/>
              </a:rPr>
              <a:t>kw_avg ∈ [</a:t>
            </a:r>
            <a:r>
              <a:rPr lang="en-US" altLang="zh-CN" sz="2000">
                <a:solidFill>
                  <a:schemeClr val="tx1"/>
                </a:solidFill>
                <a:latin typeface="Times New Roman" panose="02020503050405090304" charset="0"/>
                <a:ea typeface="Menlo" panose="020B0609030804020204"/>
                <a:cs typeface="Times New Roman" panose="02020503050405090304" charset="0"/>
                <a:sym typeface="+mn-ea"/>
              </a:rPr>
              <a:t>-0.2, -</a:t>
            </a:r>
            <a:r>
              <a:rPr lang="en-US" altLang="zh-CN" sz="2000" b="0">
                <a:solidFill>
                  <a:schemeClr val="tx1"/>
                </a:solidFill>
                <a:latin typeface="Times New Roman" panose="02020503050405090304" charset="0"/>
                <a:ea typeface="Menlo" panose="020B0609030804020204"/>
                <a:cs typeface="Times New Roman" panose="02020503050405090304" charset="0"/>
              </a:rPr>
              <a:t>0.04] </a:t>
            </a:r>
            <a:endParaRPr lang="en-US" altLang="zh-CN" sz="2000" b="0">
              <a:solidFill>
                <a:schemeClr val="tx1"/>
              </a:solidFill>
              <a:latin typeface="Times New Roman" panose="02020503050405090304" charset="0"/>
              <a:ea typeface="Menlo" panose="020B0609030804020204"/>
              <a:cs typeface="Times New Roman" panose="02020503050405090304" charset="0"/>
            </a:endParaRPr>
          </a:p>
          <a:p>
            <a:pPr>
              <a:lnSpc>
                <a:spcPts val="1800"/>
              </a:lnSpc>
            </a:pPr>
            <a:endParaRPr lang="en-US" altLang="zh-CN" sz="2000" b="0">
              <a:solidFill>
                <a:schemeClr val="tx1"/>
              </a:solidFill>
              <a:latin typeface="Times New Roman" panose="02020503050405090304" charset="0"/>
              <a:ea typeface="Menlo" panose="020B0609030804020204"/>
              <a:cs typeface="Times New Roman" panose="02020503050405090304" charset="0"/>
            </a:endParaRPr>
          </a:p>
          <a:p>
            <a:pPr>
              <a:lnSpc>
                <a:spcPts val="1800"/>
              </a:lnSpc>
            </a:pPr>
            <a:r>
              <a:rPr lang="en-US" altLang="zh-CN" sz="2000" b="0">
                <a:solidFill>
                  <a:schemeClr val="tx1"/>
                </a:solidFill>
                <a:latin typeface="Times New Roman" panose="02020503050405090304" charset="0"/>
                <a:ea typeface="Menlo" panose="020B0609030804020204"/>
                <a:cs typeface="Times New Roman" panose="02020503050405090304" charset="0"/>
              </a:rPr>
              <a:t>kw_new ∈ [</a:t>
            </a:r>
            <a:r>
              <a:rPr lang="en-US" altLang="zh-CN" sz="2000">
                <a:solidFill>
                  <a:schemeClr val="tx1"/>
                </a:solidFill>
                <a:latin typeface="Times New Roman" panose="02020503050405090304" charset="0"/>
                <a:ea typeface="Menlo" panose="020B0609030804020204"/>
                <a:cs typeface="Times New Roman" panose="02020503050405090304" charset="0"/>
                <a:sym typeface="+mn-ea"/>
              </a:rPr>
              <a:t>-0.1, -</a:t>
            </a:r>
            <a:r>
              <a:rPr lang="en-US" altLang="zh-CN" sz="2000" b="0">
                <a:solidFill>
                  <a:schemeClr val="tx1"/>
                </a:solidFill>
                <a:latin typeface="Times New Roman" panose="02020503050405090304" charset="0"/>
                <a:ea typeface="Menlo" panose="020B0609030804020204"/>
                <a:cs typeface="Times New Roman" panose="02020503050405090304" charset="0"/>
              </a:rPr>
              <a:t>0.005]</a:t>
            </a:r>
            <a:endParaRPr lang="en-US" altLang="zh-CN" sz="2000" b="0">
              <a:solidFill>
                <a:schemeClr val="tx1"/>
              </a:solidFill>
              <a:latin typeface="Times New Roman" panose="02020503050405090304" charset="0"/>
              <a:ea typeface="Menlo" panose="020B0609030804020204"/>
              <a:cs typeface="Times New Roman" panose="02020503050405090304" charset="0"/>
            </a:endParaRPr>
          </a:p>
        </p:txBody>
      </p:sp>
      <p:sp>
        <p:nvSpPr>
          <p:cNvPr id="8" name="文本框 7"/>
          <p:cNvSpPr txBox="1"/>
          <p:nvPr/>
        </p:nvSpPr>
        <p:spPr>
          <a:xfrm>
            <a:off x="217805" y="3935413"/>
            <a:ext cx="5080000" cy="398780"/>
          </a:xfrm>
          <a:prstGeom prst="rect">
            <a:avLst/>
          </a:prstGeom>
        </p:spPr>
        <p:txBody>
          <a:bodyPr>
            <a:spAutoFit/>
          </a:bodyPr>
          <a:p>
            <a:r>
              <a:rPr lang="en-US" altLang="zh-CN" sz="2000">
                <a:latin typeface="Times New Roman" panose="02020503050405090304" charset="0"/>
                <a:cs typeface="Times New Roman" panose="02020503050405090304" charset="0"/>
              </a:rPr>
              <a:t>σ = 0.1 mg/L</a:t>
            </a:r>
            <a:endParaRPr lang="en-US" altLang="zh-CN" sz="2000">
              <a:latin typeface="Times New Roman" panose="02020503050405090304" charset="0"/>
              <a:cs typeface="Times New Roman" panose="02020503050405090304" charset="0"/>
            </a:endParaRPr>
          </a:p>
        </p:txBody>
      </p:sp>
      <p:sp>
        <p:nvSpPr>
          <p:cNvPr id="9" name="文本框 8"/>
          <p:cNvSpPr txBox="1"/>
          <p:nvPr/>
        </p:nvSpPr>
        <p:spPr>
          <a:xfrm>
            <a:off x="154940" y="4592638"/>
            <a:ext cx="5080000" cy="398780"/>
          </a:xfrm>
          <a:prstGeom prst="rect">
            <a:avLst/>
          </a:prstGeom>
        </p:spPr>
        <p:txBody>
          <a:bodyPr>
            <a:spAutoFit/>
          </a:bodyPr>
          <a:p>
            <a:r>
              <a:rPr lang="en-US" altLang="zh-CN" sz="2000">
                <a:latin typeface="Times New Roman" panose="02020503050405090304" charset="0"/>
                <a:cs typeface="Times New Roman" panose="02020503050405090304" charset="0"/>
              </a:rPr>
              <a:t>behavioural threshold: RMSE &lt; 0.12 mg/L</a:t>
            </a:r>
            <a:endParaRPr lang="en-US" altLang="zh-CN" sz="2000">
              <a:latin typeface="Times New Roman" panose="02020503050405090304" charset="0"/>
              <a:cs typeface="Times New Roman" panose="02020503050405090304" charset="0"/>
            </a:endParaRPr>
          </a:p>
        </p:txBody>
      </p:sp>
      <p:sp>
        <p:nvSpPr>
          <p:cNvPr id="14" name="文本框 13"/>
          <p:cNvSpPr txBox="1"/>
          <p:nvPr/>
        </p:nvSpPr>
        <p:spPr>
          <a:xfrm>
            <a:off x="5234940" y="664845"/>
            <a:ext cx="6226810" cy="5354320"/>
          </a:xfrm>
          <a:prstGeom prst="rect">
            <a:avLst/>
          </a:prstGeom>
          <a:noFill/>
        </p:spPr>
        <p:txBody>
          <a:bodyPr wrap="square" rtlCol="0">
            <a:spAutoFit/>
          </a:bodyPr>
          <a:p>
            <a:r>
              <a:rPr lang="en-US" altLang="zh-CN">
                <a:latin typeface="Times New Roman" panose="02020503050405090304" charset="0"/>
                <a:cs typeface="Times New Roman" panose="02020503050405090304" charset="0"/>
              </a:rPr>
              <a:t>• Uniform prior: The three kw parameters are initially "equally likely" within their respective ranges; k_b is fixed and not inverted.  </a:t>
            </a:r>
            <a:endParaRPr lang="en-US" altLang="zh-CN">
              <a:latin typeface="Times New Roman" panose="02020503050405090304" charset="0"/>
              <a:cs typeface="Times New Roman" panose="02020503050405090304" charset="0"/>
            </a:endParaRPr>
          </a:p>
          <a:p>
            <a:endParaRPr lang="en-US" altLang="zh-CN">
              <a:latin typeface="Times New Roman" panose="02020503050405090304" charset="0"/>
              <a:cs typeface="Times New Roman" panose="02020503050405090304" charset="0"/>
            </a:endParaRPr>
          </a:p>
          <a:p>
            <a:r>
              <a:rPr lang="en-US" altLang="zh-CN">
                <a:latin typeface="Times New Roman" panose="02020503050405090304" charset="0"/>
                <a:cs typeface="Times New Roman" panose="02020503050405090304" charset="0"/>
              </a:rPr>
              <a:t>1. Sample 2,000 sets of [kw_old, kw_avg, kw_new] from the prior using Monte Carlo;  </a:t>
            </a:r>
            <a:endParaRPr lang="en-US" altLang="zh-CN">
              <a:latin typeface="Times New Roman" panose="02020503050405090304" charset="0"/>
              <a:cs typeface="Times New Roman" panose="02020503050405090304" charset="0"/>
            </a:endParaRPr>
          </a:p>
          <a:p>
            <a:endParaRPr lang="en-US" altLang="zh-CN">
              <a:latin typeface="Times New Roman" panose="02020503050405090304" charset="0"/>
              <a:cs typeface="Times New Roman" panose="02020503050405090304" charset="0"/>
            </a:endParaRPr>
          </a:p>
          <a:p>
            <a:r>
              <a:rPr lang="en-US" altLang="zh-CN">
                <a:latin typeface="Times New Roman" panose="02020503050405090304" charset="0"/>
                <a:cs typeface="Times New Roman" panose="02020503050405090304" charset="0"/>
              </a:rPr>
              <a:t>2. For each set, run WNTR forward simulation and calculate RMSE at monitoring points;  </a:t>
            </a:r>
            <a:endParaRPr lang="en-US" altLang="zh-CN">
              <a:latin typeface="Times New Roman" panose="02020503050405090304" charset="0"/>
              <a:cs typeface="Times New Roman" panose="02020503050405090304" charset="0"/>
            </a:endParaRPr>
          </a:p>
          <a:p>
            <a:endParaRPr lang="en-US" altLang="zh-CN">
              <a:latin typeface="Times New Roman" panose="02020503050405090304" charset="0"/>
              <a:cs typeface="Times New Roman" panose="02020503050405090304" charset="0"/>
            </a:endParaRPr>
          </a:p>
          <a:p>
            <a:r>
              <a:rPr lang="en-US" altLang="zh-CN">
                <a:latin typeface="Times New Roman" panose="02020503050405090304" charset="0"/>
                <a:cs typeface="Times New Roman" panose="02020503050405090304" charset="0"/>
              </a:rPr>
              <a:t>3. Use Gaussian likelihood based on RMSE;  </a:t>
            </a:r>
            <a:endParaRPr lang="en-US" altLang="zh-CN">
              <a:latin typeface="Times New Roman" panose="02020503050405090304" charset="0"/>
              <a:cs typeface="Times New Roman" panose="02020503050405090304" charset="0"/>
            </a:endParaRPr>
          </a:p>
          <a:p>
            <a:endParaRPr lang="en-US" altLang="zh-CN">
              <a:latin typeface="Times New Roman" panose="02020503050405090304" charset="0"/>
              <a:cs typeface="Times New Roman" panose="02020503050405090304" charset="0"/>
            </a:endParaRPr>
          </a:p>
          <a:p>
            <a:r>
              <a:rPr lang="en-US" altLang="zh-CN">
                <a:latin typeface="Times New Roman" panose="02020503050405090304" charset="0"/>
                <a:cs typeface="Times New Roman" panose="02020503050405090304" charset="0"/>
              </a:rPr>
              <a:t>4. Filter out poor results using a behavioral threshold (RMSE &lt; 0.12 mg/L);  </a:t>
            </a:r>
            <a:endParaRPr lang="en-US" altLang="zh-CN">
              <a:latin typeface="Times New Roman" panose="02020503050405090304" charset="0"/>
              <a:cs typeface="Times New Roman" panose="02020503050405090304" charset="0"/>
            </a:endParaRPr>
          </a:p>
          <a:p>
            <a:endParaRPr lang="en-US" altLang="zh-CN">
              <a:latin typeface="Times New Roman" panose="02020503050405090304" charset="0"/>
              <a:cs typeface="Times New Roman" panose="02020503050405090304" charset="0"/>
            </a:endParaRPr>
          </a:p>
          <a:p>
            <a:r>
              <a:rPr lang="en-US" altLang="zh-CN">
                <a:latin typeface="Times New Roman" panose="02020503050405090304" charset="0"/>
                <a:cs typeface="Times New Roman" panose="02020503050405090304" charset="0"/>
              </a:rPr>
              <a:t>5. Normalize likelihoods into weights;  </a:t>
            </a:r>
            <a:endParaRPr lang="en-US" altLang="zh-CN">
              <a:latin typeface="Times New Roman" panose="02020503050405090304" charset="0"/>
              <a:cs typeface="Times New Roman" panose="02020503050405090304" charset="0"/>
            </a:endParaRPr>
          </a:p>
          <a:p>
            <a:endParaRPr lang="en-US" altLang="zh-CN">
              <a:latin typeface="Times New Roman" panose="02020503050405090304" charset="0"/>
              <a:cs typeface="Times New Roman" panose="02020503050405090304" charset="0"/>
            </a:endParaRPr>
          </a:p>
          <a:p>
            <a:r>
              <a:rPr lang="en-US" altLang="zh-CN">
                <a:latin typeface="Times New Roman" panose="02020503050405090304" charset="0"/>
                <a:cs typeface="Times New Roman" panose="02020503050405090304" charset="0"/>
              </a:rPr>
              <a:t>6. Output: Behavioral kw distribution, 5–95% prediction interval, weighted P(C &lt; 0.2)</a:t>
            </a:r>
            <a:endParaRPr lang="en-US" altLang="zh-CN">
              <a:latin typeface="Times New Roman" panose="02020503050405090304" charset="0"/>
              <a:cs typeface="Times New Roman" panose="02020503050405090304" charset="0"/>
            </a:endParaRPr>
          </a:p>
        </p:txBody>
      </p:sp>
      <p:sp>
        <p:nvSpPr>
          <p:cNvPr id="15" name="文本框 14"/>
          <p:cNvSpPr txBox="1"/>
          <p:nvPr/>
        </p:nvSpPr>
        <p:spPr>
          <a:xfrm>
            <a:off x="217805" y="1582420"/>
            <a:ext cx="6096000" cy="460375"/>
          </a:xfrm>
          <a:prstGeom prst="rect">
            <a:avLst/>
          </a:prstGeom>
          <a:noFill/>
        </p:spPr>
        <p:txBody>
          <a:bodyPr wrap="square" rtlCol="0" anchor="t">
            <a:spAutoFit/>
          </a:bodyPr>
          <a:p>
            <a:r>
              <a:rPr lang="en-US" altLang="zh-CN" sz="2400">
                <a:latin typeface="Times New Roman" panose="02020503050405090304" charset="0"/>
                <a:cs typeface="Times New Roman" panose="02020503050405090304" charset="0"/>
                <a:sym typeface="+mn-ea"/>
              </a:rPr>
              <a:t>Prior</a:t>
            </a:r>
            <a:endParaRPr lang="en-US" altLang="zh-CN" sz="2400">
              <a:latin typeface="Times New Roman" panose="02020503050405090304" charset="0"/>
              <a:cs typeface="Times New Roman" panose="02020503050405090304" charset="0"/>
              <a:sym typeface="+mn-ea"/>
            </a:endParaRPr>
          </a:p>
        </p:txBody>
      </p:sp>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302895" y="1139190"/>
            <a:ext cx="6651625" cy="2861310"/>
          </a:xfrm>
          <a:prstGeom prst="rect">
            <a:avLst/>
          </a:prstGeom>
          <a:noFill/>
        </p:spPr>
        <p:txBody>
          <a:bodyPr wrap="square" rtlCol="0" anchor="t">
            <a:spAutoFit/>
          </a:bodyPr>
          <a:p>
            <a:r>
              <a:rPr lang="en-US" altLang="zh-CN">
                <a:latin typeface="Times New Roman Regular" panose="02020503050405090304" charset="0"/>
                <a:cs typeface="Times New Roman Regular" panose="02020503050405090304" charset="0"/>
              </a:rPr>
              <a:t>Behavioural: 1685 / 2000 (RMSE &lt; 0.12)</a:t>
            </a:r>
            <a:endParaRPr lang="en-US" altLang="zh-CN">
              <a:latin typeface="Times New Roman Regular" panose="02020503050405090304" charset="0"/>
              <a:cs typeface="Times New Roman Regular" panose="02020503050405090304" charset="0"/>
            </a:endParaRPr>
          </a:p>
          <a:p>
            <a:endParaRPr lang="en-US" altLang="zh-CN">
              <a:latin typeface="Times New Roman" panose="02020503050405090304" charset="0"/>
              <a:cs typeface="Times New Roman" panose="02020503050405090304" charset="0"/>
              <a:sym typeface="+mn-ea"/>
            </a:endParaRPr>
          </a:p>
          <a:p>
            <a:r>
              <a:rPr lang="en-US" altLang="zh-CN">
                <a:latin typeface="Times New Roman" panose="02020503050405090304" charset="0"/>
                <a:cs typeface="Times New Roman" panose="02020503050405090304" charset="0"/>
                <a:sym typeface="+mn-ea"/>
              </a:rPr>
              <a:t>-Out of 2,000 sets of random parameters, 1,685 sets resulted in an RMSE less than 0.12.</a:t>
            </a:r>
            <a:endParaRPr lang="en-US" altLang="zh-CN">
              <a:latin typeface="Times New Roman Regular" panose="02020503050405090304" charset="0"/>
              <a:cs typeface="Times New Roman Regular" panose="02020503050405090304" charset="0"/>
            </a:endParaRPr>
          </a:p>
          <a:p>
            <a:endParaRPr lang="en-US" altLang="zh-CN">
              <a:latin typeface="Times New Roman Regular" panose="02020503050405090304" charset="0"/>
              <a:cs typeface="Times New Roman Regular" panose="02020503050405090304" charset="0"/>
            </a:endParaRPr>
          </a:p>
          <a:p>
            <a:r>
              <a:rPr lang="en-US" altLang="zh-CN">
                <a:latin typeface="Times New Roman Regular" panose="02020503050405090304" charset="0"/>
                <a:cs typeface="Times New Roman Regular" panose="02020503050405090304" charset="0"/>
              </a:rPr>
              <a:t>GLUE Weighted posterior</a:t>
            </a:r>
            <a:r>
              <a:rPr lang="zh-CN" altLang="en-US">
                <a:latin typeface="Times New Roman Regular" panose="02020503050405090304" charset="0"/>
                <a:cs typeface="Times New Roman Regular" panose="02020503050405090304" charset="0"/>
              </a:rPr>
              <a:t> (</a:t>
            </a:r>
            <a:r>
              <a:rPr lang="en-US" altLang="zh-CN">
                <a:latin typeface="Times New Roman Regular" panose="02020503050405090304" charset="0"/>
                <a:cs typeface="Times New Roman Regular" panose="02020503050405090304" charset="0"/>
              </a:rPr>
              <a:t>mean ± std)：</a:t>
            </a:r>
            <a:endParaRPr lang="en-US" altLang="zh-CN">
              <a:latin typeface="Times New Roman Regular" panose="02020503050405090304" charset="0"/>
              <a:cs typeface="Times New Roman Regular" panose="02020503050405090304" charset="0"/>
            </a:endParaRPr>
          </a:p>
          <a:p>
            <a:endParaRPr lang="en-US" altLang="zh-CN">
              <a:latin typeface="Times New Roman Regular" panose="02020503050405090304" charset="0"/>
              <a:cs typeface="Times New Roman Regular" panose="02020503050405090304" charset="0"/>
            </a:endParaRPr>
          </a:p>
          <a:p>
            <a:r>
              <a:rPr lang="en-US" altLang="zh-CN">
                <a:latin typeface="Times New Roman Regular" panose="02020503050405090304" charset="0"/>
                <a:cs typeface="Times New Roman Regular" panose="02020503050405090304" charset="0"/>
              </a:rPr>
              <a:t>kw_old = -0.961 ± 0.317   (true -1.00)</a:t>
            </a:r>
            <a:endParaRPr lang="en-US" altLang="zh-CN">
              <a:latin typeface="Times New Roman Regular" panose="02020503050405090304" charset="0"/>
              <a:cs typeface="Times New Roman Regular" panose="02020503050405090304" charset="0"/>
            </a:endParaRPr>
          </a:p>
          <a:p>
            <a:r>
              <a:rPr lang="en-US" altLang="zh-CN">
                <a:latin typeface="Times New Roman Regular" panose="02020503050405090304" charset="0"/>
                <a:cs typeface="Times New Roman Regular" panose="02020503050405090304" charset="0"/>
              </a:rPr>
              <a:t>kw_avg = -0.120 ± 0.045   (true -0.10)</a:t>
            </a:r>
            <a:endParaRPr lang="en-US" altLang="zh-CN">
              <a:latin typeface="Times New Roman Regular" panose="02020503050405090304" charset="0"/>
              <a:cs typeface="Times New Roman Regular" panose="02020503050405090304" charset="0"/>
            </a:endParaRPr>
          </a:p>
          <a:p>
            <a:r>
              <a:rPr lang="en-US" altLang="zh-CN">
                <a:latin typeface="Times New Roman Regular" panose="02020503050405090304" charset="0"/>
                <a:cs typeface="Times New Roman Regular" panose="02020503050405090304" charset="0"/>
              </a:rPr>
              <a:t>kw_new = -0.053 ± 0.027   (true -0.05)</a:t>
            </a:r>
            <a:endParaRPr lang="zh-CN" altLang="en-US">
              <a:latin typeface="Times New Roman Regular" panose="02020503050405090304" charset="0"/>
              <a:cs typeface="Times New Roman Regular" panose="02020503050405090304" charset="0"/>
            </a:endParaRPr>
          </a:p>
        </p:txBody>
      </p:sp>
      <p:graphicFrame>
        <p:nvGraphicFramePr>
          <p:cNvPr id="6" name="表格 5"/>
          <p:cNvGraphicFramePr/>
          <p:nvPr/>
        </p:nvGraphicFramePr>
        <p:xfrm>
          <a:off x="477520" y="4255770"/>
          <a:ext cx="10483850" cy="1178560"/>
        </p:xfrm>
        <a:graphic>
          <a:graphicData uri="http://schemas.openxmlformats.org/drawingml/2006/table">
            <a:tbl>
              <a:tblPr/>
              <a:tblGrid>
                <a:gridCol w="2096770"/>
                <a:gridCol w="2096770"/>
                <a:gridCol w="2096770"/>
                <a:gridCol w="2096770"/>
                <a:gridCol w="2096770"/>
              </a:tblGrid>
              <a:tr h="0">
                <a:tc>
                  <a:txBody>
                    <a:bodyPr/>
                    <a:p>
                      <a:pPr algn="l" fontAlgn="t"/>
                      <a:r>
                        <a:rPr lang="en-US" altLang="zh-CN" sz="1800" b="0" i="0">
                          <a:solidFill>
                            <a:schemeClr val="tx1"/>
                          </a:solidFill>
                          <a:latin typeface="Times New Roman Regular" panose="02020503050405090304" charset="0"/>
                          <a:ea typeface="-apple-system"/>
                          <a:cs typeface="Times New Roman Regular" panose="02020503050405090304" charset="0"/>
                        </a:rPr>
                        <a:t>Parameter</a:t>
                      </a:r>
                      <a:endParaRPr lang="en-US" altLang="zh-CN" sz="1800" b="0" i="0">
                        <a:solidFill>
                          <a:schemeClr val="tx1"/>
                        </a:solidFill>
                        <a:latin typeface="Times New Roman Regular" panose="02020503050405090304" charset="0"/>
                        <a:ea typeface="-apple-system"/>
                        <a:cs typeface="Times New Roman Regular" panose="02020503050405090304" charset="0"/>
                      </a:endParaRPr>
                    </a:p>
                  </a:txBody>
                  <a:tcPr marL="114617" marR="114617" marT="63817" marB="63817" anchor="t" anchorCtr="0">
                    <a:lnL>
                      <a:noFill/>
                    </a:lnL>
                    <a:lnR>
                      <a:noFill/>
                    </a:lnR>
                    <a:lnT>
                      <a:noFill/>
                    </a:lnT>
                    <a:lnB>
                      <a:noFill/>
                    </a:lnB>
                    <a:noFill/>
                  </a:tcPr>
                </a:tc>
                <a:tc>
                  <a:txBody>
                    <a:bodyPr/>
                    <a:p>
                      <a:pPr algn="l" fontAlgn="t"/>
                      <a:r>
                        <a:rPr lang="en-US" altLang="zh-CN" sz="1800">
                          <a:latin typeface="Times New Roman Regular" panose="02020503050405090304" charset="0"/>
                          <a:cs typeface="Times New Roman Regular" panose="02020503050405090304" charset="0"/>
                          <a:sym typeface="+mn-ea"/>
                        </a:rPr>
                        <a:t>Posterior</a:t>
                      </a:r>
                      <a:r>
                        <a:rPr lang="zh-CN" altLang="en-US" sz="1800" b="0" i="0">
                          <a:solidFill>
                            <a:schemeClr val="tx1"/>
                          </a:solidFill>
                          <a:latin typeface="Times New Roman Regular" panose="02020503050405090304" charset="0"/>
                          <a:ea typeface="-apple-system"/>
                          <a:cs typeface="Times New Roman Regular" panose="02020503050405090304" charset="0"/>
                        </a:rPr>
                        <a:t> </a:t>
                      </a:r>
                      <a:r>
                        <a:rPr lang="en-US" altLang="zh-CN" sz="1800" b="0" i="0">
                          <a:solidFill>
                            <a:schemeClr val="tx1"/>
                          </a:solidFill>
                          <a:latin typeface="Times New Roman Regular" panose="02020503050405090304" charset="0"/>
                          <a:ea typeface="-apple-system"/>
                          <a:cs typeface="Times New Roman Regular" panose="02020503050405090304" charset="0"/>
                        </a:rPr>
                        <a:t>5–95%</a:t>
                      </a:r>
                      <a:endParaRPr lang="en-US" altLang="zh-CN" sz="1800" b="0" i="0">
                        <a:solidFill>
                          <a:schemeClr val="tx1"/>
                        </a:solidFill>
                        <a:latin typeface="Times New Roman Regular" panose="02020503050405090304" charset="0"/>
                        <a:ea typeface="-apple-system"/>
                        <a:cs typeface="Times New Roman Regular" panose="02020503050405090304" charset="0"/>
                      </a:endParaRPr>
                    </a:p>
                  </a:txBody>
                  <a:tcPr marL="114617" marR="114617" marT="63817" marB="63817" anchor="t" anchorCtr="0">
                    <a:lnL>
                      <a:noFill/>
                    </a:lnL>
                    <a:lnR>
                      <a:noFill/>
                    </a:lnR>
                    <a:lnT>
                      <a:noFill/>
                    </a:lnT>
                    <a:lnB>
                      <a:noFill/>
                    </a:lnB>
                    <a:noFill/>
                  </a:tcPr>
                </a:tc>
                <a:tc>
                  <a:txBody>
                    <a:bodyPr/>
                    <a:p>
                      <a:pPr algn="l" fontAlgn="t"/>
                      <a:r>
                        <a:rPr lang="en-US" altLang="zh-CN" sz="1800" b="0" i="0">
                          <a:solidFill>
                            <a:schemeClr val="tx1"/>
                          </a:solidFill>
                          <a:latin typeface="Times New Roman Regular" panose="02020503050405090304" charset="0"/>
                          <a:ea typeface="-apple-system"/>
                          <a:cs typeface="Times New Roman Regular" panose="02020503050405090304" charset="0"/>
                        </a:rPr>
                        <a:t>Median</a:t>
                      </a:r>
                      <a:endParaRPr lang="en-US" altLang="zh-CN" sz="1800" b="0" i="0">
                        <a:solidFill>
                          <a:schemeClr val="tx1"/>
                        </a:solidFill>
                        <a:latin typeface="Times New Roman Regular" panose="02020503050405090304" charset="0"/>
                        <a:ea typeface="-apple-system"/>
                        <a:cs typeface="Times New Roman Regular" panose="02020503050405090304" charset="0"/>
                      </a:endParaRPr>
                    </a:p>
                  </a:txBody>
                  <a:tcPr marL="114617" marR="114617" marT="63817" marB="63817" anchor="t" anchorCtr="0">
                    <a:lnL>
                      <a:noFill/>
                    </a:lnL>
                    <a:lnR>
                      <a:noFill/>
                    </a:lnR>
                    <a:lnT>
                      <a:noFill/>
                    </a:lnT>
                    <a:lnB>
                      <a:noFill/>
                    </a:lnB>
                    <a:noFill/>
                  </a:tcPr>
                </a:tc>
                <a:tc>
                  <a:txBody>
                    <a:bodyPr/>
                    <a:p>
                      <a:pPr algn="l" fontAlgn="t"/>
                      <a:r>
                        <a:rPr lang="en-US" altLang="zh-CN" sz="1800" b="0" i="0">
                          <a:solidFill>
                            <a:schemeClr val="tx1"/>
                          </a:solidFill>
                          <a:latin typeface="Times New Roman Regular" panose="02020503050405090304" charset="0"/>
                          <a:ea typeface="-apple-system"/>
                          <a:cs typeface="Times New Roman Regular" panose="02020503050405090304" charset="0"/>
                        </a:rPr>
                        <a:t>Prior</a:t>
                      </a:r>
                      <a:endParaRPr lang="en-US" altLang="zh-CN" sz="1800" b="0" i="0">
                        <a:solidFill>
                          <a:schemeClr val="tx1"/>
                        </a:solidFill>
                        <a:latin typeface="Times New Roman Regular" panose="02020503050405090304" charset="0"/>
                        <a:ea typeface="-apple-system"/>
                        <a:cs typeface="Times New Roman Regular" panose="02020503050405090304" charset="0"/>
                      </a:endParaRPr>
                    </a:p>
                  </a:txBody>
                  <a:tcPr marL="114617" marR="114617" marT="63817" marB="63817" anchor="t" anchorCtr="0">
                    <a:lnL>
                      <a:noFill/>
                    </a:lnL>
                    <a:lnR>
                      <a:noFill/>
                    </a:lnR>
                    <a:lnT>
                      <a:noFill/>
                    </a:lnT>
                    <a:lnB>
                      <a:noFill/>
                    </a:lnB>
                    <a:solidFill>
                      <a:schemeClr val="accent4">
                        <a:lumMod val="20000"/>
                        <a:lumOff val="80000"/>
                      </a:schemeClr>
                    </a:solidFill>
                  </a:tcPr>
                </a:tc>
                <a:tc>
                  <a:txBody>
                    <a:bodyPr/>
                    <a:p>
                      <a:pPr algn="l" fontAlgn="t"/>
                      <a:r>
                        <a:rPr lang="en-US" altLang="zh-CN" sz="1800" b="0" i="0">
                          <a:solidFill>
                            <a:schemeClr val="tx1"/>
                          </a:solidFill>
                          <a:latin typeface="Times New Roman Regular" panose="02020503050405090304" charset="0"/>
                          <a:ea typeface="-apple-system"/>
                          <a:cs typeface="Times New Roman Regular" panose="02020503050405090304" charset="0"/>
                        </a:rPr>
                        <a:t>True value</a:t>
                      </a:r>
                      <a:endParaRPr lang="en-US" altLang="zh-CN" sz="1800" b="0" i="0">
                        <a:solidFill>
                          <a:schemeClr val="tx1"/>
                        </a:solidFill>
                        <a:latin typeface="Times New Roman Regular" panose="02020503050405090304" charset="0"/>
                        <a:ea typeface="-apple-system"/>
                        <a:cs typeface="Times New Roman Regular" panose="02020503050405090304" charset="0"/>
                      </a:endParaRPr>
                    </a:p>
                  </a:txBody>
                  <a:tcPr marL="114617" marR="114617" marT="63817" marB="63817" anchor="t" anchorCtr="0">
                    <a:lnL>
                      <a:noFill/>
                    </a:lnL>
                    <a:lnR>
                      <a:noFill/>
                    </a:lnR>
                    <a:lnT>
                      <a:noFill/>
                    </a:lnT>
                    <a:lnB>
                      <a:noFill/>
                    </a:lnB>
                    <a:solidFill>
                      <a:schemeClr val="accent4">
                        <a:lumMod val="20000"/>
                        <a:lumOff val="80000"/>
                      </a:schemeClr>
                    </a:solidFill>
                  </a:tcPr>
                </a:tc>
              </a:tr>
              <a:tr h="0">
                <a:tc>
                  <a:txBody>
                    <a:bodyPr/>
                    <a:p>
                      <a:pPr algn="l" fontAlgn="t" latinLnBrk="0"/>
                      <a:r>
                        <a:rPr lang="en-US" altLang="zh-CN" sz="1800" b="0" i="0">
                          <a:solidFill>
                            <a:schemeClr val="tx1"/>
                          </a:solidFill>
                          <a:latin typeface="Times New Roman Regular" panose="02020503050405090304" charset="0"/>
                          <a:ea typeface="-apple-system"/>
                          <a:cs typeface="Times New Roman Regular" panose="02020503050405090304" charset="0"/>
                        </a:rPr>
                        <a:t>kw_old</a:t>
                      </a:r>
                      <a:endParaRPr lang="en-US" altLang="zh-CN" sz="1800" b="0" i="0">
                        <a:solidFill>
                          <a:schemeClr val="tx1"/>
                        </a:solidFill>
                        <a:latin typeface="Times New Roman Regular" panose="02020503050405090304" charset="0"/>
                        <a:ea typeface="-apple-system"/>
                        <a:cs typeface="Times New Roman Regular" panose="02020503050405090304" charset="0"/>
                      </a:endParaRPr>
                    </a:p>
                  </a:txBody>
                  <a:tcPr marL="114617" marR="114617" marT="63817" marB="63817" anchor="t" anchorCtr="0">
                    <a:lnL>
                      <a:noFill/>
                    </a:lnL>
                    <a:lnR>
                      <a:noFill/>
                    </a:lnR>
                    <a:lnT>
                      <a:noFill/>
                    </a:lnT>
                    <a:lnB>
                      <a:noFill/>
                    </a:lnB>
                    <a:noFill/>
                  </a:tcPr>
                </a:tc>
                <a:tc>
                  <a:txBody>
                    <a:bodyPr/>
                    <a:p>
                      <a:pPr algn="l" fontAlgn="t" latinLnBrk="0"/>
                      <a:r>
                        <a:rPr lang="en-US" altLang="zh-CN" sz="1800" b="0" i="0">
                          <a:solidFill>
                            <a:schemeClr val="tx1"/>
                          </a:solidFill>
                          <a:latin typeface="Times New Roman Regular" panose="02020503050405090304" charset="0"/>
                          <a:ea typeface="-apple-system"/>
                          <a:cs typeface="Times New Roman Regular" panose="02020503050405090304" charset="0"/>
                        </a:rPr>
                        <a:t>[-1.456, -0.455]</a:t>
                      </a:r>
                      <a:endParaRPr lang="en-US" altLang="zh-CN" sz="1800" b="0" i="0">
                        <a:solidFill>
                          <a:schemeClr val="tx1"/>
                        </a:solidFill>
                        <a:latin typeface="Times New Roman Regular" panose="02020503050405090304" charset="0"/>
                        <a:ea typeface="-apple-system"/>
                        <a:cs typeface="Times New Roman Regular" panose="02020503050405090304" charset="0"/>
                      </a:endParaRPr>
                    </a:p>
                  </a:txBody>
                  <a:tcPr marL="114617" marR="114617" marT="63817" marB="63817" anchor="t" anchorCtr="0">
                    <a:lnL>
                      <a:noFill/>
                    </a:lnL>
                    <a:lnR>
                      <a:noFill/>
                    </a:lnR>
                    <a:lnT>
                      <a:noFill/>
                    </a:lnT>
                    <a:lnB>
                      <a:noFill/>
                    </a:lnB>
                    <a:noFill/>
                  </a:tcPr>
                </a:tc>
                <a:tc>
                  <a:txBody>
                    <a:bodyPr/>
                    <a:p>
                      <a:pPr algn="l" fontAlgn="t" latinLnBrk="0"/>
                      <a:r>
                        <a:rPr lang="en-US" altLang="zh-CN" sz="1800" b="0" i="0">
                          <a:solidFill>
                            <a:schemeClr val="tx1"/>
                          </a:solidFill>
                          <a:latin typeface="Times New Roman Regular" panose="02020503050405090304" charset="0"/>
                          <a:ea typeface="-apple-system"/>
                          <a:cs typeface="Times New Roman Regular" panose="02020503050405090304" charset="0"/>
                        </a:rPr>
                        <a:t>-0.972</a:t>
                      </a:r>
                      <a:endParaRPr lang="en-US" altLang="zh-CN" sz="1800" b="0" i="0">
                        <a:solidFill>
                          <a:schemeClr val="tx1"/>
                        </a:solidFill>
                        <a:latin typeface="Times New Roman Regular" panose="02020503050405090304" charset="0"/>
                        <a:ea typeface="-apple-system"/>
                        <a:cs typeface="Times New Roman Regular" panose="02020503050405090304" charset="0"/>
                      </a:endParaRPr>
                    </a:p>
                  </a:txBody>
                  <a:tcPr marL="114617" marR="114617" marT="63817" marB="63817" anchor="t" anchorCtr="0">
                    <a:lnL>
                      <a:noFill/>
                    </a:lnL>
                    <a:lnR>
                      <a:noFill/>
                    </a:lnR>
                    <a:lnT>
                      <a:noFill/>
                    </a:lnT>
                    <a:lnB>
                      <a:noFill/>
                    </a:lnB>
                    <a:noFill/>
                  </a:tcPr>
                </a:tc>
                <a:tc>
                  <a:txBody>
                    <a:bodyPr/>
                    <a:p>
                      <a:pPr algn="l" fontAlgn="t" latinLnBrk="0"/>
                      <a:r>
                        <a:rPr lang="en-US" altLang="zh-CN" sz="1800" b="0" i="0">
                          <a:solidFill>
                            <a:schemeClr val="tx1"/>
                          </a:solidFill>
                          <a:latin typeface="Times New Roman Regular" panose="02020503050405090304" charset="0"/>
                          <a:ea typeface="-apple-system"/>
                          <a:cs typeface="Times New Roman Regular" panose="02020503050405090304" charset="0"/>
                        </a:rPr>
                        <a:t>[-1.5, -0.2]</a:t>
                      </a:r>
                      <a:endParaRPr lang="en-US" altLang="zh-CN" sz="1800" b="0" i="0">
                        <a:solidFill>
                          <a:schemeClr val="tx1"/>
                        </a:solidFill>
                        <a:latin typeface="Times New Roman Regular" panose="02020503050405090304" charset="0"/>
                        <a:ea typeface="-apple-system"/>
                        <a:cs typeface="Times New Roman Regular" panose="02020503050405090304" charset="0"/>
                      </a:endParaRPr>
                    </a:p>
                  </a:txBody>
                  <a:tcPr marL="114617" marR="114617" marT="63817" marB="63817" anchor="t" anchorCtr="0">
                    <a:lnL>
                      <a:noFill/>
                    </a:lnL>
                    <a:lnR>
                      <a:noFill/>
                    </a:lnR>
                    <a:lnT>
                      <a:noFill/>
                    </a:lnT>
                    <a:lnB>
                      <a:noFill/>
                    </a:lnB>
                    <a:solidFill>
                      <a:schemeClr val="accent4">
                        <a:lumMod val="20000"/>
                        <a:lumOff val="80000"/>
                      </a:schemeClr>
                    </a:solidFill>
                  </a:tcPr>
                </a:tc>
                <a:tc>
                  <a:txBody>
                    <a:bodyPr/>
                    <a:p>
                      <a:pPr algn="l" fontAlgn="t" latinLnBrk="0"/>
                      <a:r>
                        <a:rPr lang="en-US" altLang="zh-CN" sz="1800" b="0" i="0">
                          <a:solidFill>
                            <a:schemeClr val="tx1"/>
                          </a:solidFill>
                          <a:latin typeface="Times New Roman Regular" panose="02020503050405090304" charset="0"/>
                          <a:ea typeface="-apple-system"/>
                          <a:cs typeface="Times New Roman Regular" panose="02020503050405090304" charset="0"/>
                        </a:rPr>
                        <a:t>-1.0</a:t>
                      </a:r>
                      <a:endParaRPr lang="en-US" altLang="zh-CN" sz="1800" b="0" i="0">
                        <a:solidFill>
                          <a:schemeClr val="tx1"/>
                        </a:solidFill>
                        <a:latin typeface="Times New Roman Regular" panose="02020503050405090304" charset="0"/>
                        <a:ea typeface="-apple-system"/>
                        <a:cs typeface="Times New Roman Regular" panose="02020503050405090304" charset="0"/>
                      </a:endParaRPr>
                    </a:p>
                  </a:txBody>
                  <a:tcPr marL="114617" marR="114617" marT="63817" marB="63817" anchor="t" anchorCtr="0">
                    <a:lnL>
                      <a:noFill/>
                    </a:lnL>
                    <a:lnR>
                      <a:noFill/>
                    </a:lnR>
                    <a:lnT>
                      <a:noFill/>
                    </a:lnT>
                    <a:lnB>
                      <a:noFill/>
                    </a:lnB>
                    <a:solidFill>
                      <a:schemeClr val="accent4">
                        <a:lumMod val="20000"/>
                        <a:lumOff val="80000"/>
                      </a:schemeClr>
                    </a:solidFill>
                  </a:tcPr>
                </a:tc>
              </a:tr>
              <a:tr h="0">
                <a:tc>
                  <a:txBody>
                    <a:bodyPr/>
                    <a:p>
                      <a:pPr algn="l" fontAlgn="t" latinLnBrk="0"/>
                      <a:r>
                        <a:rPr lang="en-US" altLang="zh-CN" sz="1800" b="0" i="0">
                          <a:solidFill>
                            <a:schemeClr val="tx1"/>
                          </a:solidFill>
                          <a:latin typeface="Times New Roman Regular" panose="02020503050405090304" charset="0"/>
                          <a:ea typeface="-apple-system"/>
                          <a:cs typeface="Times New Roman Regular" panose="02020503050405090304" charset="0"/>
                        </a:rPr>
                        <a:t>kw_avg</a:t>
                      </a:r>
                      <a:endParaRPr lang="en-US" altLang="zh-CN" sz="1800" b="0" i="0">
                        <a:solidFill>
                          <a:schemeClr val="tx1"/>
                        </a:solidFill>
                        <a:latin typeface="Times New Roman Regular" panose="02020503050405090304" charset="0"/>
                        <a:ea typeface="-apple-system"/>
                        <a:cs typeface="Times New Roman Regular" panose="02020503050405090304" charset="0"/>
                      </a:endParaRPr>
                    </a:p>
                  </a:txBody>
                  <a:tcPr marL="114617" marR="114617" marT="63817" marB="63817" anchor="t" anchorCtr="0">
                    <a:lnL>
                      <a:noFill/>
                    </a:lnL>
                    <a:lnR>
                      <a:noFill/>
                    </a:lnR>
                    <a:lnT>
                      <a:noFill/>
                    </a:lnT>
                    <a:lnB>
                      <a:noFill/>
                    </a:lnB>
                    <a:noFill/>
                  </a:tcPr>
                </a:tc>
                <a:tc>
                  <a:txBody>
                    <a:bodyPr/>
                    <a:p>
                      <a:pPr algn="l" fontAlgn="t" latinLnBrk="0"/>
                      <a:r>
                        <a:rPr lang="en-US" altLang="zh-CN" sz="1800" b="0" i="0">
                          <a:solidFill>
                            <a:schemeClr val="tx1"/>
                          </a:solidFill>
                          <a:latin typeface="Times New Roman Regular" panose="02020503050405090304" charset="0"/>
                          <a:ea typeface="-apple-system"/>
                          <a:cs typeface="Times New Roman Regular" panose="02020503050405090304" charset="0"/>
                        </a:rPr>
                        <a:t>[-0.192, -0.048]</a:t>
                      </a:r>
                      <a:endParaRPr lang="en-US" altLang="zh-CN" sz="1800" b="0" i="0">
                        <a:solidFill>
                          <a:schemeClr val="tx1"/>
                        </a:solidFill>
                        <a:latin typeface="Times New Roman Regular" panose="02020503050405090304" charset="0"/>
                        <a:ea typeface="-apple-system"/>
                        <a:cs typeface="Times New Roman Regular" panose="02020503050405090304" charset="0"/>
                      </a:endParaRPr>
                    </a:p>
                  </a:txBody>
                  <a:tcPr marL="114617" marR="114617" marT="63817" marB="63817" anchor="t" anchorCtr="0">
                    <a:lnL>
                      <a:noFill/>
                    </a:lnL>
                    <a:lnR>
                      <a:noFill/>
                    </a:lnR>
                    <a:lnT>
                      <a:noFill/>
                    </a:lnT>
                    <a:lnB>
                      <a:noFill/>
                    </a:lnB>
                    <a:noFill/>
                  </a:tcPr>
                </a:tc>
                <a:tc>
                  <a:txBody>
                    <a:bodyPr/>
                    <a:p>
                      <a:pPr algn="l" fontAlgn="t" latinLnBrk="0"/>
                      <a:r>
                        <a:rPr lang="en-US" altLang="zh-CN" sz="1800" b="0" i="0">
                          <a:solidFill>
                            <a:schemeClr val="tx1"/>
                          </a:solidFill>
                          <a:latin typeface="Times New Roman Regular" panose="02020503050405090304" charset="0"/>
                          <a:ea typeface="-apple-system"/>
                          <a:cs typeface="Times New Roman Regular" panose="02020503050405090304" charset="0"/>
                        </a:rPr>
                        <a:t>-0.120</a:t>
                      </a:r>
                      <a:endParaRPr lang="en-US" altLang="zh-CN" sz="1800" b="0" i="0">
                        <a:solidFill>
                          <a:schemeClr val="tx1"/>
                        </a:solidFill>
                        <a:latin typeface="Times New Roman Regular" panose="02020503050405090304" charset="0"/>
                        <a:ea typeface="-apple-system"/>
                        <a:cs typeface="Times New Roman Regular" panose="02020503050405090304" charset="0"/>
                      </a:endParaRPr>
                    </a:p>
                  </a:txBody>
                  <a:tcPr marL="114617" marR="114617" marT="63817" marB="63817" anchor="t" anchorCtr="0">
                    <a:lnL>
                      <a:noFill/>
                    </a:lnL>
                    <a:lnR>
                      <a:noFill/>
                    </a:lnR>
                    <a:lnT>
                      <a:noFill/>
                    </a:lnT>
                    <a:lnB>
                      <a:noFill/>
                    </a:lnB>
                    <a:noFill/>
                  </a:tcPr>
                </a:tc>
                <a:tc>
                  <a:txBody>
                    <a:bodyPr/>
                    <a:p>
                      <a:pPr algn="l" fontAlgn="t" latinLnBrk="0"/>
                      <a:r>
                        <a:rPr lang="en-US" altLang="zh-CN" sz="1800" b="0" i="0">
                          <a:solidFill>
                            <a:schemeClr val="tx1"/>
                          </a:solidFill>
                          <a:latin typeface="Times New Roman Regular" panose="02020503050405090304" charset="0"/>
                          <a:ea typeface="-apple-system"/>
                          <a:cs typeface="Times New Roman Regular" panose="02020503050405090304" charset="0"/>
                        </a:rPr>
                        <a:t>[-0.2, -0.04]</a:t>
                      </a:r>
                      <a:endParaRPr lang="en-US" altLang="zh-CN" sz="1800" b="0" i="0">
                        <a:solidFill>
                          <a:schemeClr val="tx1"/>
                        </a:solidFill>
                        <a:latin typeface="Times New Roman Regular" panose="02020503050405090304" charset="0"/>
                        <a:ea typeface="-apple-system"/>
                        <a:cs typeface="Times New Roman Regular" panose="02020503050405090304" charset="0"/>
                      </a:endParaRPr>
                    </a:p>
                  </a:txBody>
                  <a:tcPr marL="114617" marR="114617" marT="63817" marB="63817" anchor="t" anchorCtr="0">
                    <a:lnL>
                      <a:noFill/>
                    </a:lnL>
                    <a:lnR>
                      <a:noFill/>
                    </a:lnR>
                    <a:lnT>
                      <a:noFill/>
                    </a:lnT>
                    <a:lnB>
                      <a:noFill/>
                    </a:lnB>
                    <a:solidFill>
                      <a:schemeClr val="accent4">
                        <a:lumMod val="20000"/>
                        <a:lumOff val="80000"/>
                      </a:schemeClr>
                    </a:solidFill>
                  </a:tcPr>
                </a:tc>
                <a:tc>
                  <a:txBody>
                    <a:bodyPr/>
                    <a:p>
                      <a:pPr algn="l" fontAlgn="t" latinLnBrk="0"/>
                      <a:r>
                        <a:rPr lang="en-US" altLang="zh-CN" sz="1800" b="0" i="0">
                          <a:solidFill>
                            <a:schemeClr val="tx1"/>
                          </a:solidFill>
                          <a:latin typeface="Times New Roman Regular" panose="02020503050405090304" charset="0"/>
                          <a:ea typeface="-apple-system"/>
                          <a:cs typeface="Times New Roman Regular" panose="02020503050405090304" charset="0"/>
                        </a:rPr>
                        <a:t>-0.1</a:t>
                      </a:r>
                      <a:endParaRPr lang="en-US" altLang="zh-CN" sz="1800" b="0" i="0">
                        <a:solidFill>
                          <a:schemeClr val="tx1"/>
                        </a:solidFill>
                        <a:latin typeface="Times New Roman Regular" panose="02020503050405090304" charset="0"/>
                        <a:ea typeface="-apple-system"/>
                        <a:cs typeface="Times New Roman Regular" panose="02020503050405090304" charset="0"/>
                      </a:endParaRPr>
                    </a:p>
                  </a:txBody>
                  <a:tcPr marL="114617" marR="114617" marT="63817" marB="63817" anchor="t" anchorCtr="0">
                    <a:lnL>
                      <a:noFill/>
                    </a:lnL>
                    <a:lnR>
                      <a:noFill/>
                    </a:lnR>
                    <a:lnT>
                      <a:noFill/>
                    </a:lnT>
                    <a:lnB>
                      <a:noFill/>
                    </a:lnB>
                    <a:solidFill>
                      <a:schemeClr val="accent4">
                        <a:lumMod val="20000"/>
                        <a:lumOff val="80000"/>
                      </a:schemeClr>
                    </a:solidFill>
                  </a:tcPr>
                </a:tc>
              </a:tr>
              <a:tr h="0">
                <a:tc>
                  <a:txBody>
                    <a:bodyPr/>
                    <a:p>
                      <a:pPr algn="l" fontAlgn="t" latinLnBrk="0"/>
                      <a:r>
                        <a:rPr lang="en-US" altLang="zh-CN" sz="1800" b="0" i="0">
                          <a:solidFill>
                            <a:schemeClr val="tx1"/>
                          </a:solidFill>
                          <a:latin typeface="Times New Roman Regular" panose="02020503050405090304" charset="0"/>
                          <a:ea typeface="-apple-system"/>
                          <a:cs typeface="Times New Roman Regular" panose="02020503050405090304" charset="0"/>
                        </a:rPr>
                        <a:t>kw_new</a:t>
                      </a:r>
                      <a:endParaRPr lang="en-US" altLang="zh-CN" sz="1800" b="0" i="0">
                        <a:solidFill>
                          <a:schemeClr val="tx1"/>
                        </a:solidFill>
                        <a:latin typeface="Times New Roman Regular" panose="02020503050405090304" charset="0"/>
                        <a:ea typeface="-apple-system"/>
                        <a:cs typeface="Times New Roman Regular" panose="02020503050405090304" charset="0"/>
                      </a:endParaRPr>
                    </a:p>
                  </a:txBody>
                  <a:tcPr marL="114617" marR="114617" marT="63817" marB="63817" anchor="t" anchorCtr="0">
                    <a:lnL>
                      <a:noFill/>
                    </a:lnL>
                    <a:lnR>
                      <a:noFill/>
                    </a:lnR>
                    <a:lnT>
                      <a:noFill/>
                    </a:lnT>
                    <a:lnB>
                      <a:noFill/>
                    </a:lnB>
                    <a:noFill/>
                  </a:tcPr>
                </a:tc>
                <a:tc>
                  <a:txBody>
                    <a:bodyPr/>
                    <a:p>
                      <a:pPr algn="l" fontAlgn="t" latinLnBrk="0"/>
                      <a:r>
                        <a:rPr lang="en-US" altLang="zh-CN" sz="1800" b="0" i="0">
                          <a:solidFill>
                            <a:schemeClr val="tx1"/>
                          </a:solidFill>
                          <a:latin typeface="Times New Roman Regular" panose="02020503050405090304" charset="0"/>
                          <a:ea typeface="-apple-system"/>
                          <a:cs typeface="Times New Roman Regular" panose="02020503050405090304" charset="0"/>
                        </a:rPr>
                        <a:t>[-0.095, -0.010]</a:t>
                      </a:r>
                      <a:endParaRPr lang="en-US" altLang="zh-CN" sz="1800" b="0" i="0">
                        <a:solidFill>
                          <a:schemeClr val="tx1"/>
                        </a:solidFill>
                        <a:latin typeface="Times New Roman Regular" panose="02020503050405090304" charset="0"/>
                        <a:ea typeface="-apple-system"/>
                        <a:cs typeface="Times New Roman Regular" panose="02020503050405090304" charset="0"/>
                      </a:endParaRPr>
                    </a:p>
                  </a:txBody>
                  <a:tcPr marL="114617" marR="114617" marT="63817" marB="63817" anchor="t" anchorCtr="0">
                    <a:lnL>
                      <a:noFill/>
                    </a:lnL>
                    <a:lnR>
                      <a:noFill/>
                    </a:lnR>
                    <a:lnT>
                      <a:noFill/>
                    </a:lnT>
                    <a:lnB>
                      <a:noFill/>
                    </a:lnB>
                    <a:noFill/>
                  </a:tcPr>
                </a:tc>
                <a:tc>
                  <a:txBody>
                    <a:bodyPr/>
                    <a:p>
                      <a:pPr algn="l" fontAlgn="t" latinLnBrk="0"/>
                      <a:r>
                        <a:rPr lang="en-US" altLang="zh-CN" sz="1800" b="0" i="0">
                          <a:solidFill>
                            <a:schemeClr val="tx1"/>
                          </a:solidFill>
                          <a:latin typeface="Times New Roman Regular" panose="02020503050405090304" charset="0"/>
                          <a:ea typeface="-apple-system"/>
                          <a:cs typeface="Times New Roman Regular" panose="02020503050405090304" charset="0"/>
                        </a:rPr>
                        <a:t>-0.053</a:t>
                      </a:r>
                      <a:endParaRPr lang="en-US" altLang="zh-CN" sz="1800" b="0" i="0">
                        <a:solidFill>
                          <a:schemeClr val="tx1"/>
                        </a:solidFill>
                        <a:latin typeface="Times New Roman Regular" panose="02020503050405090304" charset="0"/>
                        <a:ea typeface="-apple-system"/>
                        <a:cs typeface="Times New Roman Regular" panose="02020503050405090304" charset="0"/>
                      </a:endParaRPr>
                    </a:p>
                  </a:txBody>
                  <a:tcPr marL="114617" marR="114617" marT="63817" marB="63817" anchor="t" anchorCtr="0">
                    <a:lnL>
                      <a:noFill/>
                    </a:lnL>
                    <a:lnR>
                      <a:noFill/>
                    </a:lnR>
                    <a:lnT>
                      <a:noFill/>
                    </a:lnT>
                    <a:lnB>
                      <a:noFill/>
                    </a:lnB>
                    <a:noFill/>
                  </a:tcPr>
                </a:tc>
                <a:tc>
                  <a:txBody>
                    <a:bodyPr/>
                    <a:p>
                      <a:pPr algn="l" fontAlgn="t" latinLnBrk="0"/>
                      <a:r>
                        <a:rPr lang="en-US" altLang="zh-CN" sz="1800" b="0" i="0">
                          <a:solidFill>
                            <a:schemeClr val="tx1"/>
                          </a:solidFill>
                          <a:latin typeface="Times New Roman Regular" panose="02020503050405090304" charset="0"/>
                          <a:ea typeface="-apple-system"/>
                          <a:cs typeface="Times New Roman Regular" panose="02020503050405090304" charset="0"/>
                        </a:rPr>
                        <a:t>[-0.10, -0.005]</a:t>
                      </a:r>
                      <a:endParaRPr lang="en-US" altLang="zh-CN" sz="1800" b="0" i="0">
                        <a:solidFill>
                          <a:schemeClr val="tx1"/>
                        </a:solidFill>
                        <a:latin typeface="Times New Roman Regular" panose="02020503050405090304" charset="0"/>
                        <a:ea typeface="-apple-system"/>
                        <a:cs typeface="Times New Roman Regular" panose="02020503050405090304" charset="0"/>
                      </a:endParaRPr>
                    </a:p>
                  </a:txBody>
                  <a:tcPr marL="114617" marR="114617" marT="63817" marB="63817" anchor="t" anchorCtr="0">
                    <a:lnL>
                      <a:noFill/>
                    </a:lnL>
                    <a:lnR>
                      <a:noFill/>
                    </a:lnR>
                    <a:lnT>
                      <a:noFill/>
                    </a:lnT>
                    <a:lnB>
                      <a:noFill/>
                    </a:lnB>
                    <a:solidFill>
                      <a:schemeClr val="accent4">
                        <a:lumMod val="20000"/>
                        <a:lumOff val="80000"/>
                      </a:schemeClr>
                    </a:solidFill>
                  </a:tcPr>
                </a:tc>
                <a:tc>
                  <a:txBody>
                    <a:bodyPr/>
                    <a:p>
                      <a:pPr algn="l" fontAlgn="t" latinLnBrk="0"/>
                      <a:r>
                        <a:rPr lang="en-US" altLang="zh-CN" sz="1800" b="0" i="0">
                          <a:solidFill>
                            <a:schemeClr val="tx1"/>
                          </a:solidFill>
                          <a:latin typeface="Times New Roman Regular" panose="02020503050405090304" charset="0"/>
                          <a:ea typeface="-apple-system"/>
                          <a:cs typeface="Times New Roman Regular" panose="02020503050405090304" charset="0"/>
                        </a:rPr>
                        <a:t>-0.05</a:t>
                      </a:r>
                      <a:endParaRPr lang="en-US" altLang="zh-CN" sz="1800" b="0" i="0">
                        <a:solidFill>
                          <a:schemeClr val="tx1"/>
                        </a:solidFill>
                        <a:latin typeface="Times New Roman Regular" panose="02020503050405090304" charset="0"/>
                        <a:ea typeface="-apple-system"/>
                        <a:cs typeface="Times New Roman Regular" panose="02020503050405090304" charset="0"/>
                      </a:endParaRPr>
                    </a:p>
                  </a:txBody>
                  <a:tcPr marL="114617" marR="114617" marT="63817" marB="63817" anchor="t" anchorCtr="0">
                    <a:lnL>
                      <a:noFill/>
                    </a:lnL>
                    <a:lnR>
                      <a:noFill/>
                    </a:lnR>
                    <a:lnT>
                      <a:noFill/>
                    </a:lnT>
                    <a:lnB>
                      <a:noFill/>
                    </a:lnB>
                    <a:solidFill>
                      <a:schemeClr val="accent4">
                        <a:lumMod val="20000"/>
                        <a:lumOff val="80000"/>
                      </a:schemeClr>
                    </a:solidFill>
                  </a:tcPr>
                </a:tc>
              </a:tr>
            </a:tbl>
          </a:graphicData>
        </a:graphic>
      </p:graphicFrame>
      <p:sp>
        <p:nvSpPr>
          <p:cNvPr id="2" name="文本框 1"/>
          <p:cNvSpPr txBox="1"/>
          <p:nvPr/>
        </p:nvSpPr>
        <p:spPr>
          <a:xfrm>
            <a:off x="302895" y="118110"/>
            <a:ext cx="4203065" cy="645160"/>
          </a:xfrm>
          <a:prstGeom prst="rect">
            <a:avLst/>
          </a:prstGeom>
          <a:noFill/>
        </p:spPr>
        <p:txBody>
          <a:bodyPr wrap="square" rtlCol="0" anchor="t">
            <a:spAutoFit/>
          </a:bodyPr>
          <a:p>
            <a:r>
              <a:rPr lang="en-US" altLang="zh-CN">
                <a:latin typeface="Times New Roman" panose="02020503050405090304" charset="0"/>
                <a:cs typeface="Times New Roman" panose="02020503050405090304" charset="0"/>
              </a:rPr>
              <a:t>In likelihood, the six points at all times are merged and equally weighted.</a:t>
            </a:r>
            <a:endParaRPr lang="zh-CN" altLang="en-US">
              <a:latin typeface="Times New Roman" panose="02020503050405090304" charset="0"/>
              <a:cs typeface="Times New Roman" panose="02020503050405090304" charset="0"/>
            </a:endParaRPr>
          </a:p>
        </p:txBody>
      </p:sp>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1"/>
          <a:stretch>
            <a:fillRect/>
          </a:stretch>
        </p:blipFill>
        <p:spPr>
          <a:xfrm>
            <a:off x="0" y="330835"/>
            <a:ext cx="12192000" cy="3229610"/>
          </a:xfrm>
          <a:prstGeom prst="rect">
            <a:avLst/>
          </a:prstGeom>
        </p:spPr>
      </p:pic>
      <p:sp>
        <p:nvSpPr>
          <p:cNvPr id="4" name="文本框 3"/>
          <p:cNvSpPr txBox="1"/>
          <p:nvPr/>
        </p:nvSpPr>
        <p:spPr>
          <a:xfrm>
            <a:off x="203835" y="5247005"/>
            <a:ext cx="6096000" cy="368300"/>
          </a:xfrm>
          <a:prstGeom prst="rect">
            <a:avLst/>
          </a:prstGeom>
          <a:noFill/>
        </p:spPr>
        <p:txBody>
          <a:bodyPr wrap="square" rtlCol="0" anchor="t">
            <a:spAutoFit/>
          </a:bodyPr>
          <a:p>
            <a:r>
              <a:rPr lang="en-US" altLang="zh-CN">
                <a:latin typeface="Times New Roman" panose="02020503050405090304" charset="0"/>
                <a:cs typeface="Times New Roman" panose="02020503050405090304" charset="0"/>
              </a:rPr>
              <a:t>Parameter uncertainty remains relatively large.</a:t>
            </a:r>
            <a:endParaRPr lang="en-US" altLang="zh-CN">
              <a:latin typeface="Times New Roman" panose="02020503050405090304" charset="0"/>
              <a:cs typeface="Times New Roman" panose="02020503050405090304" charset="0"/>
            </a:endParaRPr>
          </a:p>
        </p:txBody>
      </p:sp>
      <p:sp>
        <p:nvSpPr>
          <p:cNvPr id="6" name="文本框 5"/>
          <p:cNvSpPr txBox="1"/>
          <p:nvPr/>
        </p:nvSpPr>
        <p:spPr>
          <a:xfrm>
            <a:off x="203835" y="3724910"/>
            <a:ext cx="5687060" cy="922020"/>
          </a:xfrm>
          <a:prstGeom prst="rect">
            <a:avLst/>
          </a:prstGeom>
          <a:noFill/>
        </p:spPr>
        <p:txBody>
          <a:bodyPr wrap="square" rtlCol="0" anchor="t">
            <a:spAutoFit/>
          </a:bodyPr>
          <a:p>
            <a:r>
              <a:rPr lang="en-US" altLang="zh-CN">
                <a:latin typeface="Times New Roman" panose="02020503050405090304" charset="0"/>
                <a:cs typeface="Times New Roman" panose="02020503050405090304" charset="0"/>
              </a:rPr>
              <a:t>Plot the behavioral parameters of kw_old, kw_avg, and kw_new as </a:t>
            </a:r>
            <a:r>
              <a:rPr lang="en-US" altLang="zh-CN" b="1">
                <a:latin typeface="Times New Roman" panose="02020503050405090304" charset="0"/>
                <a:cs typeface="Times New Roman" panose="02020503050405090304" charset="0"/>
              </a:rPr>
              <a:t>weighted histograms respectively</a:t>
            </a:r>
            <a:r>
              <a:rPr lang="en-US" altLang="zh-CN">
                <a:latin typeface="Times New Roman" panose="02020503050405090304" charset="0"/>
                <a:cs typeface="Times New Roman" panose="02020503050405090304" charset="0"/>
              </a:rPr>
              <a:t>. </a:t>
            </a:r>
            <a:endParaRPr lang="en-US" altLang="zh-CN">
              <a:latin typeface="Times New Roman" panose="02020503050405090304" charset="0"/>
              <a:cs typeface="Times New Roman" panose="02020503050405090304" charset="0"/>
            </a:endParaRPr>
          </a:p>
          <a:p>
            <a:r>
              <a:rPr lang="en-US" altLang="zh-CN">
                <a:latin typeface="Times New Roman" panose="02020503050405090304" charset="0"/>
                <a:cs typeface="Times New Roman" panose="02020503050405090304" charset="0"/>
              </a:rPr>
              <a:t>(For each histogram, the weighted density integrates to 1.)</a:t>
            </a:r>
            <a:endParaRPr lang="zh-CN" altLang="en-US">
              <a:latin typeface="Times New Roman" panose="02020503050405090304" charset="0"/>
              <a:cs typeface="Times New Roman" panose="02020503050405090304" charset="0"/>
            </a:endParaRPr>
          </a:p>
        </p:txBody>
      </p:sp>
      <p:sp>
        <p:nvSpPr>
          <p:cNvPr id="7" name="文本框 6"/>
          <p:cNvSpPr txBox="1"/>
          <p:nvPr/>
        </p:nvSpPr>
        <p:spPr>
          <a:xfrm>
            <a:off x="203835" y="5798820"/>
            <a:ext cx="6762750" cy="368300"/>
          </a:xfrm>
          <a:prstGeom prst="rect">
            <a:avLst/>
          </a:prstGeom>
          <a:noFill/>
        </p:spPr>
        <p:txBody>
          <a:bodyPr wrap="square" rtlCol="0" anchor="t">
            <a:spAutoFit/>
          </a:bodyPr>
          <a:p>
            <a:r>
              <a:rPr lang="en-US" altLang="zh-CN">
                <a:latin typeface="Times New Roman" panose="02020503050405090304" charset="0"/>
                <a:cs typeface="Times New Roman" panose="02020503050405090304" charset="0"/>
              </a:rPr>
              <a:t>The average calculated by GLUE is close to the true value.</a:t>
            </a:r>
            <a:endParaRPr lang="en-US" altLang="zh-CN">
              <a:latin typeface="Times New Roman" panose="02020503050405090304" charset="0"/>
              <a:cs typeface="Times New Roman" panose="02020503050405090304" charset="0"/>
            </a:endParaRPr>
          </a:p>
        </p:txBody>
      </p:sp>
    </p:spTree>
    <p:custDataLst>
      <p:tags r:id="rId2"/>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146685" y="572135"/>
            <a:ext cx="5539740" cy="2745105"/>
          </a:xfrm>
          <a:prstGeom prst="rect">
            <a:avLst/>
          </a:prstGeom>
        </p:spPr>
      </p:pic>
      <p:sp>
        <p:nvSpPr>
          <p:cNvPr id="2" name="文本框 1"/>
          <p:cNvSpPr txBox="1"/>
          <p:nvPr/>
        </p:nvSpPr>
        <p:spPr>
          <a:xfrm>
            <a:off x="63500" y="3921760"/>
            <a:ext cx="5340985" cy="1476375"/>
          </a:xfrm>
          <a:prstGeom prst="rect">
            <a:avLst/>
          </a:prstGeom>
          <a:noFill/>
        </p:spPr>
        <p:txBody>
          <a:bodyPr wrap="square" rtlCol="0" anchor="t">
            <a:spAutoFit/>
          </a:bodyPr>
          <a:p>
            <a:r>
              <a:rPr lang="en-US" altLang="zh-CN">
                <a:latin typeface="Times New Roman" panose="02020503050405090304" charset="0"/>
                <a:cs typeface="Times New Roman" panose="02020503050405090304" charset="0"/>
              </a:rPr>
              <a:t>Node 15: During the entire observation period, the behavioral parameter sets retained by GLUE are used to generate a 5%–95% prediction band and median line for residual chlorine, weighted by likelihood, compared with true values and noisy observations.</a:t>
            </a:r>
            <a:endParaRPr lang="en-US" altLang="zh-CN">
              <a:latin typeface="Times New Roman" panose="02020503050405090304" charset="0"/>
              <a:cs typeface="Times New Roman" panose="02020503050405090304" charset="0"/>
            </a:endParaRPr>
          </a:p>
        </p:txBody>
      </p:sp>
      <p:pic>
        <p:nvPicPr>
          <p:cNvPr id="3" name="图片 2"/>
          <p:cNvPicPr>
            <a:picLocks noChangeAspect="1"/>
          </p:cNvPicPr>
          <p:nvPr/>
        </p:nvPicPr>
        <p:blipFill>
          <a:blip r:embed="rId2"/>
          <a:stretch>
            <a:fillRect/>
          </a:stretch>
        </p:blipFill>
        <p:spPr>
          <a:xfrm>
            <a:off x="6302375" y="572135"/>
            <a:ext cx="5261610" cy="2607310"/>
          </a:xfrm>
          <a:prstGeom prst="rect">
            <a:avLst/>
          </a:prstGeom>
        </p:spPr>
      </p:pic>
      <p:sp>
        <p:nvSpPr>
          <p:cNvPr id="5" name="文本框 4"/>
          <p:cNvSpPr txBox="1"/>
          <p:nvPr/>
        </p:nvSpPr>
        <p:spPr>
          <a:xfrm>
            <a:off x="5803265" y="3921760"/>
            <a:ext cx="5340985" cy="645160"/>
          </a:xfrm>
          <a:prstGeom prst="rect">
            <a:avLst/>
          </a:prstGeom>
          <a:noFill/>
        </p:spPr>
        <p:txBody>
          <a:bodyPr wrap="square" rtlCol="0" anchor="t">
            <a:spAutoFit/>
          </a:bodyPr>
          <a:p>
            <a:r>
              <a:rPr lang="en-US" altLang="zh-CN">
                <a:latin typeface="Times New Roman" panose="02020503050405090304" charset="0"/>
                <a:cs typeface="Times New Roman" panose="02020503050405090304" charset="0"/>
              </a:rPr>
              <a:t>node107 near water source, new plastic pipe, short retention</a:t>
            </a:r>
            <a:endParaRPr lang="zh-CN" altLang="en-US">
              <a:latin typeface="Times New Roman" panose="02020503050405090304" charset="0"/>
              <a:cs typeface="Times New Roman" panose="02020503050405090304" charset="0"/>
            </a:endParaRPr>
          </a:p>
        </p:txBody>
      </p:sp>
    </p:spTree>
    <p:custDataLst>
      <p:tags r:id="rId3"/>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rcRect l="6129" b="5870"/>
          <a:stretch>
            <a:fillRect/>
          </a:stretch>
        </p:blipFill>
        <p:spPr>
          <a:xfrm>
            <a:off x="0" y="0"/>
            <a:ext cx="7197090" cy="6455410"/>
          </a:xfrm>
          <a:prstGeom prst="rect">
            <a:avLst/>
          </a:prstGeom>
        </p:spPr>
      </p:pic>
      <p:sp>
        <p:nvSpPr>
          <p:cNvPr id="5" name="文本框 4"/>
          <p:cNvSpPr txBox="1"/>
          <p:nvPr/>
        </p:nvSpPr>
        <p:spPr>
          <a:xfrm>
            <a:off x="7393305" y="2012950"/>
            <a:ext cx="3869690" cy="1198880"/>
          </a:xfrm>
          <a:prstGeom prst="rect">
            <a:avLst/>
          </a:prstGeom>
          <a:noFill/>
        </p:spPr>
        <p:txBody>
          <a:bodyPr wrap="square" rtlCol="0" anchor="t">
            <a:spAutoFit/>
          </a:bodyPr>
          <a:p>
            <a:r>
              <a:rPr lang="en-US" altLang="zh-CN">
                <a:latin typeface="Times New Roman" panose="02020503050405090304" charset="0"/>
                <a:cs typeface="Times New Roman" panose="02020503050405090304" charset="0"/>
              </a:rPr>
              <a:t>The average probability of being below 0.2 mg/L for a given node, calculated over all time periods using the GLUE parameter weights</a:t>
            </a:r>
            <a:endParaRPr lang="en-US" altLang="zh-CN">
              <a:latin typeface="Times New Roman" panose="02020503050405090304" charset="0"/>
              <a:cs typeface="Times New Roman" panose="02020503050405090304" charset="0"/>
            </a:endParaRPr>
          </a:p>
        </p:txBody>
      </p:sp>
      <p:sp>
        <p:nvSpPr>
          <p:cNvPr id="6" name="文本框 5"/>
          <p:cNvSpPr txBox="1"/>
          <p:nvPr/>
        </p:nvSpPr>
        <p:spPr>
          <a:xfrm>
            <a:off x="7496175" y="4330700"/>
            <a:ext cx="4076065" cy="1198880"/>
          </a:xfrm>
          <a:prstGeom prst="rect">
            <a:avLst/>
          </a:prstGeom>
          <a:noFill/>
        </p:spPr>
        <p:txBody>
          <a:bodyPr wrap="square" rtlCol="0" anchor="t">
            <a:spAutoFit/>
          </a:bodyPr>
          <a:p>
            <a:r>
              <a:rPr lang="en-US" altLang="zh-CN">
                <a:latin typeface="Times New Roman" panose="02020503050405090304" charset="0"/>
                <a:cs typeface="Times New Roman" panose="02020503050405090304" charset="0"/>
              </a:rPr>
              <a:t>Among the 92 junction nodes across the network, 25 nodes fall below 0.2 mg/L under certain parameter samples and time conditions.</a:t>
            </a:r>
            <a:endParaRPr lang="en-US" altLang="zh-CN">
              <a:latin typeface="Times New Roman" panose="02020503050405090304" charset="0"/>
              <a:cs typeface="Times New Roman" panose="02020503050405090304" charset="0"/>
            </a:endParaRPr>
          </a:p>
        </p:txBody>
      </p:sp>
    </p:spTree>
    <p:custDataLst>
      <p:tags r:id="rId2"/>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81280" y="0"/>
            <a:ext cx="6177280" cy="5043805"/>
          </a:xfrm>
          <a:prstGeom prst="rect">
            <a:avLst/>
          </a:prstGeom>
        </p:spPr>
      </p:pic>
      <p:pic>
        <p:nvPicPr>
          <p:cNvPr id="5" name="图片 4"/>
          <p:cNvPicPr>
            <a:picLocks noChangeAspect="1"/>
          </p:cNvPicPr>
          <p:nvPr/>
        </p:nvPicPr>
        <p:blipFill>
          <a:blip r:embed="rId2"/>
          <a:stretch>
            <a:fillRect/>
          </a:stretch>
        </p:blipFill>
        <p:spPr>
          <a:xfrm>
            <a:off x="6340475" y="149225"/>
            <a:ext cx="5236210" cy="4745990"/>
          </a:xfrm>
          <a:prstGeom prst="rect">
            <a:avLst/>
          </a:prstGeom>
        </p:spPr>
      </p:pic>
    </p:spTree>
    <p:custDataLst>
      <p:tags r:id="rId3"/>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492125" y="365760"/>
            <a:ext cx="5603875" cy="3088640"/>
          </a:xfrm>
          <a:prstGeom prst="rect">
            <a:avLst/>
          </a:prstGeom>
        </p:spPr>
      </p:pic>
      <p:pic>
        <p:nvPicPr>
          <p:cNvPr id="5" name="图片 4"/>
          <p:cNvPicPr>
            <a:picLocks noChangeAspect="1"/>
          </p:cNvPicPr>
          <p:nvPr/>
        </p:nvPicPr>
        <p:blipFill>
          <a:blip r:embed="rId2"/>
          <a:stretch>
            <a:fillRect/>
          </a:stretch>
        </p:blipFill>
        <p:spPr>
          <a:xfrm>
            <a:off x="633095" y="3736975"/>
            <a:ext cx="5906770" cy="2591435"/>
          </a:xfrm>
          <a:prstGeom prst="rect">
            <a:avLst/>
          </a:prstGeom>
        </p:spPr>
      </p:pic>
    </p:spTree>
    <p:custDataLst>
      <p:tags r:id="rId3"/>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p:nvPr/>
        </p:nvGraphicFramePr>
        <p:xfrm>
          <a:off x="340995" y="5241290"/>
          <a:ext cx="10485120" cy="0"/>
        </p:xfrm>
        <a:graphic>
          <a:graphicData uri="http://schemas.openxmlformats.org/drawingml/2006/table">
            <a:tbl>
              <a:tblPr/>
              <a:tblGrid>
                <a:gridCol w="1747520"/>
                <a:gridCol w="1747520"/>
                <a:gridCol w="1747520"/>
                <a:gridCol w="1747520"/>
                <a:gridCol w="1747520"/>
              </a:tblGrid>
              <a:tr h="0">
                <a:tc>
                  <a:txBody>
                    <a:bodyPr/>
                    <a:p>
                      <a:pPr algn="l" fontAlgn="t"/>
                      <a:r>
                        <a:rPr lang="en-US" altLang="zh-CN" sz="1400" b="0" i="0">
                          <a:solidFill>
                            <a:schemeClr val="tx1"/>
                          </a:solidFill>
                          <a:latin typeface="Times New Roman Regular" panose="02020503050405090304" charset="0"/>
                          <a:ea typeface="-apple-system"/>
                          <a:cs typeface="Times New Roman Regular" panose="02020503050405090304" charset="0"/>
                        </a:rPr>
                        <a:t>Parameter</a:t>
                      </a:r>
                      <a:endParaRPr lang="en-US" altLang="zh-CN" sz="1400" b="0" i="0">
                        <a:solidFill>
                          <a:schemeClr val="tx1"/>
                        </a:solidFill>
                        <a:latin typeface="Times New Roman Regular" panose="02020503050405090304" charset="0"/>
                        <a:ea typeface="-apple-system"/>
                        <a:cs typeface="Times New Roman Regular" panose="02020503050405090304" charset="0"/>
                      </a:endParaRPr>
                    </a:p>
                  </a:txBody>
                  <a:tcPr marL="114617" marR="114617" marT="63817" marB="63817" anchor="t" anchorCtr="0">
                    <a:lnL>
                      <a:noFill/>
                    </a:lnL>
                    <a:lnR>
                      <a:noFill/>
                    </a:lnR>
                    <a:lnT>
                      <a:noFill/>
                    </a:lnT>
                    <a:lnB>
                      <a:noFill/>
                    </a:lnB>
                    <a:noFill/>
                  </a:tcPr>
                </a:tc>
                <a:tc>
                  <a:txBody>
                    <a:bodyPr/>
                    <a:p>
                      <a:pPr algn="l" fontAlgn="t"/>
                      <a:r>
                        <a:rPr lang="en-US" altLang="zh-CN" sz="1400">
                          <a:solidFill>
                            <a:schemeClr val="tx1"/>
                          </a:solidFill>
                          <a:latin typeface="Times New Roman Regular" panose="02020503050405090304" charset="0"/>
                          <a:cs typeface="Times New Roman Regular" panose="02020503050405090304" charset="0"/>
                          <a:sym typeface="+mn-ea"/>
                        </a:rPr>
                        <a:t>Posterior</a:t>
                      </a:r>
                      <a:r>
                        <a:rPr lang="zh-CN" altLang="en-US" sz="1400" b="0" i="0">
                          <a:solidFill>
                            <a:schemeClr val="tx1"/>
                          </a:solidFill>
                          <a:latin typeface="Times New Roman Regular" panose="02020503050405090304" charset="0"/>
                          <a:ea typeface="-apple-system"/>
                          <a:cs typeface="Times New Roman Regular" panose="02020503050405090304" charset="0"/>
                        </a:rPr>
                        <a:t> </a:t>
                      </a:r>
                      <a:r>
                        <a:rPr lang="en-US" altLang="zh-CN" sz="1400" b="0" i="0">
                          <a:solidFill>
                            <a:schemeClr val="tx1"/>
                          </a:solidFill>
                          <a:latin typeface="Times New Roman Regular" panose="02020503050405090304" charset="0"/>
                          <a:ea typeface="-apple-system"/>
                          <a:cs typeface="Times New Roman Regular" panose="02020503050405090304" charset="0"/>
                        </a:rPr>
                        <a:t>5–95%</a:t>
                      </a:r>
                      <a:endParaRPr lang="en-US" altLang="zh-CN" sz="1400" b="0" i="0">
                        <a:solidFill>
                          <a:schemeClr val="tx1"/>
                        </a:solidFill>
                        <a:latin typeface="Times New Roman Regular" panose="02020503050405090304" charset="0"/>
                        <a:ea typeface="-apple-system"/>
                        <a:cs typeface="Times New Roman Regular" panose="02020503050405090304" charset="0"/>
                      </a:endParaRPr>
                    </a:p>
                  </a:txBody>
                  <a:tcPr marL="114617" marR="114617" marT="63817" marB="63817" anchor="t" anchorCtr="0">
                    <a:lnL>
                      <a:noFill/>
                    </a:lnL>
                    <a:lnR>
                      <a:noFill/>
                    </a:lnR>
                    <a:lnT>
                      <a:noFill/>
                    </a:lnT>
                    <a:lnB>
                      <a:noFill/>
                    </a:lnB>
                    <a:noFill/>
                  </a:tcPr>
                </a:tc>
                <a:tc>
                  <a:txBody>
                    <a:bodyPr/>
                    <a:p>
                      <a:pPr algn="l" fontAlgn="t"/>
                      <a:r>
                        <a:rPr lang="en-US" altLang="zh-CN" sz="1400" b="0" i="0">
                          <a:solidFill>
                            <a:schemeClr val="tx1"/>
                          </a:solidFill>
                          <a:latin typeface="Times New Roman Regular" panose="02020503050405090304" charset="0"/>
                          <a:ea typeface="-apple-system"/>
                          <a:cs typeface="Times New Roman Regular" panose="02020503050405090304" charset="0"/>
                        </a:rPr>
                        <a:t>Median</a:t>
                      </a:r>
                      <a:endParaRPr lang="en-US" altLang="zh-CN" sz="1400" b="0" i="0">
                        <a:solidFill>
                          <a:schemeClr val="tx1"/>
                        </a:solidFill>
                        <a:latin typeface="Times New Roman Regular" panose="02020503050405090304" charset="0"/>
                        <a:ea typeface="-apple-system"/>
                        <a:cs typeface="Times New Roman Regular" panose="02020503050405090304" charset="0"/>
                      </a:endParaRPr>
                    </a:p>
                  </a:txBody>
                  <a:tcPr marL="114617" marR="114617" marT="63817" marB="63817" anchor="t" anchorCtr="0">
                    <a:lnL>
                      <a:noFill/>
                    </a:lnL>
                    <a:lnR>
                      <a:noFill/>
                    </a:lnR>
                    <a:lnT>
                      <a:noFill/>
                    </a:lnT>
                    <a:lnB>
                      <a:noFill/>
                    </a:lnB>
                    <a:noFill/>
                  </a:tcPr>
                </a:tc>
                <a:tc>
                  <a:txBody>
                    <a:bodyPr/>
                    <a:p>
                      <a:pPr algn="l" fontAlgn="t"/>
                      <a:r>
                        <a:rPr lang="en-US" altLang="zh-CN" sz="1400" b="0" i="0">
                          <a:solidFill>
                            <a:schemeClr val="tx1"/>
                          </a:solidFill>
                          <a:latin typeface="Times New Roman Regular" panose="02020503050405090304" charset="0"/>
                          <a:ea typeface="-apple-system"/>
                          <a:cs typeface="Times New Roman Regular" panose="02020503050405090304" charset="0"/>
                        </a:rPr>
                        <a:t>Prior</a:t>
                      </a:r>
                      <a:endParaRPr lang="en-US" altLang="zh-CN" sz="1400" b="0" i="0">
                        <a:solidFill>
                          <a:schemeClr val="tx1"/>
                        </a:solidFill>
                        <a:latin typeface="Times New Roman Regular" panose="02020503050405090304" charset="0"/>
                        <a:ea typeface="-apple-system"/>
                        <a:cs typeface="Times New Roman Regular" panose="02020503050405090304" charset="0"/>
                      </a:endParaRPr>
                    </a:p>
                  </a:txBody>
                  <a:tcPr marL="114617" marR="114617" marT="63817" marB="63817" anchor="t" anchorCtr="0">
                    <a:lnL>
                      <a:noFill/>
                    </a:lnL>
                    <a:lnR>
                      <a:noFill/>
                    </a:lnR>
                    <a:lnT>
                      <a:noFill/>
                    </a:lnT>
                    <a:lnB>
                      <a:noFill/>
                    </a:lnB>
                    <a:noFill/>
                  </a:tcPr>
                </a:tc>
                <a:tc>
                  <a:txBody>
                    <a:bodyPr/>
                    <a:p>
                      <a:pPr algn="l" fontAlgn="t"/>
                      <a:r>
                        <a:rPr lang="en-US" altLang="zh-CN" sz="1400" b="0" i="0">
                          <a:solidFill>
                            <a:schemeClr val="tx1"/>
                          </a:solidFill>
                          <a:latin typeface="Times New Roman Regular" panose="02020503050405090304" charset="0"/>
                          <a:ea typeface="-apple-system"/>
                          <a:cs typeface="Times New Roman Regular" panose="02020503050405090304" charset="0"/>
                        </a:rPr>
                        <a:t>True </a:t>
                      </a:r>
                      <a:r>
                        <a:rPr lang="en-US" altLang="zh-CN" sz="1400" b="0" i="0">
                          <a:solidFill>
                            <a:schemeClr val="tx1"/>
                          </a:solidFill>
                          <a:latin typeface="Times New Roman Regular" panose="02020503050405090304" charset="0"/>
                          <a:ea typeface="-apple-system"/>
                          <a:cs typeface="Times New Roman Regular" panose="02020503050405090304" charset="0"/>
                        </a:rPr>
                        <a:t>value</a:t>
                      </a:r>
                      <a:endParaRPr lang="en-US" altLang="zh-CN" sz="1400" b="0" i="0">
                        <a:solidFill>
                          <a:schemeClr val="tx1"/>
                        </a:solidFill>
                        <a:latin typeface="Times New Roman Regular" panose="02020503050405090304" charset="0"/>
                        <a:ea typeface="-apple-system"/>
                        <a:cs typeface="Times New Roman Regular" panose="02020503050405090304" charset="0"/>
                      </a:endParaRPr>
                    </a:p>
                  </a:txBody>
                  <a:tcPr marL="114617" marR="114617" marT="63817" marB="63817" anchor="t" anchorCtr="0">
                    <a:lnL>
                      <a:noFill/>
                    </a:lnL>
                    <a:lnR>
                      <a:noFill/>
                    </a:lnR>
                    <a:lnT>
                      <a:noFill/>
                    </a:lnT>
                    <a:lnB>
                      <a:noFill/>
                    </a:lnB>
                    <a:noFill/>
                  </a:tcPr>
                </a:tc>
              </a:tr>
              <a:tr h="0">
                <a:tc>
                  <a:txBody>
                    <a:bodyPr/>
                    <a:p>
                      <a:pPr algn="l" fontAlgn="t" latinLnBrk="0"/>
                      <a:r>
                        <a:rPr lang="en-US" altLang="zh-CN" sz="1400" b="0" i="0">
                          <a:solidFill>
                            <a:schemeClr val="tx1"/>
                          </a:solidFill>
                          <a:latin typeface="Times New Roman Regular" panose="02020503050405090304" charset="0"/>
                          <a:ea typeface="-apple-system"/>
                          <a:cs typeface="Times New Roman Regular" panose="02020503050405090304" charset="0"/>
                        </a:rPr>
                        <a:t>kw_old</a:t>
                      </a:r>
                      <a:endParaRPr lang="en-US" altLang="zh-CN" sz="1400" b="0" i="0">
                        <a:solidFill>
                          <a:schemeClr val="tx1"/>
                        </a:solidFill>
                        <a:latin typeface="Times New Roman Regular" panose="02020503050405090304" charset="0"/>
                        <a:ea typeface="-apple-system"/>
                        <a:cs typeface="Times New Roman Regular" panose="02020503050405090304" charset="0"/>
                      </a:endParaRPr>
                    </a:p>
                  </a:txBody>
                  <a:tcPr marL="114617" marR="114617" marT="63817" marB="63817" anchor="t" anchorCtr="0">
                    <a:lnL>
                      <a:noFill/>
                    </a:lnL>
                    <a:lnR>
                      <a:noFill/>
                    </a:lnR>
                    <a:lnT>
                      <a:noFill/>
                    </a:lnT>
                    <a:lnB>
                      <a:noFill/>
                    </a:lnB>
                    <a:noFill/>
                  </a:tcPr>
                </a:tc>
                <a:tc>
                  <a:txBody>
                    <a:bodyPr/>
                    <a:p>
                      <a:pPr algn="l" fontAlgn="t" latinLnBrk="0"/>
                      <a:r>
                        <a:rPr lang="en-US" altLang="zh-CN" sz="1400" b="0" i="0">
                          <a:solidFill>
                            <a:schemeClr val="tx1"/>
                          </a:solidFill>
                          <a:latin typeface="Times New Roman Regular" panose="02020503050405090304" charset="0"/>
                          <a:ea typeface="-apple-system"/>
                          <a:cs typeface="Times New Roman Regular" panose="02020503050405090304" charset="0"/>
                        </a:rPr>
                        <a:t>[-1.456, -0.625]</a:t>
                      </a:r>
                      <a:endParaRPr lang="en-US" altLang="zh-CN" sz="1400" b="0" i="0">
                        <a:solidFill>
                          <a:schemeClr val="tx1"/>
                        </a:solidFill>
                        <a:latin typeface="Times New Roman Regular" panose="02020503050405090304" charset="0"/>
                        <a:ea typeface="-apple-system"/>
                        <a:cs typeface="Times New Roman Regular" panose="02020503050405090304" charset="0"/>
                      </a:endParaRPr>
                    </a:p>
                  </a:txBody>
                  <a:tcPr marL="114617" marR="114617" marT="63817" marB="63817" anchor="t" anchorCtr="0">
                    <a:lnL>
                      <a:noFill/>
                    </a:lnL>
                    <a:lnR>
                      <a:noFill/>
                    </a:lnR>
                    <a:lnT>
                      <a:noFill/>
                    </a:lnT>
                    <a:lnB>
                      <a:noFill/>
                    </a:lnB>
                    <a:noFill/>
                  </a:tcPr>
                </a:tc>
                <a:tc>
                  <a:txBody>
                    <a:bodyPr/>
                    <a:p>
                      <a:pPr algn="l" fontAlgn="t" latinLnBrk="0"/>
                      <a:r>
                        <a:rPr lang="en-US" altLang="zh-CN" sz="1400" b="0" i="0">
                          <a:solidFill>
                            <a:schemeClr val="tx1"/>
                          </a:solidFill>
                          <a:latin typeface="Times New Roman Regular" panose="02020503050405090304" charset="0"/>
                          <a:ea typeface="-apple-system"/>
                          <a:cs typeface="Times New Roman Regular" panose="02020503050405090304" charset="0"/>
                        </a:rPr>
                        <a:t>-1.044</a:t>
                      </a:r>
                      <a:endParaRPr lang="en-US" altLang="zh-CN" sz="1400" b="0" i="0">
                        <a:solidFill>
                          <a:schemeClr val="tx1"/>
                        </a:solidFill>
                        <a:latin typeface="Times New Roman Regular" panose="02020503050405090304" charset="0"/>
                        <a:ea typeface="-apple-system"/>
                        <a:cs typeface="Times New Roman Regular" panose="02020503050405090304" charset="0"/>
                      </a:endParaRPr>
                    </a:p>
                  </a:txBody>
                  <a:tcPr marL="114617" marR="114617" marT="63817" marB="63817" anchor="t" anchorCtr="0">
                    <a:lnL>
                      <a:noFill/>
                    </a:lnL>
                    <a:lnR>
                      <a:noFill/>
                    </a:lnR>
                    <a:lnT>
                      <a:noFill/>
                    </a:lnT>
                    <a:lnB>
                      <a:noFill/>
                    </a:lnB>
                    <a:noFill/>
                  </a:tcPr>
                </a:tc>
                <a:tc>
                  <a:txBody>
                    <a:bodyPr/>
                    <a:p>
                      <a:pPr algn="l" fontAlgn="t" latinLnBrk="0"/>
                      <a:r>
                        <a:rPr lang="en-US" altLang="zh-CN" sz="1400" b="0" i="0">
                          <a:solidFill>
                            <a:schemeClr val="tx1"/>
                          </a:solidFill>
                          <a:latin typeface="Times New Roman Regular" panose="02020503050405090304" charset="0"/>
                          <a:ea typeface="-apple-system"/>
                          <a:cs typeface="Times New Roman Regular" panose="02020503050405090304" charset="0"/>
                        </a:rPr>
                        <a:t>[-1.5, -0.2]</a:t>
                      </a:r>
                      <a:endParaRPr lang="en-US" altLang="zh-CN" sz="1400" b="0" i="0">
                        <a:solidFill>
                          <a:schemeClr val="tx1"/>
                        </a:solidFill>
                        <a:latin typeface="Times New Roman Regular" panose="02020503050405090304" charset="0"/>
                        <a:ea typeface="-apple-system"/>
                        <a:cs typeface="Times New Roman Regular" panose="02020503050405090304" charset="0"/>
                      </a:endParaRPr>
                    </a:p>
                  </a:txBody>
                  <a:tcPr marL="114617" marR="114617" marT="63817" marB="63817" anchor="t" anchorCtr="0">
                    <a:lnL>
                      <a:noFill/>
                    </a:lnL>
                    <a:lnR>
                      <a:noFill/>
                    </a:lnR>
                    <a:lnT>
                      <a:noFill/>
                    </a:lnT>
                    <a:lnB>
                      <a:noFill/>
                    </a:lnB>
                    <a:noFill/>
                  </a:tcPr>
                </a:tc>
                <a:tc>
                  <a:txBody>
                    <a:bodyPr/>
                    <a:p>
                      <a:pPr algn="l" fontAlgn="t" latinLnBrk="0"/>
                      <a:r>
                        <a:rPr lang="en-US" altLang="zh-CN" sz="1400" b="0" i="0">
                          <a:solidFill>
                            <a:schemeClr val="tx1"/>
                          </a:solidFill>
                          <a:latin typeface="Times New Roman Regular" panose="02020503050405090304" charset="0"/>
                          <a:ea typeface="-apple-system"/>
                          <a:cs typeface="Times New Roman Regular" panose="02020503050405090304" charset="0"/>
                        </a:rPr>
                        <a:t>-1.0</a:t>
                      </a:r>
                      <a:endParaRPr lang="en-US" altLang="zh-CN" sz="1400" b="0" i="0">
                        <a:solidFill>
                          <a:schemeClr val="tx1"/>
                        </a:solidFill>
                        <a:latin typeface="Times New Roman Regular" panose="02020503050405090304" charset="0"/>
                        <a:ea typeface="-apple-system"/>
                        <a:cs typeface="Times New Roman Regular" panose="02020503050405090304" charset="0"/>
                      </a:endParaRPr>
                    </a:p>
                  </a:txBody>
                  <a:tcPr marL="114617" marR="114617" marT="63817" marB="63817" anchor="t" anchorCtr="0">
                    <a:lnL>
                      <a:noFill/>
                    </a:lnL>
                    <a:lnR>
                      <a:noFill/>
                    </a:lnR>
                    <a:lnT>
                      <a:noFill/>
                    </a:lnT>
                    <a:lnB>
                      <a:noFill/>
                    </a:lnB>
                    <a:noFill/>
                  </a:tcPr>
                </a:tc>
              </a:tr>
              <a:tr h="0">
                <a:tc>
                  <a:txBody>
                    <a:bodyPr/>
                    <a:p>
                      <a:pPr algn="l" fontAlgn="t" latinLnBrk="0"/>
                      <a:r>
                        <a:rPr lang="en-US" altLang="zh-CN" sz="1400" b="0" i="0">
                          <a:solidFill>
                            <a:schemeClr val="tx1"/>
                          </a:solidFill>
                          <a:latin typeface="Times New Roman Regular" panose="02020503050405090304" charset="0"/>
                          <a:ea typeface="-apple-system"/>
                          <a:cs typeface="Times New Roman Regular" panose="02020503050405090304" charset="0"/>
                        </a:rPr>
                        <a:t>kw_avg</a:t>
                      </a:r>
                      <a:endParaRPr lang="en-US" altLang="zh-CN" sz="1400" b="0" i="0">
                        <a:solidFill>
                          <a:schemeClr val="tx1"/>
                        </a:solidFill>
                        <a:latin typeface="Times New Roman Regular" panose="02020503050405090304" charset="0"/>
                        <a:ea typeface="-apple-system"/>
                        <a:cs typeface="Times New Roman Regular" panose="02020503050405090304" charset="0"/>
                      </a:endParaRPr>
                    </a:p>
                  </a:txBody>
                  <a:tcPr marL="114617" marR="114617" marT="63817" marB="63817" anchor="t" anchorCtr="0">
                    <a:lnL>
                      <a:noFill/>
                    </a:lnL>
                    <a:lnR>
                      <a:noFill/>
                    </a:lnR>
                    <a:lnT>
                      <a:noFill/>
                    </a:lnT>
                    <a:lnB>
                      <a:noFill/>
                    </a:lnB>
                    <a:noFill/>
                  </a:tcPr>
                </a:tc>
                <a:tc>
                  <a:txBody>
                    <a:bodyPr/>
                    <a:p>
                      <a:pPr algn="l" fontAlgn="t" latinLnBrk="0"/>
                      <a:r>
                        <a:rPr lang="en-US" altLang="zh-CN" sz="1400" b="0" i="0">
                          <a:solidFill>
                            <a:schemeClr val="tx1"/>
                          </a:solidFill>
                          <a:latin typeface="Times New Roman Regular" panose="02020503050405090304" charset="0"/>
                          <a:ea typeface="-apple-system"/>
                          <a:cs typeface="Times New Roman Regular" panose="02020503050405090304" charset="0"/>
                        </a:rPr>
                        <a:t>[-0.192, -0.050]</a:t>
                      </a:r>
                      <a:endParaRPr lang="en-US" altLang="zh-CN" sz="1400" b="0" i="0">
                        <a:solidFill>
                          <a:schemeClr val="tx1"/>
                        </a:solidFill>
                        <a:latin typeface="Times New Roman Regular" panose="02020503050405090304" charset="0"/>
                        <a:ea typeface="-apple-system"/>
                        <a:cs typeface="Times New Roman Regular" panose="02020503050405090304" charset="0"/>
                      </a:endParaRPr>
                    </a:p>
                  </a:txBody>
                  <a:tcPr marL="114617" marR="114617" marT="63817" marB="63817" anchor="t" anchorCtr="0">
                    <a:lnL>
                      <a:noFill/>
                    </a:lnL>
                    <a:lnR>
                      <a:noFill/>
                    </a:lnR>
                    <a:lnT>
                      <a:noFill/>
                    </a:lnT>
                    <a:lnB>
                      <a:noFill/>
                    </a:lnB>
                    <a:noFill/>
                  </a:tcPr>
                </a:tc>
                <a:tc>
                  <a:txBody>
                    <a:bodyPr/>
                    <a:p>
                      <a:pPr algn="l" fontAlgn="t" latinLnBrk="0"/>
                      <a:r>
                        <a:rPr lang="en-US" altLang="zh-CN" sz="1400" b="0" i="0">
                          <a:solidFill>
                            <a:schemeClr val="tx1"/>
                          </a:solidFill>
                          <a:latin typeface="Times New Roman Regular" panose="02020503050405090304" charset="0"/>
                          <a:ea typeface="-apple-system"/>
                          <a:cs typeface="Times New Roman Regular" panose="02020503050405090304" charset="0"/>
                        </a:rPr>
                        <a:t>-0.126</a:t>
                      </a:r>
                      <a:endParaRPr lang="en-US" altLang="zh-CN" sz="1400" b="0" i="0">
                        <a:solidFill>
                          <a:schemeClr val="tx1"/>
                        </a:solidFill>
                        <a:latin typeface="Times New Roman Regular" panose="02020503050405090304" charset="0"/>
                        <a:ea typeface="-apple-system"/>
                        <a:cs typeface="Times New Roman Regular" panose="02020503050405090304" charset="0"/>
                      </a:endParaRPr>
                    </a:p>
                  </a:txBody>
                  <a:tcPr marL="114617" marR="114617" marT="63817" marB="63817" anchor="t" anchorCtr="0">
                    <a:lnL>
                      <a:noFill/>
                    </a:lnL>
                    <a:lnR>
                      <a:noFill/>
                    </a:lnR>
                    <a:lnT>
                      <a:noFill/>
                    </a:lnT>
                    <a:lnB>
                      <a:noFill/>
                    </a:lnB>
                    <a:noFill/>
                  </a:tcPr>
                </a:tc>
                <a:tc>
                  <a:txBody>
                    <a:bodyPr/>
                    <a:p>
                      <a:pPr algn="l" fontAlgn="t" latinLnBrk="0"/>
                      <a:r>
                        <a:rPr lang="en-US" altLang="zh-CN" sz="1400" b="0" i="0">
                          <a:solidFill>
                            <a:schemeClr val="tx1"/>
                          </a:solidFill>
                          <a:latin typeface="Times New Roman Regular" panose="02020503050405090304" charset="0"/>
                          <a:ea typeface="-apple-system"/>
                          <a:cs typeface="Times New Roman Regular" panose="02020503050405090304" charset="0"/>
                        </a:rPr>
                        <a:t>[-0.2, -0.04]</a:t>
                      </a:r>
                      <a:endParaRPr lang="en-US" altLang="zh-CN" sz="1400" b="0" i="0">
                        <a:solidFill>
                          <a:schemeClr val="tx1"/>
                        </a:solidFill>
                        <a:latin typeface="Times New Roman Regular" panose="02020503050405090304" charset="0"/>
                        <a:ea typeface="-apple-system"/>
                        <a:cs typeface="Times New Roman Regular" panose="02020503050405090304" charset="0"/>
                      </a:endParaRPr>
                    </a:p>
                  </a:txBody>
                  <a:tcPr marL="114617" marR="114617" marT="63817" marB="63817" anchor="t" anchorCtr="0">
                    <a:lnL>
                      <a:noFill/>
                    </a:lnL>
                    <a:lnR>
                      <a:noFill/>
                    </a:lnR>
                    <a:lnT>
                      <a:noFill/>
                    </a:lnT>
                    <a:lnB>
                      <a:noFill/>
                    </a:lnB>
                    <a:noFill/>
                  </a:tcPr>
                </a:tc>
                <a:tc>
                  <a:txBody>
                    <a:bodyPr/>
                    <a:p>
                      <a:pPr algn="l" fontAlgn="t" latinLnBrk="0"/>
                      <a:r>
                        <a:rPr lang="en-US" altLang="zh-CN" sz="1400" b="0" i="0">
                          <a:solidFill>
                            <a:schemeClr val="tx1"/>
                          </a:solidFill>
                          <a:latin typeface="Times New Roman Regular" panose="02020503050405090304" charset="0"/>
                          <a:ea typeface="-apple-system"/>
                          <a:cs typeface="Times New Roman Regular" panose="02020503050405090304" charset="0"/>
                        </a:rPr>
                        <a:t>-0.1</a:t>
                      </a:r>
                      <a:endParaRPr lang="en-US" altLang="zh-CN" sz="1400" b="0" i="0">
                        <a:solidFill>
                          <a:schemeClr val="tx1"/>
                        </a:solidFill>
                        <a:latin typeface="Times New Roman Regular" panose="02020503050405090304" charset="0"/>
                        <a:ea typeface="-apple-system"/>
                        <a:cs typeface="Times New Roman Regular" panose="02020503050405090304" charset="0"/>
                      </a:endParaRPr>
                    </a:p>
                  </a:txBody>
                  <a:tcPr marL="114617" marR="114617" marT="63817" marB="63817" anchor="t" anchorCtr="0">
                    <a:lnL>
                      <a:noFill/>
                    </a:lnL>
                    <a:lnR>
                      <a:noFill/>
                    </a:lnR>
                    <a:lnT>
                      <a:noFill/>
                    </a:lnT>
                    <a:lnB>
                      <a:noFill/>
                    </a:lnB>
                    <a:noFill/>
                  </a:tcPr>
                </a:tc>
              </a:tr>
              <a:tr h="0">
                <a:tc>
                  <a:txBody>
                    <a:bodyPr/>
                    <a:p>
                      <a:pPr algn="l" fontAlgn="t" latinLnBrk="0"/>
                      <a:r>
                        <a:rPr lang="en-US" altLang="zh-CN" sz="1400" b="0" i="0">
                          <a:solidFill>
                            <a:schemeClr val="tx1"/>
                          </a:solidFill>
                          <a:latin typeface="Times New Roman Regular" panose="02020503050405090304" charset="0"/>
                          <a:ea typeface="-apple-system"/>
                          <a:cs typeface="Times New Roman Regular" panose="02020503050405090304" charset="0"/>
                        </a:rPr>
                        <a:t>kw_new</a:t>
                      </a:r>
                      <a:endParaRPr lang="en-US" altLang="zh-CN" sz="1400" b="0" i="0">
                        <a:solidFill>
                          <a:schemeClr val="tx1"/>
                        </a:solidFill>
                        <a:latin typeface="Times New Roman Regular" panose="02020503050405090304" charset="0"/>
                        <a:ea typeface="-apple-system"/>
                        <a:cs typeface="Times New Roman Regular" panose="02020503050405090304" charset="0"/>
                      </a:endParaRPr>
                    </a:p>
                  </a:txBody>
                  <a:tcPr marL="114617" marR="114617" marT="63817" marB="63817" anchor="t" anchorCtr="0">
                    <a:lnL>
                      <a:noFill/>
                    </a:lnL>
                    <a:lnR>
                      <a:noFill/>
                    </a:lnR>
                    <a:lnT>
                      <a:noFill/>
                    </a:lnT>
                    <a:lnB>
                      <a:noFill/>
                    </a:lnB>
                    <a:noFill/>
                  </a:tcPr>
                </a:tc>
                <a:tc>
                  <a:txBody>
                    <a:bodyPr/>
                    <a:p>
                      <a:pPr algn="l" fontAlgn="t" latinLnBrk="0"/>
                      <a:r>
                        <a:rPr lang="en-US" altLang="zh-CN" sz="1400" b="0" i="0">
                          <a:solidFill>
                            <a:schemeClr val="tx1"/>
                          </a:solidFill>
                          <a:latin typeface="Times New Roman Regular" panose="02020503050405090304" charset="0"/>
                          <a:ea typeface="-apple-system"/>
                          <a:cs typeface="Times New Roman Regular" panose="02020503050405090304" charset="0"/>
                        </a:rPr>
                        <a:t>[-0.095, -0.010]</a:t>
                      </a:r>
                      <a:endParaRPr lang="en-US" altLang="zh-CN" sz="1400" b="0" i="0">
                        <a:solidFill>
                          <a:schemeClr val="tx1"/>
                        </a:solidFill>
                        <a:latin typeface="Times New Roman Regular" panose="02020503050405090304" charset="0"/>
                        <a:ea typeface="-apple-system"/>
                        <a:cs typeface="Times New Roman Regular" panose="02020503050405090304" charset="0"/>
                      </a:endParaRPr>
                    </a:p>
                  </a:txBody>
                  <a:tcPr marL="114617" marR="114617" marT="63817" marB="63817" anchor="t" anchorCtr="0">
                    <a:lnL>
                      <a:noFill/>
                    </a:lnL>
                    <a:lnR>
                      <a:noFill/>
                    </a:lnR>
                    <a:lnT>
                      <a:noFill/>
                    </a:lnT>
                    <a:lnB>
                      <a:noFill/>
                    </a:lnB>
                    <a:noFill/>
                  </a:tcPr>
                </a:tc>
                <a:tc>
                  <a:txBody>
                    <a:bodyPr/>
                    <a:p>
                      <a:pPr algn="l" fontAlgn="t" latinLnBrk="0"/>
                      <a:r>
                        <a:rPr lang="en-US" altLang="zh-CN" sz="1400" b="0" i="0">
                          <a:solidFill>
                            <a:schemeClr val="tx1"/>
                          </a:solidFill>
                          <a:latin typeface="Times New Roman Regular" panose="02020503050405090304" charset="0"/>
                          <a:ea typeface="-apple-system"/>
                          <a:cs typeface="Times New Roman Regular" panose="02020503050405090304" charset="0"/>
                        </a:rPr>
                        <a:t>-0.053</a:t>
                      </a:r>
                      <a:endParaRPr lang="en-US" altLang="zh-CN" sz="1400" b="0" i="0">
                        <a:solidFill>
                          <a:schemeClr val="tx1"/>
                        </a:solidFill>
                        <a:latin typeface="Times New Roman Regular" panose="02020503050405090304" charset="0"/>
                        <a:ea typeface="-apple-system"/>
                        <a:cs typeface="Times New Roman Regular" panose="02020503050405090304" charset="0"/>
                      </a:endParaRPr>
                    </a:p>
                  </a:txBody>
                  <a:tcPr marL="114617" marR="114617" marT="63817" marB="63817" anchor="t" anchorCtr="0">
                    <a:lnL>
                      <a:noFill/>
                    </a:lnL>
                    <a:lnR>
                      <a:noFill/>
                    </a:lnR>
                    <a:lnT>
                      <a:noFill/>
                    </a:lnT>
                    <a:lnB>
                      <a:noFill/>
                    </a:lnB>
                    <a:noFill/>
                  </a:tcPr>
                </a:tc>
                <a:tc>
                  <a:txBody>
                    <a:bodyPr/>
                    <a:p>
                      <a:pPr algn="l" fontAlgn="t" latinLnBrk="0"/>
                      <a:r>
                        <a:rPr lang="en-US" altLang="zh-CN" sz="1400" b="0" i="0">
                          <a:solidFill>
                            <a:schemeClr val="tx1"/>
                          </a:solidFill>
                          <a:latin typeface="Times New Roman Regular" panose="02020503050405090304" charset="0"/>
                          <a:ea typeface="-apple-system"/>
                          <a:cs typeface="Times New Roman Regular" panose="02020503050405090304" charset="0"/>
                        </a:rPr>
                        <a:t>[-0.10, -0.005]</a:t>
                      </a:r>
                      <a:endParaRPr lang="en-US" altLang="zh-CN" sz="1400" b="0" i="0">
                        <a:solidFill>
                          <a:schemeClr val="tx1"/>
                        </a:solidFill>
                        <a:latin typeface="Times New Roman Regular" panose="02020503050405090304" charset="0"/>
                        <a:ea typeface="-apple-system"/>
                        <a:cs typeface="Times New Roman Regular" panose="02020503050405090304" charset="0"/>
                      </a:endParaRPr>
                    </a:p>
                  </a:txBody>
                  <a:tcPr marL="114617" marR="114617" marT="63817" marB="63817" anchor="t" anchorCtr="0">
                    <a:lnL>
                      <a:noFill/>
                    </a:lnL>
                    <a:lnR>
                      <a:noFill/>
                    </a:lnR>
                    <a:lnT>
                      <a:noFill/>
                    </a:lnT>
                    <a:lnB>
                      <a:noFill/>
                    </a:lnB>
                    <a:noFill/>
                  </a:tcPr>
                </a:tc>
                <a:tc>
                  <a:txBody>
                    <a:bodyPr/>
                    <a:p>
                      <a:pPr algn="l" fontAlgn="t" latinLnBrk="0"/>
                      <a:r>
                        <a:rPr lang="en-US" altLang="zh-CN" sz="1400" b="0" i="0">
                          <a:solidFill>
                            <a:schemeClr val="tx1"/>
                          </a:solidFill>
                          <a:latin typeface="Times New Roman Regular" panose="02020503050405090304" charset="0"/>
                          <a:ea typeface="-apple-system"/>
                          <a:cs typeface="Times New Roman Regular" panose="02020503050405090304" charset="0"/>
                        </a:rPr>
                        <a:t>-0.05</a:t>
                      </a:r>
                      <a:endParaRPr lang="en-US" altLang="zh-CN" sz="1400" b="0" i="0">
                        <a:solidFill>
                          <a:schemeClr val="tx1"/>
                        </a:solidFill>
                        <a:latin typeface="Times New Roman Regular" panose="02020503050405090304" charset="0"/>
                        <a:ea typeface="-apple-system"/>
                        <a:cs typeface="Times New Roman Regular" panose="02020503050405090304" charset="0"/>
                      </a:endParaRPr>
                    </a:p>
                  </a:txBody>
                  <a:tcPr marL="114617" marR="114617" marT="63817" marB="63817" anchor="t" anchorCtr="0">
                    <a:lnL>
                      <a:noFill/>
                    </a:lnL>
                    <a:lnR>
                      <a:noFill/>
                    </a:lnR>
                    <a:lnT>
                      <a:noFill/>
                    </a:lnT>
                    <a:lnB>
                      <a:noFill/>
                    </a:lnB>
                    <a:noFill/>
                  </a:tcPr>
                </a:tc>
              </a:tr>
            </a:tbl>
          </a:graphicData>
        </a:graphic>
      </p:graphicFrame>
      <p:pic>
        <p:nvPicPr>
          <p:cNvPr id="5" name="图片 4"/>
          <p:cNvPicPr>
            <a:picLocks noChangeAspect="1"/>
          </p:cNvPicPr>
          <p:nvPr/>
        </p:nvPicPr>
        <p:blipFill>
          <a:blip r:embed="rId1"/>
          <a:stretch>
            <a:fillRect/>
          </a:stretch>
        </p:blipFill>
        <p:spPr>
          <a:xfrm>
            <a:off x="113665" y="2546985"/>
            <a:ext cx="9420225" cy="2495550"/>
          </a:xfrm>
          <a:prstGeom prst="rect">
            <a:avLst/>
          </a:prstGeom>
        </p:spPr>
      </p:pic>
      <p:sp>
        <p:nvSpPr>
          <p:cNvPr id="8" name="文本框 7"/>
          <p:cNvSpPr txBox="1"/>
          <p:nvPr/>
        </p:nvSpPr>
        <p:spPr>
          <a:xfrm>
            <a:off x="255270" y="570865"/>
            <a:ext cx="6480810" cy="1753235"/>
          </a:xfrm>
          <a:prstGeom prst="rect">
            <a:avLst/>
          </a:prstGeom>
          <a:noFill/>
        </p:spPr>
        <p:txBody>
          <a:bodyPr wrap="square" rtlCol="0" anchor="t">
            <a:spAutoFit/>
          </a:bodyPr>
          <a:p>
            <a:r>
              <a:rPr lang="en-US" altLang="zh-CN">
                <a:latin typeface="Times New Roman Regular" panose="02020503050405090304" charset="0"/>
                <a:cs typeface="Times New Roman Regular" panose="02020503050405090304" charset="0"/>
              </a:rPr>
              <a:t>Behavioural: 1388 / 2000 (RMSE &lt; 0.12) </a:t>
            </a:r>
            <a:endParaRPr lang="en-US" altLang="zh-CN">
              <a:latin typeface="Times New Roman Regular" panose="02020503050405090304" charset="0"/>
              <a:cs typeface="Times New Roman Regular" panose="02020503050405090304" charset="0"/>
            </a:endParaRPr>
          </a:p>
          <a:p>
            <a:endParaRPr lang="en-US" altLang="zh-CN">
              <a:latin typeface="Times New Roman Regular" panose="02020503050405090304" charset="0"/>
              <a:cs typeface="Times New Roman Regular" panose="02020503050405090304" charset="0"/>
            </a:endParaRPr>
          </a:p>
          <a:p>
            <a:r>
              <a:rPr lang="en-US" altLang="zh-CN">
                <a:latin typeface="Times New Roman Regular" panose="02020503050405090304" charset="0"/>
                <a:cs typeface="Times New Roman Regular" panose="02020503050405090304" charset="0"/>
              </a:rPr>
              <a:t>GLUE </a:t>
            </a:r>
            <a:r>
              <a:rPr lang="en-US" altLang="zh-CN">
                <a:latin typeface="Times New Roman Regular" panose="02020503050405090304" charset="0"/>
                <a:cs typeface="Times New Roman Regular" panose="02020503050405090304" charset="0"/>
                <a:sym typeface="+mn-ea"/>
              </a:rPr>
              <a:t>Weighted posterior</a:t>
            </a:r>
            <a:r>
              <a:rPr lang="zh-CN" altLang="en-US">
                <a:latin typeface="Times New Roman Regular" panose="02020503050405090304" charset="0"/>
                <a:cs typeface="Times New Roman Regular" panose="02020503050405090304" charset="0"/>
              </a:rPr>
              <a:t> (</a:t>
            </a:r>
            <a:r>
              <a:rPr lang="en-US" altLang="zh-CN">
                <a:latin typeface="Times New Roman Regular" panose="02020503050405090304" charset="0"/>
                <a:cs typeface="Times New Roman Regular" panose="02020503050405090304" charset="0"/>
              </a:rPr>
              <a:t>mean ± std)：</a:t>
            </a:r>
            <a:endParaRPr lang="en-US" altLang="zh-CN">
              <a:latin typeface="Times New Roman Regular" panose="02020503050405090304" charset="0"/>
              <a:cs typeface="Times New Roman Regular" panose="02020503050405090304" charset="0"/>
            </a:endParaRPr>
          </a:p>
          <a:p>
            <a:r>
              <a:rPr lang="en-US" altLang="zh-CN">
                <a:latin typeface="Times New Roman Regular" panose="02020503050405090304" charset="0"/>
                <a:cs typeface="Times New Roman Regular" panose="02020503050405090304" charset="0"/>
              </a:rPr>
              <a:t>kw_old = -1.044 ± 0.260   (true -1.00)</a:t>
            </a:r>
            <a:endParaRPr lang="en-US" altLang="zh-CN">
              <a:latin typeface="Times New Roman Regular" panose="02020503050405090304" charset="0"/>
              <a:cs typeface="Times New Roman Regular" panose="02020503050405090304" charset="0"/>
            </a:endParaRPr>
          </a:p>
          <a:p>
            <a:r>
              <a:rPr lang="en-US" altLang="zh-CN">
                <a:latin typeface="Times New Roman Regular" panose="02020503050405090304" charset="0"/>
                <a:cs typeface="Times New Roman Regular" panose="02020503050405090304" charset="0"/>
              </a:rPr>
              <a:t>kw_avg = -0.123 ± 0.045   (true -0.10)</a:t>
            </a:r>
            <a:endParaRPr lang="en-US" altLang="zh-CN">
              <a:latin typeface="Times New Roman Regular" panose="02020503050405090304" charset="0"/>
              <a:cs typeface="Times New Roman Regular" panose="02020503050405090304" charset="0"/>
            </a:endParaRPr>
          </a:p>
          <a:p>
            <a:r>
              <a:rPr lang="en-US" altLang="zh-CN">
                <a:latin typeface="Times New Roman Regular" panose="02020503050405090304" charset="0"/>
                <a:cs typeface="Times New Roman Regular" panose="02020503050405090304" charset="0"/>
              </a:rPr>
              <a:t>kw_new = -0.053 ± 0.027   (true -0.05)</a:t>
            </a:r>
            <a:endParaRPr lang="zh-CN" altLang="en-US">
              <a:latin typeface="Times New Roman Regular" panose="02020503050405090304" charset="0"/>
              <a:cs typeface="Times New Roman Regular" panose="02020503050405090304" charset="0"/>
            </a:endParaRPr>
          </a:p>
        </p:txBody>
      </p:sp>
    </p:spTree>
    <p:custDataLst>
      <p:tags r:id="rId2"/>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1"/>
          <a:stretch>
            <a:fillRect/>
          </a:stretch>
        </p:blipFill>
        <p:spPr>
          <a:xfrm>
            <a:off x="0" y="266065"/>
            <a:ext cx="5930900" cy="2938780"/>
          </a:xfrm>
          <a:prstGeom prst="rect">
            <a:avLst/>
          </a:prstGeom>
        </p:spPr>
      </p:pic>
      <p:pic>
        <p:nvPicPr>
          <p:cNvPr id="9" name="图片 8"/>
          <p:cNvPicPr>
            <a:picLocks noChangeAspect="1"/>
          </p:cNvPicPr>
          <p:nvPr/>
        </p:nvPicPr>
        <p:blipFill>
          <a:blip r:embed="rId2"/>
          <a:srcRect l="6200" b="5998"/>
          <a:stretch>
            <a:fillRect/>
          </a:stretch>
        </p:blipFill>
        <p:spPr>
          <a:xfrm>
            <a:off x="6036945" y="266065"/>
            <a:ext cx="5299710" cy="4750435"/>
          </a:xfrm>
          <a:prstGeom prst="rect">
            <a:avLst/>
          </a:prstGeom>
        </p:spPr>
      </p:pic>
      <p:sp>
        <p:nvSpPr>
          <p:cNvPr id="10" name="文本框 9"/>
          <p:cNvSpPr txBox="1"/>
          <p:nvPr/>
        </p:nvSpPr>
        <p:spPr>
          <a:xfrm>
            <a:off x="6840855" y="5872480"/>
            <a:ext cx="4754245" cy="645160"/>
          </a:xfrm>
          <a:prstGeom prst="rect">
            <a:avLst/>
          </a:prstGeom>
          <a:noFill/>
        </p:spPr>
        <p:txBody>
          <a:bodyPr wrap="square" rtlCol="0" anchor="t">
            <a:spAutoFit/>
          </a:bodyPr>
          <a:p>
            <a:r>
              <a:rPr lang="en-US" altLang="zh-CN">
                <a:latin typeface="Times New Roman" panose="02020503050405090304" charset="0"/>
                <a:cs typeface="Times New Roman" panose="02020503050405090304" charset="0"/>
              </a:rPr>
              <a:t>GLUE Risk: Number of nodes that could fall below 0.20 is 46 / 92</a:t>
            </a:r>
            <a:endParaRPr lang="zh-CN" altLang="en-US">
              <a:latin typeface="Times New Roman" panose="02020503050405090304" charset="0"/>
              <a:cs typeface="Times New Roman" panose="02020503050405090304" charset="0"/>
            </a:endParaRPr>
          </a:p>
        </p:txBody>
      </p:sp>
    </p:spTree>
    <p:custDataLst>
      <p:tags r:id="rId3"/>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p:txBody>
          <a:bodyPr/>
          <a:p>
            <a:endParaRPr lang="zh-CN" altLang="zh-CN"/>
          </a:p>
        </p:txBody>
      </p:sp>
      <p:sp>
        <p:nvSpPr>
          <p:cNvPr id="3" name="副标题 2"/>
          <p:cNvSpPr>
            <a:spLocks noGrp="1"/>
          </p:cNvSpPr>
          <p:nvPr>
            <p:ph type="subTitle" idx="1"/>
            <p:custDataLst>
              <p:tags r:id="rId2"/>
            </p:custDataLst>
          </p:nvPr>
        </p:nvSpPr>
        <p:spPr/>
        <p:txBody>
          <a:bodyPr/>
          <a:p>
            <a:endParaRPr lang="zh-CN" altLang="en-US"/>
          </a:p>
        </p:txBody>
      </p:sp>
    </p:spTree>
    <p:custDataLst>
      <p:tags r:id="rId3"/>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4.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 name="resource_record_key" val="{&quot;29&quot;:[50000113,50000264,50052708],&quot;65&quot;:[20205081]}"/>
</p:tagLst>
</file>

<file path=ppt/tags/tag65.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6.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7.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8.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9.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70.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71.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72.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73.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74.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75.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76.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77.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081_1*a*1"/>
  <p:tag name="KSO_WM_TEMPLATE_CATEGORY" val="custom"/>
  <p:tag name="KSO_WM_TEMPLATE_INDEX" val="20205081"/>
  <p:tag name="KSO_WM_UNIT_LAYERLEVEL" val="1"/>
  <p:tag name="KSO_WM_TAG_VERSION" val="1.0"/>
  <p:tag name="KSO_WM_BEAUTIFY_FLAG" val="#wm#"/>
</p:tagLst>
</file>

<file path=ppt/tags/tag78.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111"/>
  <p:tag name="KSO_WM_UNIT_HIGHLIGHT" val="0"/>
  <p:tag name="KSO_WM_UNIT_COMPATIBLE" val="0"/>
  <p:tag name="KSO_WM_UNIT_DIAGRAM_ISNUMVISUAL" val="0"/>
  <p:tag name="KSO_WM_UNIT_DIAGRAM_ISREFERUNIT" val="0"/>
  <p:tag name="KSO_WM_UNIT_TYPE" val="b"/>
  <p:tag name="KSO_WM_UNIT_INDEX" val="1"/>
  <p:tag name="KSO_WM_UNIT_ID" val="custom20205081_1*b*1"/>
  <p:tag name="KSO_WM_TEMPLATE_CATEGORY" val="custom"/>
  <p:tag name="KSO_WM_TEMPLATE_INDEX" val="20205081"/>
  <p:tag name="KSO_WM_UNIT_LAYERLEVEL" val="1"/>
  <p:tag name="KSO_WM_TAG_VERSION" val="1.0"/>
  <p:tag name="KSO_WM_BEAUTIFY_FLAG" val="#wm#"/>
</p:tagLst>
</file>

<file path=ppt/tags/tag79.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80.xml><?xml version="1.0" encoding="utf-8"?>
<p:tagLst xmlns:p="http://schemas.openxmlformats.org/presentationml/2006/main">
  <p:tag name="resource_record_key" val="{&quot;29&quot;:[50000113,50000264,50052708],&quot;65&quot;:[20205081]}"/>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苹方-简"/>
        <a:ea typeface="苹方-简"/>
        <a:cs typeface=""/>
      </a:majorFont>
      <a:minorFont>
        <a:latin typeface="苹方-简"/>
        <a:ea typeface="苹方-简"/>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WPS">
      <a:majorFont>
        <a:latin typeface="苹方-简"/>
        <a:ea typeface="苹方-简"/>
        <a:cs typeface=""/>
      </a:majorFont>
      <a:minorFont>
        <a:latin typeface="苹方-简"/>
        <a:ea typeface="苹方-简"/>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WPS">
      <a:majorFont>
        <a:latin typeface="苹方-简"/>
        <a:ea typeface="苹方-简"/>
        <a:cs typeface=""/>
      </a:majorFont>
      <a:minorFont>
        <a:latin typeface="苹方-简"/>
        <a:ea typeface="苹方-简"/>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4022</Words>
  <Application>WPS 文字</Application>
  <PresentationFormat>宽屏</PresentationFormat>
  <Paragraphs>237</Paragraphs>
  <Slides>15</Slides>
  <Notes>4</Notes>
  <HiddenSlides>0</HiddenSlides>
  <MMClips>0</MMClips>
  <ScaleCrop>false</ScaleCrop>
  <HeadingPairs>
    <vt:vector size="6" baseType="variant">
      <vt:variant>
        <vt:lpstr>已用的字体</vt:lpstr>
      </vt:variant>
      <vt:variant>
        <vt:i4>20</vt:i4>
      </vt:variant>
      <vt:variant>
        <vt:lpstr>主题</vt:lpstr>
      </vt:variant>
      <vt:variant>
        <vt:i4>1</vt:i4>
      </vt:variant>
      <vt:variant>
        <vt:lpstr>幻灯片标题</vt:lpstr>
      </vt:variant>
      <vt:variant>
        <vt:i4>15</vt:i4>
      </vt:variant>
    </vt:vector>
  </HeadingPairs>
  <TitlesOfParts>
    <vt:vector size="36" baseType="lpstr">
      <vt:lpstr>Arial</vt:lpstr>
      <vt:lpstr>宋体</vt:lpstr>
      <vt:lpstr>Wingdings</vt:lpstr>
      <vt:lpstr>Wingdings</vt:lpstr>
      <vt:lpstr>Times New Roman</vt:lpstr>
      <vt:lpstr>Times New Roman Regular</vt:lpstr>
      <vt:lpstr>PingFang SC Semibold</vt:lpstr>
      <vt:lpstr>Arial</vt:lpstr>
      <vt:lpstr>-apple-system</vt:lpstr>
      <vt:lpstr>Thonburi</vt:lpstr>
      <vt:lpstr>Menlo</vt:lpstr>
      <vt:lpstr>微软雅黑</vt:lpstr>
      <vt:lpstr>汉仪旗黑</vt:lpstr>
      <vt:lpstr>苹方-简</vt:lpstr>
      <vt:lpstr>汉仪书宋二KW</vt:lpstr>
      <vt:lpstr>宋体</vt:lpstr>
      <vt:lpstr>Arial Unicode MS</vt:lpstr>
      <vt:lpstr>-apple-system</vt:lpstr>
      <vt:lpstr>Menlo</vt:lpstr>
      <vt:lpstr>MS PGothic</vt:lpstr>
      <vt:lpstr>WPS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彭睿欣</cp:lastModifiedBy>
  <cp:revision>215</cp:revision>
  <dcterms:created xsi:type="dcterms:W3CDTF">2026-07-03T08:48:14Z</dcterms:created>
  <dcterms:modified xsi:type="dcterms:W3CDTF">2026-07-03T08:48:14Z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2052-12.1.25895.25895</vt:lpwstr>
  </property>
  <property fmtid="{D5CDD505-2E9C-101B-9397-08002B2CF9AE}" pid="3" name="ICV">
    <vt:lpwstr>43935DC40F72AB72F51C446AAEB86442_41</vt:lpwstr>
  </property>
</Properties>
</file>