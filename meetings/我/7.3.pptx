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6"/>
  </p:notesMasterIdLst>
  <p:handoutMasterIdLst>
    <p:handoutMasterId r:id="rId19"/>
  </p:handoutMasterIdLst>
  <p:sldIdLst>
    <p:sldId id="256" r:id="rId3"/>
    <p:sldId id="259" r:id="rId4"/>
    <p:sldId id="265" r:id="rId5"/>
    <p:sldId id="261" r:id="rId7"/>
    <p:sldId id="262" r:id="rId8"/>
    <p:sldId id="266" r:id="rId9"/>
    <p:sldId id="267" r:id="rId10"/>
    <p:sldId id="279" r:id="rId11"/>
    <p:sldId id="268" r:id="rId12"/>
    <p:sldId id="270" r:id="rId13"/>
    <p:sldId id="280" r:id="rId14"/>
    <p:sldId id="281" r:id="rId15"/>
    <p:sldId id="276" r:id="rId16"/>
    <p:sldId id="282" r:id="rId17"/>
    <p:sldId id="278" r:id="rId18"/>
  </p:sldIdLst>
  <p:sldSz cx="12192000" cy="6858000"/>
  <p:notesSz cx="6858000" cy="9144000"/>
  <p:custDataLst>
    <p:tags r:id="rId23"/>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DCDCDC"/>
    <a:srgbClr val="F0F0F0"/>
    <a:srgbClr val="E6E6E6"/>
    <a:srgbClr val="C8C8C8"/>
    <a:srgbClr val="FAFAFA"/>
    <a:srgbClr val="BEBEB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E06FB2-9B10-4A49-BD92-07C697D3BEEB}" styleName="表样式 1 14">
    <a:wholeTbl>
      <a:tcTxStyle>
        <a:fontRef idx="none">
          <a:srgbClr val="000000"/>
        </a:fontRef>
      </a:tcTxStyle>
      <a:tcStyle>
        <a:tcBdr>
          <a:left>
            <a:ln w="12700" cmpd="sng">
              <a:solidFill>
                <a:schemeClr val="dk1"/>
              </a:solidFill>
              <a:prstDash val="solid"/>
            </a:ln>
          </a:left>
          <a:right>
            <a:ln w="12700" cmpd="sng">
              <a:solidFill>
                <a:schemeClr val="dk1"/>
              </a:solidFill>
              <a:prstDash val="solid"/>
            </a:ln>
          </a:right>
          <a:top>
            <a:ln w="12700" cmpd="sng">
              <a:solidFill>
                <a:schemeClr val="dk1"/>
              </a:solidFill>
              <a:prstDash val="solid"/>
            </a:ln>
          </a:top>
          <a:bottom>
            <a:ln w="12700" cmpd="sng">
              <a:solidFill>
                <a:schemeClr val="dk1"/>
              </a:solidFill>
              <a:prstDash val="solid"/>
            </a:ln>
          </a:bottom>
          <a:insideH>
            <a:ln>
              <a:noFill/>
            </a:ln>
          </a:insideH>
          <a:insideV>
            <a:ln>
              <a:noFill/>
            </a:ln>
          </a:insideV>
        </a:tcBdr>
        <a:fill>
          <a:solidFill>
            <a:srgbClr val="FFFFFF"/>
          </a:solidFill>
        </a:fill>
      </a:tcStyle>
    </a:wholeTbl>
    <a:band2H>
      <a:tcStyle>
        <a:tcBdr/>
        <a:fill>
          <a:solidFill>
            <a:schemeClr val="dk1">
              <a:lumMod val="10000"/>
              <a:lumOff val="90000"/>
            </a:schemeClr>
          </a:solidFill>
        </a:fill>
      </a:tcStyle>
    </a:band2H>
    <a:band1V>
      <a:tcStyle>
        <a:tcBdr/>
        <a:fill>
          <a:solidFill>
            <a:schemeClr val="dk1">
              <a:lumMod val="10000"/>
              <a:lumOff val="90000"/>
            </a:schemeClr>
          </a:solidFill>
        </a:fill>
      </a:tcStyle>
    </a:band1V>
    <a:lastCol>
      <a:tcTxStyle b="on">
        <a:fontRef idx="none">
          <a:srgbClr val="08090C"/>
        </a:fontRef>
      </a:tcTxStyle>
      <a:tcStyle>
        <a:tcBdr>
          <a:left>
            <a:ln>
              <a:noFill/>
            </a:ln>
          </a:left>
          <a:right>
            <a:ln w="12700" cmpd="sng">
              <a:solidFill>
                <a:schemeClr val="dk1"/>
              </a:solidFill>
              <a:prstDash val="solid"/>
            </a:ln>
          </a:right>
          <a:top>
            <a:ln w="12700" cmpd="sng">
              <a:solidFill>
                <a:schemeClr val="dk1"/>
              </a:solidFill>
              <a:prstDash val="solid"/>
            </a:ln>
          </a:top>
          <a:bottom>
            <a:ln w="12700" cmpd="sng">
              <a:solidFill>
                <a:schemeClr val="dk1"/>
              </a:solidFill>
              <a:prstDash val="solid"/>
            </a:ln>
          </a:bottom>
          <a:insideH>
            <a:ln>
              <a:noFill/>
            </a:ln>
          </a:insideH>
          <a:insideV>
            <a:ln>
              <a:noFill/>
            </a:ln>
          </a:insideV>
        </a:tcBdr>
        <a:fill>
          <a:solidFill>
            <a:schemeClr val="dk1">
              <a:lumMod val="20000"/>
              <a:lumOff val="80000"/>
            </a:schemeClr>
          </a:solidFill>
        </a:fill>
      </a:tcStyle>
    </a:lastCol>
    <a:firstCol>
      <a:tcTxStyle b="on">
        <a:fontRef idx="none">
          <a:srgbClr val="08090C"/>
        </a:fontRef>
      </a:tcTxStyle>
      <a:tcStyle>
        <a:tcBdr>
          <a:left>
            <a:ln w="12700" cmpd="sng">
              <a:solidFill>
                <a:schemeClr val="dk1"/>
              </a:solidFill>
              <a:prstDash val="solid"/>
            </a:ln>
          </a:left>
          <a:right>
            <a:ln>
              <a:noFill/>
            </a:ln>
          </a:right>
          <a:top>
            <a:ln w="12700" cmpd="sng">
              <a:solidFill>
                <a:schemeClr val="dk1"/>
              </a:solidFill>
              <a:prstDash val="solid"/>
            </a:ln>
          </a:top>
          <a:bottom>
            <a:ln w="12700" cmpd="sng">
              <a:solidFill>
                <a:schemeClr val="dk1"/>
              </a:solidFill>
              <a:prstDash val="solid"/>
            </a:ln>
          </a:bottom>
          <a:insideH>
            <a:ln>
              <a:noFill/>
            </a:ln>
          </a:insideH>
          <a:insideV>
            <a:ln>
              <a:noFill/>
            </a:ln>
          </a:insideV>
        </a:tcBdr>
        <a:fill>
          <a:solidFill>
            <a:schemeClr val="dk1">
              <a:lumMod val="20000"/>
              <a:lumOff val="80000"/>
            </a:schemeClr>
          </a:solidFill>
        </a:fill>
      </a:tcStyle>
    </a:firstCol>
    <a:lastRow>
      <a:tcTxStyle b="on">
        <a:fontRef idx="none">
          <a:schemeClr val="dk1"/>
        </a:fontRef>
      </a:tcTxStyle>
      <a:tcStyle>
        <a:tcBdr>
          <a:left>
            <a:ln w="12700" cmpd="sng">
              <a:solidFill>
                <a:schemeClr val="dk1"/>
              </a:solidFill>
              <a:prstDash val="solid"/>
            </a:ln>
          </a:left>
          <a:right>
            <a:ln w="12700" cmpd="sng">
              <a:solidFill>
                <a:schemeClr val="dk1"/>
              </a:solidFill>
              <a:prstDash val="solid"/>
            </a:ln>
          </a:right>
          <a:top>
            <a:ln w="9525" cmpd="sng">
              <a:solidFill>
                <a:schemeClr val="dk1"/>
              </a:solidFill>
              <a:prstDash val="solid"/>
            </a:ln>
          </a:top>
          <a:bottom>
            <a:ln w="12700" cmpd="sng">
              <a:solidFill>
                <a:schemeClr val="dk1"/>
              </a:solidFill>
              <a:prstDash val="solid"/>
            </a:ln>
          </a:bottom>
          <a:insideH>
            <a:ln>
              <a:noFill/>
            </a:ln>
          </a:insideH>
          <a:insideV>
            <a:ln>
              <a:noFill/>
            </a:ln>
          </a:insideV>
        </a:tcBdr>
      </a:tcStyle>
    </a:lastRow>
    <a:seCell>
      <a:tcStyle>
        <a:tcBdr>
          <a:left>
            <a:ln>
              <a:noFill/>
            </a:ln>
          </a:left>
          <a:right>
            <a:ln w="12700" cmpd="sng">
              <a:solidFill>
                <a:schemeClr val="dk1"/>
              </a:solidFill>
              <a:prstDash val="solid"/>
            </a:ln>
          </a:right>
          <a:top>
            <a:ln w="9525" cmpd="sng">
              <a:solidFill>
                <a:schemeClr val="dk1"/>
              </a:solidFill>
              <a:prstDash val="solid"/>
            </a:ln>
          </a:top>
          <a:bottom>
            <a:ln w="12700" cmpd="sng">
              <a:solidFill>
                <a:schemeClr val="dk1"/>
              </a:solidFill>
              <a:prstDash val="solid"/>
            </a:ln>
          </a:bottom>
          <a:insideH>
            <a:ln>
              <a:noFill/>
            </a:ln>
          </a:insideH>
          <a:insideV>
            <a:ln>
              <a:noFill/>
            </a:ln>
          </a:insideV>
        </a:tcBdr>
        <a:fill>
          <a:solidFill>
            <a:srgbClr val="FFFFFF"/>
          </a:solidFill>
        </a:fill>
      </a:tcStyle>
    </a:seCell>
    <a:swCell>
      <a:tcStyle>
        <a:tcBdr>
          <a:left>
            <a:ln w="12700" cmpd="sng">
              <a:solidFill>
                <a:schemeClr val="dk1"/>
              </a:solidFill>
              <a:prstDash val="solid"/>
            </a:ln>
          </a:left>
          <a:right>
            <a:ln>
              <a:noFill/>
            </a:ln>
          </a:right>
          <a:top>
            <a:ln w="9525" cmpd="sng">
              <a:solidFill>
                <a:schemeClr val="dk1"/>
              </a:solidFill>
              <a:prstDash val="solid"/>
            </a:ln>
          </a:top>
          <a:bottom>
            <a:ln w="12700" cmpd="sng">
              <a:solidFill>
                <a:schemeClr val="dk1"/>
              </a:solidFill>
              <a:prstDash val="solid"/>
            </a:ln>
          </a:bottom>
          <a:insideH>
            <a:ln>
              <a:noFill/>
            </a:ln>
          </a:insideH>
          <a:insideV>
            <a:ln>
              <a:noFill/>
            </a:ln>
          </a:insideV>
        </a:tcBdr>
        <a:fill>
          <a:solidFill>
            <a:srgbClr val="FFFFFF"/>
          </a:solidFill>
        </a:fill>
      </a:tcStyle>
    </a:swCell>
    <a:firstRow>
      <a:tcTxStyle b="on">
        <a:fontRef idx="none">
          <a:schemeClr val="dk1"/>
        </a:fontRef>
      </a:tcTxStyle>
      <a:tcStyle>
        <a:tcBdr>
          <a:left>
            <a:ln w="12700" cmpd="sng">
              <a:solidFill>
                <a:schemeClr val="dk1"/>
              </a:solidFill>
              <a:prstDash val="solid"/>
            </a:ln>
          </a:left>
          <a:right>
            <a:ln w="12700" cmpd="sng">
              <a:solidFill>
                <a:schemeClr val="dk1"/>
              </a:solidFill>
              <a:prstDash val="solid"/>
            </a:ln>
          </a:right>
          <a:top>
            <a:ln w="12700" cmpd="sng">
              <a:solidFill>
                <a:schemeClr val="dk1"/>
              </a:solidFill>
              <a:prstDash val="solid"/>
            </a:ln>
          </a:top>
          <a:bottom>
            <a:ln w="12700" cmpd="sng">
              <a:solidFill>
                <a:schemeClr val="dk1"/>
              </a:solidFill>
              <a:prstDash val="solid"/>
            </a:ln>
          </a:bottom>
          <a:insideH>
            <a:ln>
              <a:noFill/>
            </a:ln>
          </a:insideH>
          <a:insideV>
            <a:ln>
              <a:noFill/>
            </a:ln>
          </a:insideV>
        </a:tcBdr>
        <a:fill>
          <a:solidFill>
            <a:srgbClr val="FFFFFF"/>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4660"/>
  </p:normalViewPr>
  <p:slideViewPr>
    <p:cSldViewPr snapToGrid="0" showGuides="1">
      <p:cViewPr varScale="1">
        <p:scale>
          <a:sx n="99" d="100"/>
          <a:sy n="99" d="100"/>
        </p:scale>
        <p:origin x="84" y="582"/>
      </p:cViewPr>
      <p:guideLst>
        <p:guide orient="horz" pos="2137"/>
        <p:guide pos="3840"/>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notesMaster" Target="notesMasters/notesMaster1.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3" Type="http://schemas.openxmlformats.org/officeDocument/2006/relationships/tags" Target="tags/tag80.xml"/><Relationship Id="rId22" Type="http://schemas.openxmlformats.org/officeDocument/2006/relationships/tableStyles" Target="tableStyles.xml"/><Relationship Id="rId21" Type="http://schemas.openxmlformats.org/officeDocument/2006/relationships/viewProps" Target="viewProps.xml"/><Relationship Id="rId20" Type="http://schemas.openxmlformats.org/officeDocument/2006/relationships/presProps" Target="presProps.xml"/><Relationship Id="rId2" Type="http://schemas.openxmlformats.org/officeDocument/2006/relationships/theme" Target="theme/theme1.xml"/><Relationship Id="rId19" Type="http://schemas.openxmlformats.org/officeDocument/2006/relationships/handoutMaster" Target="handoutMasters/handoutMaster1.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zh-CN"/>
              <a:t>1. GA </a:t>
            </a:r>
            <a:r>
              <a:rPr lang="zh-CN" altLang="en-US"/>
              <a:t>是干什么的？</a:t>
            </a:r>
            <a:endParaRPr lang="zh-CN" altLang="en-US"/>
          </a:p>
          <a:p>
            <a:endParaRPr lang="en-US" altLang="zh-CN"/>
          </a:p>
          <a:p>
            <a:r>
              <a:rPr lang="en-US" altLang="zh-CN"/>
              <a:t>GA = Genetic Algorithm，</a:t>
            </a:r>
            <a:r>
              <a:rPr lang="zh-CN" altLang="en-US"/>
              <a:t>遗传算法。</a:t>
            </a:r>
            <a:endParaRPr lang="zh-CN" altLang="en-US"/>
          </a:p>
          <a:p>
            <a:endParaRPr lang="en-US" altLang="zh-CN"/>
          </a:p>
          <a:p>
            <a:r>
              <a:rPr lang="zh-CN" altLang="en-US"/>
              <a:t>它主要回答的问题是：</a:t>
            </a:r>
            <a:endParaRPr lang="zh-CN" altLang="en-US"/>
          </a:p>
          <a:p>
            <a:endParaRPr lang="en-US" altLang="zh-CN"/>
          </a:p>
          <a:p>
            <a:r>
              <a:rPr lang="zh-CN" altLang="en-US"/>
              <a:t>哪一组参数让模拟值和观测值最接近？</a:t>
            </a:r>
            <a:endParaRPr lang="zh-CN" altLang="en-US"/>
          </a:p>
          <a:p>
            <a:endParaRPr lang="en-US" altLang="zh-CN"/>
          </a:p>
          <a:p>
            <a:r>
              <a:rPr lang="zh-CN" altLang="en-US"/>
              <a:t>也就是找一个 </a:t>
            </a:r>
            <a:r>
              <a:rPr lang="en-US" altLang="zh-CN"/>
              <a:t>best-fit：</a:t>
            </a:r>
            <a:endParaRPr lang="en-US" altLang="zh-CN"/>
          </a:p>
          <a:p>
            <a:endParaRPr lang="en-US" altLang="zh-CN"/>
          </a:p>
          <a:p>
            <a:r>
              <a:rPr lang="en-US" altLang="zh-CN"/>
              <a:t>(kw,old ,kw,average ,kw,new)</a:t>
            </a:r>
            <a:endParaRPr lang="en-US" altLang="zh-CN"/>
          </a:p>
          <a:p>
            <a:endParaRPr lang="en-US" altLang="zh-CN"/>
          </a:p>
          <a:p>
            <a:r>
              <a:rPr lang="en-US" altLang="zh-CN"/>
              <a:t>GA </a:t>
            </a:r>
            <a:r>
              <a:rPr lang="zh-CN" altLang="en-US"/>
              <a:t>的优点是适合找最优解，尤其参数空间比较复杂时，它比普通 </a:t>
            </a:r>
            <a:r>
              <a:rPr lang="en-US" altLang="zh-CN"/>
              <a:t>grid search </a:t>
            </a:r>
            <a:r>
              <a:rPr lang="zh-CN" altLang="en-US"/>
              <a:t>更灵活。</a:t>
            </a:r>
            <a:endParaRPr lang="zh-CN" altLang="en-US"/>
          </a:p>
          <a:p>
            <a:endParaRPr lang="en-US" altLang="zh-CN"/>
          </a:p>
          <a:p>
            <a:r>
              <a:rPr lang="zh-CN" altLang="en-US"/>
              <a:t>但是它的问题是：</a:t>
            </a:r>
            <a:endParaRPr lang="zh-CN" altLang="en-US"/>
          </a:p>
          <a:p>
            <a:endParaRPr lang="en-US" altLang="zh-CN"/>
          </a:p>
          <a:p>
            <a:r>
              <a:rPr lang="zh-CN" altLang="en-US"/>
              <a:t>它通常最后给你一个“最优参数组合”，但不直接告诉你还有多少别的参数组合也差不多好。</a:t>
            </a:r>
            <a:endParaRPr lang="zh-CN" altLang="en-US"/>
          </a:p>
          <a:p>
            <a:endParaRPr lang="en-US" altLang="zh-CN"/>
          </a:p>
          <a:p>
            <a:r>
              <a:rPr lang="zh-CN" altLang="en-US"/>
              <a:t>在你的论文里，这不够。因为你的结果已经说明，很多不同的 </a:t>
            </a:r>
            <a:r>
              <a:rPr lang="en-US" altLang="zh-CN"/>
              <a:t>kw</a:t>
            </a:r>
            <a:r>
              <a:rPr lang="zh-CN" altLang="en-US"/>
              <a:t>组合都能解释 </a:t>
            </a:r>
            <a:r>
              <a:rPr lang="en-US" altLang="zh-CN"/>
              <a:t>noisy observations。</a:t>
            </a:r>
            <a:r>
              <a:rPr lang="zh-CN" altLang="en-US"/>
              <a:t>所以如果只用 </a:t>
            </a:r>
            <a:r>
              <a:rPr lang="en-US" altLang="zh-CN"/>
              <a:t>GA，</a:t>
            </a:r>
            <a:r>
              <a:rPr lang="zh-CN" altLang="en-US"/>
              <a:t>你可能会得到一个看起来很准的 </a:t>
            </a:r>
            <a:r>
              <a:rPr lang="en-US" altLang="zh-CN"/>
              <a:t>best-fit，</a:t>
            </a:r>
            <a:r>
              <a:rPr lang="zh-CN" altLang="en-US"/>
              <a:t>但会隐藏参数不可辨识的问题。</a:t>
            </a:r>
            <a:endParaRPr lang="zh-CN" altLang="en-US"/>
          </a:p>
          <a:p>
            <a:endParaRPr lang="en-US" altLang="zh-CN"/>
          </a:p>
          <a:p>
            <a:r>
              <a:rPr lang="zh-CN" altLang="en-US"/>
              <a:t>简单说：</a:t>
            </a:r>
            <a:endParaRPr lang="zh-CN" altLang="en-US"/>
          </a:p>
          <a:p>
            <a:endParaRPr lang="en-US" altLang="zh-CN"/>
          </a:p>
          <a:p>
            <a:r>
              <a:rPr lang="en-US" altLang="zh-CN"/>
              <a:t>GA </a:t>
            </a:r>
            <a:r>
              <a:rPr lang="zh-CN" altLang="en-US"/>
              <a:t>适合找最优值，但不适合直接表达“这个最优值有多不确定”。</a:t>
            </a:r>
            <a:endParaRPr lang="zh-CN" altLang="en-US"/>
          </a:p>
          <a:p>
            <a:endParaRPr lang="en-US" altLang="zh-CN"/>
          </a:p>
          <a:p>
            <a:r>
              <a:rPr lang="en-US" altLang="zh-CN"/>
              <a:t>2. Bayesian / MCMC </a:t>
            </a:r>
            <a:r>
              <a:rPr lang="zh-CN" altLang="en-US"/>
              <a:t>是干什么的？</a:t>
            </a:r>
            <a:endParaRPr lang="zh-CN" altLang="en-US"/>
          </a:p>
          <a:p>
            <a:endParaRPr lang="en-US" altLang="zh-CN"/>
          </a:p>
          <a:p>
            <a:r>
              <a:rPr lang="en-US" altLang="zh-CN"/>
              <a:t>Bayesian / MCMC </a:t>
            </a:r>
            <a:r>
              <a:rPr lang="zh-CN" altLang="en-US"/>
              <a:t>主要回答的问题是：</a:t>
            </a:r>
            <a:endParaRPr lang="zh-CN" altLang="en-US"/>
          </a:p>
          <a:p>
            <a:endParaRPr lang="en-US" altLang="zh-CN"/>
          </a:p>
          <a:p>
            <a:r>
              <a:rPr lang="zh-CN" altLang="en-US"/>
              <a:t>在给定观测数据和统计假设后，参数的 </a:t>
            </a:r>
            <a:r>
              <a:rPr lang="en-US" altLang="zh-CN"/>
              <a:t>posterior distribution </a:t>
            </a:r>
            <a:r>
              <a:rPr lang="zh-CN" altLang="en-US"/>
              <a:t>是什么？</a:t>
            </a:r>
            <a:endParaRPr lang="zh-CN" altLang="en-US"/>
          </a:p>
          <a:p>
            <a:endParaRPr lang="en-US" altLang="zh-CN"/>
          </a:p>
          <a:p>
            <a:r>
              <a:rPr lang="zh-CN" altLang="en-US"/>
              <a:t>它比 </a:t>
            </a:r>
            <a:r>
              <a:rPr lang="en-US" altLang="zh-CN"/>
              <a:t>GLUE </a:t>
            </a:r>
            <a:r>
              <a:rPr lang="zh-CN" altLang="en-US"/>
              <a:t>更正式，因为它可以给出严格意义上的 </a:t>
            </a:r>
            <a:r>
              <a:rPr lang="en-US" altLang="zh-CN"/>
              <a:t>posterior distribution。</a:t>
            </a:r>
            <a:endParaRPr lang="en-US" altLang="zh-CN"/>
          </a:p>
          <a:p>
            <a:endParaRPr lang="en-US" altLang="zh-CN"/>
          </a:p>
          <a:p>
            <a:r>
              <a:rPr lang="zh-CN" altLang="en-US"/>
              <a:t>但是它有几个问题：</a:t>
            </a:r>
            <a:endParaRPr lang="zh-CN" altLang="en-US"/>
          </a:p>
          <a:p>
            <a:endParaRPr lang="en-US" altLang="zh-CN"/>
          </a:p>
          <a:p>
            <a:r>
              <a:rPr lang="zh-CN" altLang="en-US"/>
              <a:t>你需要定义很明确的 </a:t>
            </a:r>
            <a:r>
              <a:rPr lang="en-US" altLang="zh-CN"/>
              <a:t>likelihood；</a:t>
            </a:r>
            <a:endParaRPr lang="en-US" altLang="zh-CN"/>
          </a:p>
          <a:p>
            <a:r>
              <a:rPr lang="zh-CN" altLang="en-US"/>
              <a:t>你需要合理设置 </a:t>
            </a:r>
            <a:r>
              <a:rPr lang="en-US" altLang="zh-CN"/>
              <a:t>prior；</a:t>
            </a:r>
            <a:endParaRPr lang="en-US" altLang="zh-CN"/>
          </a:p>
          <a:p>
            <a:r>
              <a:rPr lang="zh-CN" altLang="en-US"/>
              <a:t>你要清楚 </a:t>
            </a:r>
            <a:r>
              <a:rPr lang="en-US" altLang="zh-CN"/>
              <a:t>measurement error、model error、hydraulic error </a:t>
            </a:r>
            <a:r>
              <a:rPr lang="zh-CN" altLang="en-US"/>
              <a:t>怎么进入模型；</a:t>
            </a:r>
            <a:endParaRPr lang="zh-CN" altLang="en-US"/>
          </a:p>
          <a:p>
            <a:r>
              <a:rPr lang="en-US" altLang="zh-CN"/>
              <a:t>MCMC </a:t>
            </a:r>
            <a:r>
              <a:rPr lang="zh-CN" altLang="en-US"/>
              <a:t>计算量可能很大，因为每一步都要跑 </a:t>
            </a:r>
            <a:r>
              <a:rPr lang="en-US" altLang="zh-CN"/>
              <a:t>WNTR/EPANET；</a:t>
            </a:r>
            <a:endParaRPr lang="en-US" altLang="zh-CN"/>
          </a:p>
          <a:p>
            <a:r>
              <a:rPr lang="zh-CN" altLang="en-US"/>
              <a:t>如果模型误差和传感器误差没有定义清楚，</a:t>
            </a:r>
            <a:r>
              <a:rPr lang="en-US" altLang="zh-CN"/>
              <a:t>Bayesian </a:t>
            </a:r>
            <a:r>
              <a:rPr lang="zh-CN" altLang="en-US"/>
              <a:t>的“严格性”反而可能是假严格。</a:t>
            </a:r>
            <a:endParaRPr lang="zh-CN" altLang="en-US"/>
          </a:p>
          <a:p>
            <a:endParaRPr lang="en-US" altLang="zh-CN"/>
          </a:p>
          <a:p>
            <a:r>
              <a:rPr lang="zh-CN" altLang="en-US"/>
              <a:t>你的论文现在是 </a:t>
            </a:r>
            <a:r>
              <a:rPr lang="en-US" altLang="zh-CN"/>
              <a:t>Net3 synthetic prototype，</a:t>
            </a:r>
            <a:r>
              <a:rPr lang="zh-CN" altLang="en-US"/>
              <a:t>不是真实网络完整 </a:t>
            </a:r>
            <a:r>
              <a:rPr lang="en-US" altLang="zh-CN"/>
              <a:t>Bayesian inference。</a:t>
            </a:r>
            <a:r>
              <a:rPr lang="zh-CN" altLang="en-US"/>
              <a:t>因此直接上 </a:t>
            </a:r>
            <a:r>
              <a:rPr lang="en-US" altLang="zh-CN"/>
              <a:t>Bayesian/MCMC </a:t>
            </a:r>
            <a:r>
              <a:rPr lang="zh-CN" altLang="en-US"/>
              <a:t>会显得过重，而且需要解释很多额外统计假设。</a:t>
            </a:r>
            <a:endParaRPr lang="zh-CN" altLang="en-US"/>
          </a:p>
          <a:p>
            <a:endParaRPr lang="en-US" altLang="zh-CN"/>
          </a:p>
          <a:p>
            <a:r>
              <a:rPr lang="zh-CN" altLang="en-US"/>
              <a:t>简单说：</a:t>
            </a:r>
            <a:r>
              <a:rPr lang="en-US" altLang="zh-CN"/>
              <a:t>Bayesian/MCMC </a:t>
            </a:r>
            <a:r>
              <a:rPr lang="zh-CN" altLang="en-US"/>
              <a:t>更正式，但要求更高、计算更重、假设更多。</a:t>
            </a:r>
            <a:endParaRPr lang="zh-CN" altLang="en-US"/>
          </a:p>
          <a:p>
            <a:endParaRPr lang="en-US" altLang="zh-CN"/>
          </a:p>
          <a:p>
            <a:r>
              <a:rPr lang="en-US" altLang="zh-CN"/>
              <a:t>3. GLUE </a:t>
            </a:r>
            <a:r>
              <a:rPr lang="zh-CN" altLang="en-US"/>
              <a:t>是干什么的？</a:t>
            </a:r>
            <a:endParaRPr lang="zh-CN" altLang="en-US"/>
          </a:p>
          <a:p>
            <a:endParaRPr lang="en-US" altLang="zh-CN"/>
          </a:p>
          <a:p>
            <a:r>
              <a:rPr lang="en-US" altLang="zh-CN"/>
              <a:t>GLUE </a:t>
            </a:r>
            <a:r>
              <a:rPr lang="zh-CN" altLang="en-US"/>
              <a:t>回答的问题是：</a:t>
            </a:r>
            <a:endParaRPr lang="zh-CN" altLang="en-US"/>
          </a:p>
          <a:p>
            <a:endParaRPr lang="en-US" altLang="zh-CN"/>
          </a:p>
          <a:p>
            <a:r>
              <a:rPr lang="zh-CN" altLang="en-US"/>
              <a:t>哪些参数组合都能在可接受误差范围内解释观测数据？</a:t>
            </a:r>
            <a:endParaRPr lang="zh-CN" altLang="en-US"/>
          </a:p>
          <a:p>
            <a:endParaRPr lang="en-US" altLang="zh-CN"/>
          </a:p>
          <a:p>
            <a:r>
              <a:rPr lang="zh-CN" altLang="en-US"/>
              <a:t>它不是只找一个最优解，而是保留很多组 </a:t>
            </a:r>
            <a:r>
              <a:rPr lang="en-US" altLang="zh-CN"/>
              <a:t>behavioural parameter sets。</a:t>
            </a:r>
            <a:endParaRPr lang="en-US" altLang="zh-CN"/>
          </a:p>
          <a:p>
            <a:endParaRPr lang="en-US" altLang="zh-CN"/>
          </a:p>
          <a:p>
            <a:r>
              <a:rPr lang="zh-CN" altLang="en-US"/>
              <a:t>比如你采样 2000 组三个 </a:t>
            </a:r>
            <a:r>
              <a:rPr lang="en-US" altLang="zh-CN"/>
              <a:t>kw：</a:t>
            </a:r>
            <a:endParaRPr lang="en-US" altLang="zh-CN"/>
          </a:p>
          <a:p>
            <a:endParaRPr lang="en-US" altLang="zh-CN"/>
          </a:p>
          <a:p>
            <a:r>
              <a:rPr lang="en-US" altLang="zh-CN"/>
              <a:t>(kw,old ,kw,average ,kw,new)</a:t>
            </a:r>
            <a:endParaRPr lang="en-US" altLang="zh-CN"/>
          </a:p>
          <a:p>
            <a:endParaRPr lang="en-US" altLang="zh-CN"/>
          </a:p>
          <a:p>
            <a:r>
              <a:rPr lang="zh-CN" altLang="en-US"/>
              <a:t>然后看哪些组合的 </a:t>
            </a:r>
            <a:r>
              <a:rPr lang="en-US" altLang="zh-CN"/>
              <a:t>RMSE </a:t>
            </a:r>
            <a:r>
              <a:rPr lang="zh-CN" altLang="en-US"/>
              <a:t>小于阈值。满足条件的保留下来，并给它们权重。</a:t>
            </a:r>
            <a:endParaRPr lang="zh-CN" altLang="en-US"/>
          </a:p>
          <a:p>
            <a:endParaRPr lang="en-US" altLang="zh-CN"/>
          </a:p>
          <a:p>
            <a:r>
              <a:rPr lang="zh-CN" altLang="en-US"/>
              <a:t>所以 </a:t>
            </a:r>
            <a:r>
              <a:rPr lang="en-US" altLang="zh-CN"/>
              <a:t>GLUE </a:t>
            </a:r>
            <a:r>
              <a:rPr lang="zh-CN" altLang="en-US"/>
              <a:t>的输出不是：</a:t>
            </a:r>
            <a:endParaRPr lang="en-US" altLang="zh-CN"/>
          </a:p>
          <a:p>
            <a:r>
              <a:rPr lang="zh-CN" altLang="en-US"/>
              <a:t>这一个 </a:t>
            </a:r>
            <a:r>
              <a:rPr lang="en-US" altLang="zh-CN"/>
              <a:t>kw</a:t>
            </a:r>
            <a:r>
              <a:rPr lang="zh-CN" altLang="en-US"/>
              <a:t>是答案。</a:t>
            </a:r>
            <a:endParaRPr lang="zh-CN" altLang="en-US"/>
          </a:p>
          <a:p>
            <a:endParaRPr lang="en-US" altLang="zh-CN"/>
          </a:p>
          <a:p>
            <a:r>
              <a:rPr lang="zh-CN" altLang="en-US"/>
              <a:t>而是：这些 </a:t>
            </a:r>
            <a:r>
              <a:rPr lang="en-US" altLang="zh-CN"/>
              <a:t>kw</a:t>
            </a:r>
            <a:r>
              <a:rPr lang="zh-CN" altLang="en-US"/>
              <a:t> 组合都可能合理，只是权重不同。</a:t>
            </a:r>
            <a:endParaRPr lang="zh-CN" altLang="en-US"/>
          </a:p>
          <a:p>
            <a:endParaRPr lang="en-US" altLang="zh-CN"/>
          </a:p>
          <a:p>
            <a:r>
              <a:rPr lang="zh-CN" altLang="en-US"/>
              <a:t>这正好适合你的论文，因为你的核心发现是：</a:t>
            </a:r>
            <a:endParaRPr lang="zh-CN" altLang="en-US"/>
          </a:p>
          <a:p>
            <a:r>
              <a:rPr lang="en-US" altLang="zh-CN"/>
              <a:t>Grid search </a:t>
            </a:r>
            <a:r>
              <a:rPr lang="zh-CN" altLang="en-US"/>
              <a:t>可以找到接近真值的 </a:t>
            </a:r>
            <a:r>
              <a:rPr lang="en-US" altLang="zh-CN"/>
              <a:t>best-fit，</a:t>
            </a:r>
            <a:r>
              <a:rPr lang="zh-CN" altLang="en-US"/>
              <a:t>但 </a:t>
            </a:r>
            <a:r>
              <a:rPr lang="en-US" altLang="zh-CN"/>
              <a:t>GLUE </a:t>
            </a:r>
            <a:r>
              <a:rPr lang="zh-CN" altLang="en-US"/>
              <a:t>显示参数范围没有明显收窄，说明 </a:t>
            </a:r>
            <a:r>
              <a:rPr lang="en-US" altLang="zh-CN"/>
              <a:t>kw</a:t>
            </a:r>
            <a:r>
              <a:rPr lang="zh-CN" altLang="en-US"/>
              <a:t>是 </a:t>
            </a:r>
            <a:r>
              <a:rPr lang="en-US" altLang="zh-CN"/>
              <a:t>weakly identifiable。</a:t>
            </a:r>
            <a:endParaRPr lang="en-US" altLang="zh-CN"/>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sym typeface="+mn-ea"/>
              </a:rPr>
              <a:t>• 均匀先验：3个</a:t>
            </a:r>
            <a:r>
              <a:rPr lang="en-US" altLang="zh-CN">
                <a:sym typeface="+mn-ea"/>
              </a:rPr>
              <a:t>kw</a:t>
            </a:r>
            <a:r>
              <a:rPr lang="zh-CN" altLang="en-US">
                <a:sym typeface="+mn-ea"/>
              </a:rPr>
              <a:t>在各自范围内一开始"同等可能"（不预设某个值更对）；</a:t>
            </a:r>
            <a:r>
              <a:rPr lang="en-US" altLang="zh-CN">
                <a:sym typeface="+mn-ea"/>
              </a:rPr>
              <a:t>k_b </a:t>
            </a:r>
            <a:r>
              <a:rPr lang="zh-CN" altLang="en-US">
                <a:sym typeface="+mn-ea"/>
              </a:rPr>
              <a:t>固定不反演。</a:t>
            </a:r>
            <a:endParaRPr lang="zh-CN" altLang="en-US"/>
          </a:p>
          <a:p>
            <a:r>
              <a:rPr lang="zh-CN" altLang="en-US">
                <a:sym typeface="+mn-ea"/>
              </a:rPr>
              <a:t>•流程：</a:t>
            </a:r>
            <a:endParaRPr lang="zh-CN" altLang="en-US"/>
          </a:p>
          <a:p>
            <a:r>
              <a:rPr lang="zh-CN" altLang="en-US">
                <a:sym typeface="+mn-ea"/>
              </a:rPr>
              <a:t>1.从先验蒙特卡洛抽样 </a:t>
            </a:r>
            <a:r>
              <a:rPr lang="en-US" altLang="zh-CN">
                <a:sym typeface="+mn-ea"/>
              </a:rPr>
              <a:t>2000</a:t>
            </a:r>
            <a:r>
              <a:rPr lang="zh-CN" altLang="en-US">
                <a:sym typeface="+mn-ea"/>
              </a:rPr>
              <a:t>组（</a:t>
            </a:r>
            <a:r>
              <a:rPr lang="en-US" altLang="zh-CN">
                <a:sym typeface="+mn-ea"/>
              </a:rPr>
              <a:t>kw_old, kw_avg, kw_new）；</a:t>
            </a:r>
            <a:endParaRPr lang="en-US" altLang="zh-CN"/>
          </a:p>
          <a:p>
            <a:r>
              <a:rPr lang="zh-CN" altLang="en-US">
                <a:sym typeface="+mn-ea"/>
              </a:rPr>
              <a:t>2.每组跑 </a:t>
            </a:r>
            <a:r>
              <a:rPr lang="en-US" altLang="zh-CN">
                <a:sym typeface="+mn-ea"/>
              </a:rPr>
              <a:t>WNTR</a:t>
            </a:r>
            <a:r>
              <a:rPr lang="zh-CN" altLang="en-US">
                <a:sym typeface="+mn-ea"/>
              </a:rPr>
              <a:t>正向，算监测点 </a:t>
            </a:r>
            <a:r>
              <a:rPr lang="en-US" altLang="zh-CN">
                <a:sym typeface="+mn-ea"/>
              </a:rPr>
              <a:t>RMSE；</a:t>
            </a:r>
            <a:endParaRPr lang="en-US" altLang="zh-CN"/>
          </a:p>
          <a:p>
            <a:r>
              <a:rPr lang="en-US" altLang="zh-CN">
                <a:sym typeface="+mn-ea"/>
              </a:rPr>
              <a:t>3. RMSE </a:t>
            </a:r>
            <a:r>
              <a:rPr lang="zh-CN" altLang="en-US">
                <a:sym typeface="+mn-ea"/>
              </a:rPr>
              <a:t>高斯似然</a:t>
            </a:r>
            <a:r>
              <a:rPr lang="en-US" altLang="zh-CN">
                <a:sym typeface="+mn-ea"/>
              </a:rPr>
              <a:t>；</a:t>
            </a:r>
            <a:endParaRPr lang="en-US" altLang="zh-CN"/>
          </a:p>
          <a:p>
            <a:r>
              <a:rPr lang="zh-CN" altLang="en-US">
                <a:sym typeface="+mn-ea"/>
              </a:rPr>
              <a:t>4.用</a:t>
            </a:r>
            <a:r>
              <a:rPr lang="en-US" altLang="zh-CN">
                <a:sym typeface="+mn-ea"/>
              </a:rPr>
              <a:t>behavioural </a:t>
            </a:r>
            <a:r>
              <a:rPr lang="zh-CN" altLang="en-US">
                <a:sym typeface="+mn-ea"/>
              </a:rPr>
              <a:t>阈值（</a:t>
            </a:r>
            <a:r>
              <a:rPr lang="en-US" altLang="zh-CN">
                <a:sym typeface="+mn-ea"/>
              </a:rPr>
              <a:t>RMSE＜0.12mg/L</a:t>
            </a:r>
            <a:r>
              <a:rPr lang="zh-CN" altLang="en-US">
                <a:sym typeface="+mn-ea"/>
              </a:rPr>
              <a:t>）筛掉差的；</a:t>
            </a:r>
            <a:endParaRPr lang="zh-CN" altLang="en-US"/>
          </a:p>
          <a:p>
            <a:r>
              <a:rPr lang="zh-CN" altLang="en-US">
                <a:sym typeface="+mn-ea"/>
              </a:rPr>
              <a:t>5. 似然归一化成权重；</a:t>
            </a:r>
            <a:endParaRPr lang="zh-CN" altLang="en-US"/>
          </a:p>
          <a:p>
            <a:r>
              <a:rPr lang="zh-CN" altLang="en-US">
                <a:sym typeface="+mn-ea"/>
              </a:rPr>
              <a:t>6. 输出：</a:t>
            </a:r>
            <a:r>
              <a:rPr lang="en-US" altLang="zh-CN">
                <a:sym typeface="+mn-ea"/>
              </a:rPr>
              <a:t>behavioural kw </a:t>
            </a:r>
            <a:r>
              <a:rPr lang="zh-CN" altLang="en-US">
                <a:sym typeface="+mn-ea"/>
              </a:rPr>
              <a:t>分布、5-95% 预测区间、加权</a:t>
            </a:r>
            <a:endParaRPr lang="zh-CN" altLang="en-US"/>
          </a:p>
          <a:p>
            <a:r>
              <a:rPr lang="en-US" altLang="zh-CN">
                <a:sym typeface="+mn-ea"/>
              </a:rPr>
              <a:t>P(C&lt;0.2) </a:t>
            </a:r>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6" Type="http://schemas.openxmlformats.org/officeDocument/2006/relationships/tags" Target="../tags/tag10.xml"/><Relationship Id="rId5" Type="http://schemas.openxmlformats.org/officeDocument/2006/relationships/tags" Target="../tags/tag9.xml"/><Relationship Id="rId4" Type="http://schemas.openxmlformats.org/officeDocument/2006/relationships/tags" Target="../tags/tag8.xml"/><Relationship Id="rId3" Type="http://schemas.openxmlformats.org/officeDocument/2006/relationships/tags" Target="../tags/tag7.xml"/><Relationship Id="rId2" Type="http://schemas.openxmlformats.org/officeDocument/2006/relationships/tags" Target="../tags/tag6.xm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6" Type="http://schemas.openxmlformats.org/officeDocument/2006/relationships/tags" Target="../tags/tag15.xml"/><Relationship Id="rId5" Type="http://schemas.openxmlformats.org/officeDocument/2006/relationships/tags" Target="../tags/tag14.xml"/><Relationship Id="rId4" Type="http://schemas.openxmlformats.org/officeDocument/2006/relationships/tags" Target="../tags/tag13.xml"/><Relationship Id="rId3" Type="http://schemas.openxmlformats.org/officeDocument/2006/relationships/tags" Target="../tags/tag12.xml"/><Relationship Id="rId2" Type="http://schemas.openxmlformats.org/officeDocument/2006/relationships/tags" Target="../tags/tag11.xm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7" Type="http://schemas.openxmlformats.org/officeDocument/2006/relationships/tags" Target="../tags/tag21.xml"/><Relationship Id="rId6" Type="http://schemas.openxmlformats.org/officeDocument/2006/relationships/tags" Target="../tags/tag20.xml"/><Relationship Id="rId5" Type="http://schemas.openxmlformats.org/officeDocument/2006/relationships/tags" Target="../tags/tag19.xml"/><Relationship Id="rId4" Type="http://schemas.openxmlformats.org/officeDocument/2006/relationships/tags" Target="../tags/tag18.xml"/><Relationship Id="rId3" Type="http://schemas.openxmlformats.org/officeDocument/2006/relationships/tags" Target="../tags/tag17.xml"/><Relationship Id="rId2" Type="http://schemas.openxmlformats.org/officeDocument/2006/relationships/tags" Target="../tags/tag16.xm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9" Type="http://schemas.openxmlformats.org/officeDocument/2006/relationships/tags" Target="../tags/tag29.xml"/><Relationship Id="rId8" Type="http://schemas.openxmlformats.org/officeDocument/2006/relationships/tags" Target="../tags/tag28.xml"/><Relationship Id="rId7" Type="http://schemas.openxmlformats.org/officeDocument/2006/relationships/tags" Target="../tags/tag27.xml"/><Relationship Id="rId6" Type="http://schemas.openxmlformats.org/officeDocument/2006/relationships/tags" Target="../tags/tag26.xml"/><Relationship Id="rId5" Type="http://schemas.openxmlformats.org/officeDocument/2006/relationships/tags" Target="../tags/tag25.xml"/><Relationship Id="rId4" Type="http://schemas.openxmlformats.org/officeDocument/2006/relationships/tags" Target="../tags/tag24.xml"/><Relationship Id="rId3" Type="http://schemas.openxmlformats.org/officeDocument/2006/relationships/tags" Target="../tags/tag23.xml"/><Relationship Id="rId2" Type="http://schemas.openxmlformats.org/officeDocument/2006/relationships/tags" Target="../tags/tag22.xm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5" Type="http://schemas.openxmlformats.org/officeDocument/2006/relationships/tags" Target="../tags/tag33.xml"/><Relationship Id="rId4" Type="http://schemas.openxmlformats.org/officeDocument/2006/relationships/tags" Target="../tags/tag32.xml"/><Relationship Id="rId3" Type="http://schemas.openxmlformats.org/officeDocument/2006/relationships/tags" Target="../tags/tag31.xml"/><Relationship Id="rId2" Type="http://schemas.openxmlformats.org/officeDocument/2006/relationships/tags" Target="../tags/tag30.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4" Type="http://schemas.openxmlformats.org/officeDocument/2006/relationships/tags" Target="../tags/tag36.xml"/><Relationship Id="rId3" Type="http://schemas.openxmlformats.org/officeDocument/2006/relationships/tags" Target="../tags/tag35.xml"/><Relationship Id="rId2" Type="http://schemas.openxmlformats.org/officeDocument/2006/relationships/tags" Target="../tags/tag34.xm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7" Type="http://schemas.openxmlformats.org/officeDocument/2006/relationships/tags" Target="../tags/tag42.xml"/><Relationship Id="rId6" Type="http://schemas.openxmlformats.org/officeDocument/2006/relationships/tags" Target="../tags/tag41.xml"/><Relationship Id="rId5" Type="http://schemas.openxmlformats.org/officeDocument/2006/relationships/tags" Target="../tags/tag40.xml"/><Relationship Id="rId4" Type="http://schemas.openxmlformats.org/officeDocument/2006/relationships/tags" Target="../tags/tag39.xml"/><Relationship Id="rId3" Type="http://schemas.openxmlformats.org/officeDocument/2006/relationships/tags" Target="../tags/tag38.xml"/><Relationship Id="rId2" Type="http://schemas.openxmlformats.org/officeDocument/2006/relationships/tags" Target="../tags/tag37.xm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6" Type="http://schemas.openxmlformats.org/officeDocument/2006/relationships/tags" Target="../tags/tag47.xml"/><Relationship Id="rId5" Type="http://schemas.openxmlformats.org/officeDocument/2006/relationships/tags" Target="../tags/tag46.xml"/><Relationship Id="rId4" Type="http://schemas.openxmlformats.org/officeDocument/2006/relationships/tags" Target="../tags/tag45.xml"/><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5" Type="http://schemas.openxmlformats.org/officeDocument/2006/relationships/tags" Target="../tags/tag51.xml"/><Relationship Id="rId4" Type="http://schemas.openxmlformats.org/officeDocument/2006/relationships/tags" Target="../tags/tag50.xml"/><Relationship Id="rId3" Type="http://schemas.openxmlformats.org/officeDocument/2006/relationships/tags" Target="../tags/tag49.xml"/><Relationship Id="rId2" Type="http://schemas.openxmlformats.org/officeDocument/2006/relationships/tags" Target="../tags/tag48.xml"/><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6" Type="http://schemas.openxmlformats.org/officeDocument/2006/relationships/tags" Target="../tags/tag56.xml"/><Relationship Id="rId5" Type="http://schemas.openxmlformats.org/officeDocument/2006/relationships/tags" Target="../tags/tag55.xml"/><Relationship Id="rId4" Type="http://schemas.openxmlformats.org/officeDocument/2006/relationships/tags" Target="../tags/tag54.xml"/><Relationship Id="rId3" Type="http://schemas.openxmlformats.org/officeDocument/2006/relationships/tags" Target="../tags/tag53.xml"/><Relationship Id="rId2" Type="http://schemas.openxmlformats.org/officeDocument/2006/relationships/tags" Target="../tags/tag52.xm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custDataLst>
              <p:tags r:id="rId2"/>
            </p:custDataLst>
          </p:nvPr>
        </p:nvSpPr>
        <p:spPr>
          <a:xfrm>
            <a:off x="1198800" y="914400"/>
            <a:ext cx="9799200" cy="2570400"/>
          </a:xfrm>
        </p:spPr>
        <p:txBody>
          <a:bodyPr lIns="90000" tIns="46800" rIns="90000" bIns="46800" anchor="b" anchorCtr="0">
            <a:normAutofit/>
          </a:bodyPr>
          <a:lstStyle>
            <a:lvl1pPr algn="ctr">
              <a:defRPr sz="6000"/>
            </a:lvl1pPr>
          </a:lstStyle>
          <a:p>
            <a:r>
              <a:rPr lang="zh-CN" altLang="en-US" dirty="0"/>
              <a:t>单击此处编辑母版标题样式</a:t>
            </a:r>
            <a:endParaRPr lang="zh-CN" altLang="en-US" dirty="0"/>
          </a:p>
        </p:txBody>
      </p:sp>
      <p:sp>
        <p:nvSpPr>
          <p:cNvPr id="3" name="副标题 2"/>
          <p:cNvSpPr>
            <a:spLocks noGrp="1"/>
          </p:cNvSpPr>
          <p:nvPr>
            <p:ph type="subTitle" idx="1"/>
            <p:custDataLst>
              <p:tags r:id="rId3"/>
            </p:custDataLst>
          </p:nvPr>
        </p:nvSpPr>
        <p:spPr>
          <a:xfrm>
            <a:off x="1198800" y="3560400"/>
            <a:ext cx="9799200" cy="1472400"/>
          </a:xfrm>
        </p:spPr>
        <p:txBody>
          <a:bodyPr lIns="90000" tIns="46800" rIns="90000" bIns="46800">
            <a:normAutofit/>
          </a:bodyPr>
          <a:lstStyle>
            <a:lvl1pPr marL="0" indent="0" algn="ctr">
              <a:lnSpc>
                <a:spcPct val="110000"/>
              </a:lnSpc>
              <a:buNone/>
              <a:defRPr sz="2400" spc="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endParaRPr lang="zh-CN" altLang="en-US" dirty="0"/>
          </a:p>
        </p:txBody>
      </p:sp>
      <p:sp>
        <p:nvSpPr>
          <p:cNvPr id="16" name="日期占位符 15"/>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17" name="页脚占位符 16"/>
          <p:cNvSpPr>
            <a:spLocks noGrp="1"/>
          </p:cNvSpPr>
          <p:nvPr>
            <p:ph type="ftr" sz="quarter" idx="11"/>
            <p:custDataLst>
              <p:tags r:id="rId5"/>
            </p:custDataLst>
          </p:nvPr>
        </p:nvSpPr>
        <p:spPr/>
        <p:txBody>
          <a:bodyPr/>
          <a:lstStyle/>
          <a:p>
            <a:endParaRPr lang="zh-CN" altLang="en-US" dirty="0"/>
          </a:p>
        </p:txBody>
      </p:sp>
      <p:sp>
        <p:nvSpPr>
          <p:cNvPr id="18" name="灯片编号占位符 17"/>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zh-CN" altLang="en-US" smtClean="0"/>
              <a:t>单击此处编辑母版标题样式</a:t>
            </a:r>
            <a:endParaRPr lang="zh-CN" altLang="en-US"/>
          </a:p>
        </p:txBody>
      </p:sp>
      <p:sp>
        <p:nvSpPr>
          <p:cNvPr id="3" name="内容占位符 2"/>
          <p:cNvSpPr>
            <a:spLocks noGrp="1"/>
          </p:cNvSpPr>
          <p:nvPr>
            <p:ph idx="1"/>
            <p:custDataLst>
              <p:tags r:id="rId3"/>
            </p:custDataLst>
          </p:nvPr>
        </p:nvSpPr>
        <p:spPr>
          <a:xfrm>
            <a:off x="608400" y="1490400"/>
            <a:ext cx="10969200" cy="4759200"/>
          </a:xfrm>
        </p:spPr>
        <p:txBody>
          <a:bodyPr vert="horz" lIns="90000" tIns="46800" rIns="90000" bIns="46800" rtlCol="0">
            <a:normAutofit/>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a:xfrm>
            <a:off x="1990800" y="3848400"/>
            <a:ext cx="7768800" cy="766800"/>
          </a:xfrm>
        </p:spPr>
        <p:txBody>
          <a:bodyPr lIns="90000" tIns="46800" rIns="90000" bIns="46800" anchor="b" anchorCtr="0">
            <a:normAutofit/>
          </a:bodyPr>
          <a:lstStyle>
            <a:lvl1pPr>
              <a:defRPr sz="4400"/>
            </a:lvl1pPr>
          </a:lstStyle>
          <a:p>
            <a:r>
              <a:rPr lang="zh-CN" altLang="en-US" dirty="0"/>
              <a:t>单击此处编辑标题</a:t>
            </a:r>
            <a:endParaRPr lang="zh-CN" altLang="en-US" dirty="0"/>
          </a:p>
        </p:txBody>
      </p:sp>
      <p:sp>
        <p:nvSpPr>
          <p:cNvPr id="3" name="文本占位符 2"/>
          <p:cNvSpPr>
            <a:spLocks noGrp="1"/>
          </p:cNvSpPr>
          <p:nvPr>
            <p:ph type="body" idx="1" hasCustomPrompt="1"/>
            <p:custDataLst>
              <p:tags r:id="rId3"/>
            </p:custDataLst>
          </p:nvPr>
        </p:nvSpPr>
        <p:spPr>
          <a:xfrm>
            <a:off x="1990800" y="4615200"/>
            <a:ext cx="7768800" cy="867600"/>
          </a:xfrm>
        </p:spPr>
        <p:txBody>
          <a:bodyPr lIns="90000" tIns="46800" rIns="90000" bIns="46800">
            <a:normAutofit/>
          </a:bodyPr>
          <a:lstStyle>
            <a:lvl1pPr marL="0" indent="0">
              <a:buNone/>
              <a:defRPr sz="1800">
                <a:solidFill>
                  <a:schemeClr val="tx1">
                    <a:lumMod val="65000"/>
                    <a:lumOff val="35000"/>
                  </a:schemeClr>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单击此处编辑文本</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zh-CN" altLang="en-US" smtClean="0"/>
              <a:t>单击此处编辑母版标题样式</a:t>
            </a:r>
            <a:endParaRPr lang="zh-CN" altLang="en-US"/>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p:txBody>
          <a:bodyPr/>
          <a:lstStyle/>
          <a:p>
            <a:endParaRPr lang="zh-CN" altLang="en-US"/>
          </a:p>
        </p:txBody>
      </p:sp>
      <p:sp>
        <p:nvSpPr>
          <p:cNvPr id="7" name="灯片编号占位符 6"/>
          <p:cNvSpPr>
            <a:spLocks noGrp="1"/>
          </p:cNvSpPr>
          <p:nvPr>
            <p:ph type="sldNum" sz="quarter" idx="12"/>
            <p:custDataLst>
              <p:tags r:id="rId7"/>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zh-CN" altLang="en-US" smtClean="0"/>
              <a:t>单击此处编辑母版标题样式</a:t>
            </a:r>
            <a:endParaRPr lang="zh-CN" altLang="en-US"/>
          </a:p>
        </p:txBody>
      </p:sp>
      <p:sp>
        <p:nvSpPr>
          <p:cNvPr id="3" name="文本占位符 2"/>
          <p:cNvSpPr>
            <a:spLocks noGrp="1"/>
          </p:cNvSpPr>
          <p:nvPr>
            <p:ph type="body" idx="1" hasCustomPrompt="1"/>
            <p:custDataLst>
              <p:tags r:id="rId3"/>
            </p:custDataLst>
          </p:nvPr>
        </p:nvSpPr>
        <p:spPr>
          <a:xfrm>
            <a:off x="608400" y="1404000"/>
            <a:ext cx="5342400" cy="414000"/>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文本占位符 4"/>
          <p:cNvSpPr>
            <a:spLocks noGrp="1"/>
          </p:cNvSpPr>
          <p:nvPr>
            <p:ph type="body" sz="quarter" idx="3" hasCustomPrompt="1"/>
            <p:custDataLst>
              <p:tags r:id="rId5"/>
            </p:custDataLst>
          </p:nvPr>
        </p:nvSpPr>
        <p:spPr>
          <a:xfrm>
            <a:off x="6235750" y="1404000"/>
            <a:ext cx="5342400" cy="414000"/>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单击此处编辑文本</a:t>
            </a:r>
            <a:endParaRPr lang="zh-CN" altLang="en-US"/>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7" name="日期占位符 6"/>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p:txBody>
          <a:bodyPr/>
          <a:lstStyle/>
          <a:p>
            <a:endParaRPr lang="zh-CN" altLang="en-US"/>
          </a:p>
        </p:txBody>
      </p:sp>
      <p:sp>
        <p:nvSpPr>
          <p:cNvPr id="9" name="灯片编号占位符 8"/>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zh-CN" altLang="en-US" smtClean="0"/>
              <a:t>单击此处编辑母版标题样式</a:t>
            </a:r>
            <a:endParaRPr lang="zh-CN" altLang="en-US"/>
          </a:p>
        </p:txBody>
      </p:sp>
      <p:sp>
        <p:nvSpPr>
          <p:cNvPr id="3" name="日期占位符 2"/>
          <p:cNvSpPr>
            <a:spLocks noGrp="1"/>
          </p:cNvSpPr>
          <p:nvPr>
            <p:ph type="dt" sz="half" idx="10"/>
            <p:custDataLst>
              <p:tags r:id="rId3"/>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图片与标题">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a:buNone/>
              <a:defRPr sz="1600"/>
            </a:lvl1pPr>
          </a:lstStyle>
          <a:p>
            <a:pPr lvl="0"/>
            <a:endParaRPr lang="zh-CN" altLang="en-US"/>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a:buNone/>
              <a:defRPr sz="1600"/>
            </a:lvl1pPr>
          </a:lstStyle>
          <a:p>
            <a:pPr lvl="0"/>
            <a:r>
              <a:rPr lang="zh-CN" altLang="en-US" smtClean="0"/>
              <a:t>单击此处编辑母版文本样式</a:t>
            </a:r>
            <a:endParaRPr lang="zh-CN" altLang="en-US"/>
          </a:p>
        </p:txBody>
      </p:sp>
      <p:sp>
        <p:nvSpPr>
          <p:cNvPr id="5" name="日期占位符 4"/>
          <p:cNvSpPr>
            <a:spLocks noGrp="1"/>
          </p:cNvSpPr>
          <p:nvPr>
            <p:ph type="dt" sz="half" idx="10"/>
            <p:custDataLst>
              <p:tags r:id="rId4"/>
            </p:custDataLst>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custDataLst>
              <p:tags r:id="rId5"/>
            </p:custDataLst>
          </p:nvPr>
        </p:nvSpPr>
        <p:spPr/>
        <p:txBody>
          <a:bodyPr/>
          <a:lstStyle/>
          <a:p>
            <a:endParaRPr lang="zh-CN" altLang="en-US" dirty="0"/>
          </a:p>
        </p:txBody>
      </p:sp>
      <p:sp>
        <p:nvSpPr>
          <p:cNvPr id="7" name="灯片编号占位符 6"/>
          <p:cNvSpPr>
            <a:spLocks noGrp="1"/>
          </p:cNvSpPr>
          <p:nvPr>
            <p:ph type="sldNum" sz="quarter" idx="12"/>
            <p:custDataLst>
              <p:tags r:id="rId6"/>
            </p:custDataLst>
          </p:nvPr>
        </p:nvSpPr>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p:txBody>
          <a:bodyPr/>
          <a:p>
            <a:r>
              <a:rPr lang="zh-CN" altLang="en-US"/>
              <a:t>单击此处编辑母版标题样式</a:t>
            </a:r>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p:spPr>
        <p:txBody>
          <a:bodyPr vert="eaVert" lIns="90000" tIns="46800" rIns="90000" bIns="46800" rtlCol="0" anchor="ctr" anchorCtr="0">
            <a:normAutofit/>
          </a:bodyPr>
          <a:lstStyle>
            <a:lvl1pPr>
              <a:buNone/>
              <a:defRPr sz="2800"/>
            </a:lvl1pPr>
          </a:lstStyle>
          <a:p>
            <a:pPr lvl="0"/>
            <a:r>
              <a:rPr lang="zh-CN" altLang="en-US" smtClean="0"/>
              <a:t>单击此处编辑标题</a:t>
            </a:r>
            <a:endParaRPr lang="zh-CN" altLang="en-US"/>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末尾幻灯片">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800" y="2397600"/>
            <a:ext cx="9799200" cy="1105200"/>
          </a:xfrm>
        </p:spPr>
        <p:txBody>
          <a:bodyPr vert="horz" lIns="90000" tIns="46800" rIns="90000" bIns="46800" rtlCol="0" anchor="t" anchorCtr="0">
            <a:normAutofit/>
          </a:bodyPr>
          <a:lstStyle>
            <a:lvl1pPr algn="ctr">
              <a:defRPr sz="6000"/>
            </a:lvl1pPr>
          </a:lstStyle>
          <a:p>
            <a:pPr lvl="0"/>
            <a:r>
              <a:rPr lang="zh-CN" altLang="en-US" smtClean="0"/>
              <a:t>单击此处编辑标题</a:t>
            </a:r>
            <a:endParaRPr lang="zh-CN" altLang="en-US"/>
          </a:p>
        </p:txBody>
      </p:sp>
      <p:sp>
        <p:nvSpPr>
          <p:cNvPr id="7" name="文本占位符 6"/>
          <p:cNvSpPr>
            <a:spLocks noGrp="1"/>
          </p:cNvSpPr>
          <p:nvPr>
            <p:ph type="body" sz="quarter" idx="13"/>
            <p:custDataLst>
              <p:tags r:id="rId6"/>
            </p:custDataLst>
          </p:nvPr>
        </p:nvSpPr>
        <p:spPr>
          <a:xfrm>
            <a:off x="1198800" y="3560400"/>
            <a:ext cx="9799200" cy="504000"/>
          </a:xfrm>
        </p:spPr>
        <p:txBody>
          <a:bodyPr lIns="90000" tIns="46800" rIns="90000" bIns="46800">
            <a:normAutofit/>
          </a:bodyPr>
          <a:lstStyle>
            <a:lvl1pPr algn="ctr">
              <a:lnSpc>
                <a:spcPct val="110000"/>
              </a:lnSpc>
              <a:buNone/>
              <a:defRPr sz="2400" spc="200"/>
            </a:lvl1pPr>
          </a:lstStyle>
          <a:p>
            <a:pPr lvl="0"/>
            <a:r>
              <a:rPr lang="zh-CN" altLang="en-US" dirty="0"/>
              <a:t>单击此处编辑母版文本样式</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8" Type="http://schemas.openxmlformats.org/officeDocument/2006/relationships/theme" Target="../theme/theme1.xml"/><Relationship Id="rId17" Type="http://schemas.openxmlformats.org/officeDocument/2006/relationships/tags" Target="../tags/tag62.xml"/><Relationship Id="rId16" Type="http://schemas.openxmlformats.org/officeDocument/2006/relationships/tags" Target="../tags/tag61.xml"/><Relationship Id="rId15" Type="http://schemas.openxmlformats.org/officeDocument/2006/relationships/tags" Target="../tags/tag60.xml"/><Relationship Id="rId14" Type="http://schemas.openxmlformats.org/officeDocument/2006/relationships/tags" Target="../tags/tag59.xml"/><Relationship Id="rId13" Type="http://schemas.openxmlformats.org/officeDocument/2006/relationships/tags" Target="../tags/tag58.xml"/><Relationship Id="rId12" Type="http://schemas.openxmlformats.org/officeDocument/2006/relationships/tags" Target="../tags/tag57.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12"/>
            </p:custDataLst>
          </p:nvPr>
        </p:nvSpPr>
        <p:spPr>
          <a:xfrm>
            <a:off x="608400" y="608400"/>
            <a:ext cx="10969200" cy="705600"/>
          </a:xfrm>
          <a:prstGeom prst="rect">
            <a:avLst/>
          </a:prstGeom>
        </p:spPr>
        <p:txBody>
          <a:bodyPr vert="horz" lIns="90170" tIns="46990" rIns="90170" bIns="46990" rtlCol="0" anchor="ctr" anchorCtr="0">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13"/>
            </p:custDataLst>
          </p:nvPr>
        </p:nvSpPr>
        <p:spPr>
          <a:xfrm>
            <a:off x="608400" y="1490400"/>
            <a:ext cx="10969200" cy="4759200"/>
          </a:xfrm>
          <a:prstGeom prst="rect">
            <a:avLst/>
          </a:prstGeom>
        </p:spPr>
        <p:txBody>
          <a:bodyPr vert="horz" lIns="90000" tIns="46800" rIns="90000" bIns="4680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custDataLst>
              <p:tags r:id="rId14"/>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custDataLst>
              <p:tags r:id="rId15"/>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16"/>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defRPr>
            </a:lvl1pPr>
          </a:lstStyle>
          <a:p>
            <a:fld id="{49AE70B2-8BF9-45C0-BB95-33D1B9D3A854}" type="slidenum">
              <a:rPr lang="zh-CN" altLang="en-US" smtClean="0"/>
            </a:fld>
            <a:endParaRPr lang="zh-CN" altLang="en-US" dirty="0"/>
          </a:p>
        </p:txBody>
      </p:sp>
    </p:spTree>
    <p:custDataLst>
      <p:tags r:id="rId17"/>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fontAlgn="auto" latinLnBrk="0" hangingPunct="1">
        <a:lnSpc>
          <a:spcPct val="100000"/>
        </a:lnSpc>
        <a:spcBef>
          <a:spcPct val="0"/>
        </a:spcBef>
        <a:buNone/>
        <a:defRPr sz="3600" b="0" u="none" strike="noStrike" kern="1200" cap="none" spc="300" normalizeH="0" baseline="0">
          <a:solidFill>
            <a:schemeClr val="tx1">
              <a:lumMod val="85000"/>
              <a:lumOff val="15000"/>
            </a:schemeClr>
          </a:solidFill>
          <a:uFillTx/>
          <a:latin typeface="+mj-ea"/>
          <a:ea typeface="+mj-ea"/>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9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9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9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9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63.xml"/></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64.xml"/></Relationships>
</file>

<file path=ppt/slides/_rels/slide3.xml.rels><?xml version="1.0" encoding="UTF-8" standalone="yes"?>
<Relationships xmlns="http://schemas.openxmlformats.org/package/2006/relationships"><Relationship Id="rId7" Type="http://schemas.openxmlformats.org/officeDocument/2006/relationships/notesSlide" Target="../notesSlides/notesSlide1.xml"/><Relationship Id="rId6" Type="http://schemas.openxmlformats.org/officeDocument/2006/relationships/slideLayout" Target="../slideLayouts/slideLayout1.xml"/><Relationship Id="rId5" Type="http://schemas.openxmlformats.org/officeDocument/2006/relationships/tags" Target="../tags/tag65.xml"/><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tags" Target="../tags/tag66.xml"/><Relationship Id="rId1" Type="http://schemas.openxmlformats.org/officeDocument/2006/relationships/image" Target="../media/image5.png"/></Relationships>
</file>

<file path=ppt/slides/_rels/slide5.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tags" Target="../tags/tag67.xml"/><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68.xml"/></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69.xml"/></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tags" Target="../tags/tag70.xml"/><Relationship Id="rId1" Type="http://schemas.openxmlformats.org/officeDocument/2006/relationships/image" Target="../media/image9.png"/></Relationships>
</file>

<file path=ppt/slides/_rels/slide9.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tags" Target="../tags/tag71.xml"/><Relationship Id="rId2" Type="http://schemas.openxmlformats.org/officeDocument/2006/relationships/image" Target="../media/image11.png"/><Relationship Id="rId1"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tags" Target="../tags/tag72.xml"/><Relationship Id="rId1" Type="http://schemas.openxmlformats.org/officeDocument/2006/relationships/image" Target="../media/image12.png"/></Relationships>
</file>

<file path=ppt/slides/_rels/slide11.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tags" Target="../tags/tag73.xml"/><Relationship Id="rId2" Type="http://schemas.openxmlformats.org/officeDocument/2006/relationships/image" Target="../media/image14.png"/><Relationship Id="rId1" Type="http://schemas.openxmlformats.org/officeDocument/2006/relationships/image" Target="../media/image13.png"/></Relationships>
</file>

<file path=ppt/slides/_rels/slide12.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tags" Target="../tags/tag74.xml"/><Relationship Id="rId2" Type="http://schemas.openxmlformats.org/officeDocument/2006/relationships/image" Target="../media/image16.png"/><Relationship Id="rId1" Type="http://schemas.openxmlformats.org/officeDocument/2006/relationships/image" Target="../media/image15.png"/></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tags" Target="../tags/tag75.xml"/><Relationship Id="rId1" Type="http://schemas.openxmlformats.org/officeDocument/2006/relationships/image" Target="../media/image17.png"/></Relationships>
</file>

<file path=ppt/slides/_rels/slide14.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tags" Target="../tags/tag76.xml"/><Relationship Id="rId2" Type="http://schemas.openxmlformats.org/officeDocument/2006/relationships/image" Target="../media/image12.png"/><Relationship Id="rId1" Type="http://schemas.openxmlformats.org/officeDocument/2006/relationships/image" Target="../media/image18.png"/></Relationships>
</file>

<file path=ppt/slides/_rels/slide15.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tags" Target="../tags/tag79.xml"/><Relationship Id="rId2" Type="http://schemas.openxmlformats.org/officeDocument/2006/relationships/tags" Target="../tags/tag78.xml"/><Relationship Id="rId1" Type="http://schemas.openxmlformats.org/officeDocument/2006/relationships/tags" Target="../tags/tag7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p:cNvSpPr txBox="1"/>
          <p:nvPr/>
        </p:nvSpPr>
        <p:spPr>
          <a:xfrm>
            <a:off x="3735070" y="1739265"/>
            <a:ext cx="5260340" cy="922020"/>
          </a:xfrm>
          <a:prstGeom prst="rect">
            <a:avLst/>
          </a:prstGeom>
          <a:noFill/>
        </p:spPr>
        <p:txBody>
          <a:bodyPr wrap="square" rtlCol="0" anchor="t">
            <a:spAutoFit/>
          </a:bodyPr>
          <a:p>
            <a:r>
              <a:rPr lang="en-GB" altLang="zh-CN" sz="5400" b="1" dirty="0">
                <a:latin typeface="Times New Roman" panose="02020503050405090304" charset="0"/>
                <a:cs typeface="Times New Roman" panose="02020503050405090304" charset="0"/>
                <a:sym typeface="+mn-ea"/>
              </a:rPr>
              <a:t>Week</a:t>
            </a:r>
            <a:r>
              <a:rPr lang="en-US" sz="5400" b="1" dirty="0">
                <a:latin typeface="Times New Roman" panose="02020503050405090304" charset="0"/>
                <a:cs typeface="Times New Roman" panose="02020503050405090304" charset="0"/>
                <a:sym typeface="+mn-ea"/>
              </a:rPr>
              <a:t>ly</a:t>
            </a:r>
            <a:r>
              <a:rPr lang="en-GB" altLang="zh-CN" sz="5400" b="1" dirty="0">
                <a:latin typeface="Times New Roman" panose="02020503050405090304" charset="0"/>
                <a:cs typeface="Times New Roman" panose="02020503050405090304" charset="0"/>
                <a:sym typeface="+mn-ea"/>
              </a:rPr>
              <a:t> Report</a:t>
            </a:r>
            <a:endParaRPr lang="en-GB" altLang="zh-CN" sz="5400" b="1" dirty="0">
              <a:solidFill>
                <a:schemeClr val="tx1"/>
              </a:solidFill>
              <a:latin typeface="Times New Roman" panose="02020503050405090304" charset="0"/>
              <a:cs typeface="Times New Roman" panose="02020503050405090304" charset="0"/>
            </a:endParaRPr>
          </a:p>
        </p:txBody>
      </p:sp>
      <p:sp>
        <p:nvSpPr>
          <p:cNvPr id="7" name="副标题 2"/>
          <p:cNvSpPr txBox="1"/>
          <p:nvPr/>
        </p:nvSpPr>
        <p:spPr>
          <a:xfrm>
            <a:off x="9550400" y="5644222"/>
            <a:ext cx="2288200" cy="809318"/>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9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9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9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9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9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9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9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9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90204" pitchFamily="34" charset="0"/>
              <a:buNone/>
              <a:defRPr sz="1600" kern="1200">
                <a:solidFill>
                  <a:schemeClr val="tx1"/>
                </a:solidFill>
                <a:latin typeface="+mn-lt"/>
                <a:ea typeface="+mn-ea"/>
                <a:cs typeface="+mn-cs"/>
              </a:defRPr>
            </a:lvl9pPr>
          </a:lstStyle>
          <a:p>
            <a:r>
              <a:rPr lang="en-US" altLang="zh-CN" sz="1800" dirty="0" err="1">
                <a:latin typeface="Times New Roman" panose="02020503050405090304" charset="0"/>
                <a:cs typeface="Times New Roman" panose="02020503050405090304" charset="0"/>
              </a:rPr>
              <a:t>Ruixin</a:t>
            </a:r>
            <a:r>
              <a:rPr lang="zh-CN" altLang="en-US" sz="1800" dirty="0">
                <a:latin typeface="Times New Roman" panose="02020503050405090304" charset="0"/>
                <a:cs typeface="Times New Roman" panose="02020503050405090304" charset="0"/>
              </a:rPr>
              <a:t> </a:t>
            </a:r>
            <a:r>
              <a:rPr lang="en-US" altLang="zh-CN" sz="1800" dirty="0">
                <a:latin typeface="Times New Roman" panose="02020503050405090304" charset="0"/>
                <a:cs typeface="Times New Roman" panose="02020503050405090304" charset="0"/>
              </a:rPr>
              <a:t>Peng</a:t>
            </a:r>
            <a:endParaRPr lang="en-US" altLang="zh-CN" sz="1800" dirty="0">
              <a:latin typeface="Times New Roman" panose="02020503050405090304" charset="0"/>
              <a:cs typeface="Times New Roman" panose="02020503050405090304" charset="0"/>
            </a:endParaRPr>
          </a:p>
          <a:p>
            <a:r>
              <a:rPr lang="en-US" altLang="en-GB" sz="1800" dirty="0">
                <a:latin typeface="Times New Roman" panose="02020503050405090304" charset="0"/>
                <a:cs typeface="Times New Roman" panose="02020503050405090304" charset="0"/>
              </a:rPr>
              <a:t>Ju</a:t>
            </a:r>
            <a:r>
              <a:rPr lang="en-US" altLang="en-GB" sz="1800" dirty="0">
                <a:latin typeface="Times New Roman" panose="02020503050405090304" charset="0"/>
                <a:cs typeface="Times New Roman" panose="02020503050405090304" charset="0"/>
              </a:rPr>
              <a:t>ly 02</a:t>
            </a:r>
            <a:r>
              <a:rPr lang="en-GB" altLang="zh-CN" sz="1800" dirty="0">
                <a:latin typeface="Times New Roman" panose="02020503050405090304" charset="0"/>
                <a:cs typeface="Times New Roman" panose="02020503050405090304" charset="0"/>
              </a:rPr>
              <a:t>, 2026</a:t>
            </a:r>
            <a:endParaRPr lang="en-GB" altLang="zh-CN" sz="1800" dirty="0">
              <a:latin typeface="Times New Roman" panose="02020503050405090304" charset="0"/>
              <a:cs typeface="Times New Roman" panose="02020503050405090304" charset="0"/>
            </a:endParaRPr>
          </a:p>
        </p:txBody>
      </p:sp>
    </p:spTree>
    <p:custDataLst>
      <p:tags r:id="rId1"/>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p:cNvSpPr txBox="1"/>
          <p:nvPr/>
        </p:nvSpPr>
        <p:spPr>
          <a:xfrm>
            <a:off x="135890" y="1090295"/>
            <a:ext cx="8093075" cy="2861310"/>
          </a:xfrm>
          <a:prstGeom prst="rect">
            <a:avLst/>
          </a:prstGeom>
          <a:noFill/>
        </p:spPr>
        <p:txBody>
          <a:bodyPr wrap="square" rtlCol="0" anchor="t">
            <a:spAutoFit/>
          </a:bodyPr>
          <a:p>
            <a:r>
              <a:rPr lang="en-US" altLang="zh-CN">
                <a:latin typeface="Times New Roman Regular" panose="02020503050405090304" charset="0"/>
                <a:cs typeface="Times New Roman Regular" panose="02020503050405090304" charset="0"/>
              </a:rPr>
              <a:t>Hallam et al. concluded that unlined iron pipes are </a:t>
            </a:r>
            <a:r>
              <a:rPr lang="en-US" altLang="zh-CN" b="1">
                <a:latin typeface="Times New Roman" panose="02020503050405090304" charset="0"/>
                <a:ea typeface="PingFang SC Semibold" panose="020B0400000000000000" charset="-122"/>
                <a:cs typeface="Times New Roman" panose="02020503050405090304" charset="0"/>
              </a:rPr>
              <a:t>reactive pipes</a:t>
            </a:r>
            <a:r>
              <a:rPr lang="en-US" altLang="zh-CN">
                <a:latin typeface="Times New Roman Regular" panose="02020503050405090304" charset="0"/>
                <a:cs typeface="Times New Roman Regular" panose="02020503050405090304" charset="0"/>
              </a:rPr>
              <a:t>, while PVC, MDPE, and cement-lined pipes are </a:t>
            </a:r>
            <a:r>
              <a:rPr lang="en-US" altLang="zh-CN" b="1">
                <a:latin typeface="Times New Roman" panose="02020503050405090304" charset="0"/>
                <a:ea typeface="PingFang SC Semibold" panose="020B0400000000000000" charset="-122"/>
                <a:cs typeface="Times New Roman" panose="02020503050405090304" charset="0"/>
              </a:rPr>
              <a:t>relatively unreactive pipes</a:t>
            </a:r>
            <a:r>
              <a:rPr lang="en-US" altLang="zh-CN">
                <a:latin typeface="Times New Roman Regular" panose="02020503050405090304" charset="0"/>
                <a:cs typeface="Times New Roman Regular" panose="02020503050405090304" charset="0"/>
              </a:rPr>
              <a:t>. </a:t>
            </a:r>
            <a:endParaRPr lang="en-US" altLang="zh-CN">
              <a:latin typeface="Times New Roman Regular" panose="02020503050405090304" charset="0"/>
              <a:cs typeface="Times New Roman Regular" panose="02020503050405090304" charset="0"/>
            </a:endParaRPr>
          </a:p>
          <a:p>
            <a:endParaRPr lang="en-US" altLang="zh-CN">
              <a:latin typeface="Times New Roman Regular" panose="02020503050405090304" charset="0"/>
              <a:cs typeface="Times New Roman Regular" panose="02020503050405090304" charset="0"/>
            </a:endParaRPr>
          </a:p>
          <a:p>
            <a:r>
              <a:rPr lang="en-US" altLang="zh-CN">
                <a:latin typeface="Times New Roman Regular" panose="02020503050405090304" charset="0"/>
                <a:cs typeface="Times New Roman Regular" panose="02020503050405090304" charset="0"/>
              </a:rPr>
              <a:t>Al-Jasser also noted that pipe age significantly affects the effective wall decay constant for cast iron, steel, CLDI, and CLCI, whereas its influence on PVC, uPVC, and PE is relatively minor.</a:t>
            </a:r>
            <a:endParaRPr lang="en-US" altLang="zh-CN">
              <a:latin typeface="Times New Roman Regular" panose="02020503050405090304" charset="0"/>
              <a:cs typeface="Times New Roman Regular" panose="02020503050405090304" charset="0"/>
            </a:endParaRPr>
          </a:p>
          <a:p>
            <a:endParaRPr lang="en-US" altLang="zh-CN">
              <a:latin typeface="Times New Roman Regular" panose="02020503050405090304" charset="0"/>
              <a:cs typeface="Times New Roman Regular" panose="02020503050405090304" charset="0"/>
            </a:endParaRPr>
          </a:p>
          <a:p>
            <a:r>
              <a:rPr lang="en-US" altLang="zh-CN">
                <a:latin typeface="Times New Roman Regular" panose="02020503050405090304" charset="0"/>
                <a:cs typeface="Times New Roman Regular" panose="02020503050405090304" charset="0"/>
              </a:rPr>
              <a:t>Rossman 1994 wall 0.15–0.45 m/day, Net1 original Global Wall ≈ -0.3 m/day. old=-1.0 </a:t>
            </a:r>
            <a:r>
              <a:rPr lang="en-US" altLang="zh-CN">
                <a:latin typeface="Times New Roman Regular" panose="02020503050405090304" charset="0"/>
                <a:cs typeface="Times New Roman Regular" panose="02020503050405090304" charset="0"/>
                <a:sym typeface="+mn-ea"/>
              </a:rPr>
              <a:t>m/day</a:t>
            </a:r>
            <a:r>
              <a:rPr lang="en-US" altLang="zh-CN">
                <a:latin typeface="Times New Roman Regular" panose="02020503050405090304" charset="0"/>
                <a:cs typeface="Times New Roman Regular" panose="02020503050405090304" charset="0"/>
              </a:rPr>
              <a:t> is slightly overestimated, but credible for old cast iron pipes.</a:t>
            </a:r>
            <a:endParaRPr lang="en-US" altLang="zh-CN">
              <a:latin typeface="Times New Roman Regular" panose="02020503050405090304" charset="0"/>
              <a:cs typeface="Times New Roman Regular" panose="02020503050405090304" charset="0"/>
            </a:endParaRPr>
          </a:p>
          <a:p>
            <a:endParaRPr lang="en-US" altLang="zh-CN">
              <a:latin typeface="Times New Roman Regular" panose="02020503050405090304" charset="0"/>
              <a:cs typeface="Times New Roman Regular" panose="02020503050405090304" charset="0"/>
            </a:endParaRPr>
          </a:p>
        </p:txBody>
      </p:sp>
      <p:graphicFrame>
        <p:nvGraphicFramePr>
          <p:cNvPr id="7" name="表格 6"/>
          <p:cNvGraphicFramePr/>
          <p:nvPr/>
        </p:nvGraphicFramePr>
        <p:xfrm>
          <a:off x="82550" y="4279265"/>
          <a:ext cx="11412855" cy="1097280"/>
        </p:xfrm>
        <a:graphic>
          <a:graphicData uri="http://schemas.openxmlformats.org/drawingml/2006/table">
            <a:tbl>
              <a:tblPr firstRow="1" bandCol="1">
                <a:tableStyleId>{72E06FB2-9B10-4A49-BD92-07C697D3BEEB}</a:tableStyleId>
              </a:tblPr>
              <a:tblGrid>
                <a:gridCol w="3820160"/>
                <a:gridCol w="3916680"/>
                <a:gridCol w="3676015"/>
              </a:tblGrid>
              <a:tr h="0">
                <a:tc>
                  <a:txBody>
                    <a:bodyPr/>
                    <a:p>
                      <a:pPr algn="ctr"/>
                      <a:r>
                        <a:rPr lang="en-US" altLang="zh-CN" sz="1800" b="0">
                          <a:latin typeface="Times New Roman" panose="02020503050405090304" charset="0"/>
                          <a:cs typeface="Times New Roman" panose="02020503050405090304" charset="0"/>
                        </a:rPr>
                        <a:t>Material group</a:t>
                      </a:r>
                      <a:endParaRPr lang="en-US" altLang="zh-CN" sz="1800" b="0">
                        <a:latin typeface="Times New Roman" panose="02020503050405090304" charset="0"/>
                        <a:cs typeface="Times New Roman" panose="02020503050405090304" charset="0"/>
                      </a:endParaRPr>
                    </a:p>
                  </a:txBody>
                  <a:tcPr marL="0" marR="0" marT="0" marB="0" anchor="ctr" anchorCtr="0">
                    <a:solidFill>
                      <a:srgbClr val="C8C8C8"/>
                    </a:solidFill>
                  </a:tcPr>
                </a:tc>
                <a:tc>
                  <a:txBody>
                    <a:bodyPr/>
                    <a:p>
                      <a:pPr algn="ctr"/>
                      <a:r>
                        <a:rPr lang="en-US" altLang="zh-CN" sz="1800" b="0">
                          <a:latin typeface="Times New Roman" panose="02020503050405090304" charset="0"/>
                          <a:cs typeface="Times New Roman" panose="02020503050405090304" charset="0"/>
                        </a:rPr>
                        <a:t>Included materials</a:t>
                      </a:r>
                      <a:endParaRPr lang="en-US" altLang="zh-CN" sz="1800" b="0">
                        <a:latin typeface="Times New Roman" panose="02020503050405090304" charset="0"/>
                        <a:cs typeface="Times New Roman" panose="02020503050405090304" charset="0"/>
                      </a:endParaRPr>
                    </a:p>
                  </a:txBody>
                  <a:tcPr marL="0" marR="0" marT="0" marB="0" anchor="ctr" anchorCtr="0"/>
                </a:tc>
                <a:tc>
                  <a:txBody>
                    <a:bodyPr/>
                    <a:p>
                      <a:pPr algn="ctr"/>
                      <a:r>
                        <a:rPr lang="en-US" altLang="zh-CN" sz="1800" b="0">
                          <a:latin typeface="Times New Roman" panose="02020503050405090304" charset="0"/>
                          <a:cs typeface="Times New Roman" panose="02020503050405090304" charset="0"/>
                        </a:rPr>
                        <a:t>Prior distribution kw (</a:t>
                      </a:r>
                      <a:r>
                        <a:rPr lang="en-US" altLang="zh-CN" sz="1800" b="0">
                          <a:latin typeface="Times New Roman" panose="02020503050405090304" charset="0"/>
                          <a:cs typeface="Times New Roman" panose="02020503050405090304" charset="0"/>
                        </a:rPr>
                        <a:t>m/day)</a:t>
                      </a:r>
                      <a:endParaRPr lang="en-US" altLang="zh-CN" sz="1800" b="0">
                        <a:latin typeface="Times New Roman" panose="02020503050405090304" charset="0"/>
                        <a:cs typeface="Times New Roman" panose="02020503050405090304" charset="0"/>
                      </a:endParaRPr>
                    </a:p>
                  </a:txBody>
                  <a:tcPr marL="0" marR="0" marT="0" marB="0" anchor="ctr" anchorCtr="0">
                    <a:solidFill>
                      <a:srgbClr val="C8C8C8"/>
                    </a:solidFill>
                  </a:tcPr>
                </a:tc>
              </a:tr>
              <a:tr h="0">
                <a:tc>
                  <a:txBody>
                    <a:bodyPr/>
                    <a:p>
                      <a:pPr algn="ctr"/>
                      <a:r>
                        <a:rPr lang="en-US" altLang="zh-CN" sz="1800" b="0">
                          <a:latin typeface="Times New Roman" panose="02020503050405090304" charset="0"/>
                          <a:cs typeface="Times New Roman" panose="02020503050405090304" charset="0"/>
                        </a:rPr>
                        <a:t>High-reactivity old iron pipes</a:t>
                      </a:r>
                      <a:endParaRPr lang="en-US" altLang="zh-CN" sz="1800" b="0">
                        <a:latin typeface="Times New Roman" panose="02020503050405090304" charset="0"/>
                        <a:cs typeface="Times New Roman" panose="02020503050405090304" charset="0"/>
                      </a:endParaRPr>
                    </a:p>
                  </a:txBody>
                  <a:tcPr marL="0" marR="0" marT="0" marB="0" anchor="ctr" anchorCtr="0">
                    <a:solidFill>
                      <a:srgbClr val="C8C8C8"/>
                    </a:solidFill>
                  </a:tcPr>
                </a:tc>
                <a:tc>
                  <a:txBody>
                    <a:bodyPr/>
                    <a:p>
                      <a:pPr algn="ctr"/>
                      <a:r>
                        <a:rPr lang="en-US" altLang="zh-CN" sz="1800" b="0">
                          <a:latin typeface="Times New Roman" panose="02020503050405090304" charset="0"/>
                          <a:cs typeface="Times New Roman" panose="02020503050405090304" charset="0"/>
                        </a:rPr>
                        <a:t>CI, SI, unlined DI, severely corroded steel</a:t>
                      </a:r>
                      <a:endParaRPr lang="en-US" altLang="zh-CN" sz="1800" b="0">
                        <a:latin typeface="Times New Roman" panose="02020503050405090304" charset="0"/>
                        <a:cs typeface="Times New Roman" panose="02020503050405090304" charset="0"/>
                      </a:endParaRPr>
                    </a:p>
                  </a:txBody>
                  <a:tcPr marL="0" marR="0" marT="0" marB="0" anchor="ctr" anchorCtr="0"/>
                </a:tc>
                <a:tc>
                  <a:txBody>
                    <a:bodyPr/>
                    <a:p>
                      <a:pPr algn="ctr"/>
                      <a:r>
                        <a:rPr lang="en-US" altLang="zh-CN" sz="1800" b="0">
                          <a:latin typeface="Times New Roman" panose="02020503050405090304" charset="0"/>
                          <a:cs typeface="Times New Roman" panose="02020503050405090304" charset="0"/>
                        </a:rPr>
                        <a:t>(0.20, 1.50)</a:t>
                      </a:r>
                      <a:endParaRPr lang="en-US" altLang="zh-CN" sz="1800" b="0">
                        <a:latin typeface="Times New Roman" panose="02020503050405090304" charset="0"/>
                        <a:cs typeface="Times New Roman" panose="02020503050405090304" charset="0"/>
                      </a:endParaRPr>
                    </a:p>
                  </a:txBody>
                  <a:tcPr marL="0" marR="0" marT="0" marB="0" anchor="ctr" anchorCtr="0">
                    <a:solidFill>
                      <a:srgbClr val="C8C8C8"/>
                    </a:solidFill>
                  </a:tcPr>
                </a:tc>
              </a:tr>
              <a:tr h="0">
                <a:tc>
                  <a:txBody>
                    <a:bodyPr/>
                    <a:p>
                      <a:pPr algn="ctr"/>
                      <a:r>
                        <a:rPr lang="en-US" altLang="zh-CN" sz="1800" b="0">
                          <a:latin typeface="Times New Roman" panose="02020503050405090304" charset="0"/>
                          <a:cs typeface="Times New Roman" panose="02020503050405090304" charset="0"/>
                        </a:rPr>
                        <a:t>Medium-reactivity metal or lined pipes</a:t>
                      </a:r>
                      <a:endParaRPr lang="en-US" altLang="zh-CN" sz="1800" b="0">
                        <a:latin typeface="Times New Roman" panose="02020503050405090304" charset="0"/>
                        <a:cs typeface="Times New Roman" panose="02020503050405090304" charset="0"/>
                      </a:endParaRPr>
                    </a:p>
                  </a:txBody>
                  <a:tcPr marL="0" marR="0" marT="0" marB="0" anchor="ctr" anchorCtr="0">
                    <a:solidFill>
                      <a:srgbClr val="C8C8C8"/>
                    </a:solidFill>
                  </a:tcPr>
                </a:tc>
                <a:tc>
                  <a:txBody>
                    <a:bodyPr/>
                    <a:p>
                      <a:pPr algn="ctr"/>
                      <a:r>
                        <a:rPr lang="en-US" altLang="zh-CN" sz="1800" b="0">
                          <a:latin typeface="Times New Roman" panose="02020503050405090304" charset="0"/>
                          <a:cs typeface="Times New Roman" panose="02020503050405090304" charset="0"/>
                        </a:rPr>
                        <a:t>steel, GS, DICL, CICL</a:t>
                      </a:r>
                      <a:endParaRPr lang="en-US" altLang="zh-CN" sz="1800" b="0">
                        <a:latin typeface="Times New Roman" panose="02020503050405090304" charset="0"/>
                        <a:cs typeface="Times New Roman" panose="02020503050405090304" charset="0"/>
                      </a:endParaRPr>
                    </a:p>
                  </a:txBody>
                  <a:tcPr marL="0" marR="0" marT="0" marB="0" anchor="ctr" anchorCtr="0"/>
                </a:tc>
                <a:tc>
                  <a:txBody>
                    <a:bodyPr/>
                    <a:p>
                      <a:pPr algn="ctr"/>
                      <a:r>
                        <a:rPr lang="en-US" altLang="zh-CN" sz="1800" b="0">
                          <a:latin typeface="Times New Roman" panose="02020503050405090304" charset="0"/>
                          <a:cs typeface="Times New Roman" panose="02020503050405090304" charset="0"/>
                        </a:rPr>
                        <a:t>(0.04, 0.20)</a:t>
                      </a:r>
                      <a:endParaRPr lang="en-US" altLang="zh-CN" sz="1800" b="0">
                        <a:latin typeface="Times New Roman" panose="02020503050405090304" charset="0"/>
                        <a:cs typeface="Times New Roman" panose="02020503050405090304" charset="0"/>
                      </a:endParaRPr>
                    </a:p>
                  </a:txBody>
                  <a:tcPr marL="0" marR="0" marT="0" marB="0" anchor="ctr" anchorCtr="0">
                    <a:solidFill>
                      <a:srgbClr val="C8C8C8"/>
                    </a:solidFill>
                  </a:tcPr>
                </a:tc>
              </a:tr>
              <a:tr h="0">
                <a:tc>
                  <a:txBody>
                    <a:bodyPr/>
                    <a:p>
                      <a:pPr algn="ctr"/>
                      <a:r>
                        <a:rPr lang="en-US" altLang="zh-CN" sz="1800" b="0">
                          <a:latin typeface="Times New Roman" panose="02020503050405090304" charset="0"/>
                          <a:cs typeface="Times New Roman" panose="02020503050405090304" charset="0"/>
                        </a:rPr>
                        <a:t>Low-reactivity plastic pipes</a:t>
                      </a:r>
                      <a:endParaRPr lang="en-US" altLang="zh-CN" sz="1800" b="0">
                        <a:latin typeface="Times New Roman" panose="02020503050405090304" charset="0"/>
                        <a:cs typeface="Times New Roman" panose="02020503050405090304" charset="0"/>
                      </a:endParaRPr>
                    </a:p>
                  </a:txBody>
                  <a:tcPr marL="0" marR="0" marT="0" marB="0" anchor="ctr" anchorCtr="0">
                    <a:solidFill>
                      <a:srgbClr val="C8C8C8"/>
                    </a:solidFill>
                  </a:tcPr>
                </a:tc>
                <a:tc>
                  <a:txBody>
                    <a:bodyPr/>
                    <a:p>
                      <a:pPr algn="ctr"/>
                      <a:r>
                        <a:rPr lang="en-US" altLang="zh-CN" sz="1800" b="0">
                          <a:latin typeface="Times New Roman" panose="02020503050405090304" charset="0"/>
                          <a:cs typeface="Times New Roman" panose="02020503050405090304" charset="0"/>
                        </a:rPr>
                        <a:t>PVC, uPVC, PE, MDPE, HDPE, PP</a:t>
                      </a:r>
                      <a:endParaRPr lang="en-US" altLang="zh-CN" sz="1800" b="0">
                        <a:latin typeface="Times New Roman" panose="02020503050405090304" charset="0"/>
                        <a:cs typeface="Times New Roman" panose="02020503050405090304" charset="0"/>
                      </a:endParaRPr>
                    </a:p>
                  </a:txBody>
                  <a:tcPr marL="0" marR="0" marT="0" marB="0" anchor="ctr" anchorCtr="0"/>
                </a:tc>
                <a:tc>
                  <a:txBody>
                    <a:bodyPr/>
                    <a:p>
                      <a:pPr algn="ctr"/>
                      <a:r>
                        <a:rPr lang="en-US" altLang="zh-CN" sz="1800" b="0">
                          <a:latin typeface="Times New Roman" panose="02020503050405090304" charset="0"/>
                          <a:cs typeface="Times New Roman" panose="02020503050405090304" charset="0"/>
                        </a:rPr>
                        <a:t>(0.005, 0.1)</a:t>
                      </a:r>
                      <a:endParaRPr lang="en-US" altLang="zh-CN" sz="1800" b="0">
                        <a:latin typeface="Times New Roman" panose="02020503050405090304" charset="0"/>
                        <a:cs typeface="Times New Roman" panose="02020503050405090304" charset="0"/>
                      </a:endParaRPr>
                    </a:p>
                  </a:txBody>
                  <a:tcPr marL="0" marR="0" marT="0" marB="0" anchor="ctr" anchorCtr="0">
                    <a:solidFill>
                      <a:srgbClr val="C8C8C8"/>
                    </a:solidFill>
                  </a:tcPr>
                </a:tc>
              </a:tr>
            </a:tbl>
          </a:graphicData>
        </a:graphic>
      </p:graphicFrame>
      <p:sp>
        <p:nvSpPr>
          <p:cNvPr id="10" name="文本框 9"/>
          <p:cNvSpPr txBox="1"/>
          <p:nvPr/>
        </p:nvSpPr>
        <p:spPr>
          <a:xfrm>
            <a:off x="135890" y="110490"/>
            <a:ext cx="4064000" cy="460375"/>
          </a:xfrm>
          <a:prstGeom prst="rect">
            <a:avLst/>
          </a:prstGeom>
          <a:noFill/>
        </p:spPr>
        <p:txBody>
          <a:bodyPr wrap="square" rtlCol="0">
            <a:spAutoFit/>
          </a:bodyPr>
          <a:p>
            <a:r>
              <a:rPr lang="en-US" altLang="zh-CN" sz="2400" b="1">
                <a:solidFill>
                  <a:schemeClr val="tx1"/>
                </a:solidFill>
                <a:latin typeface="Times New Roman" panose="02020503050405090304" charset="0"/>
                <a:cs typeface="Times New Roman" panose="02020503050405090304" charset="0"/>
              </a:rPr>
              <a:t>Grouping</a:t>
            </a:r>
            <a:endParaRPr lang="en-US" altLang="zh-CN" sz="2400" b="1">
              <a:solidFill>
                <a:schemeClr val="tx1"/>
              </a:solidFill>
              <a:latin typeface="Times New Roman" panose="02020503050405090304" charset="0"/>
              <a:cs typeface="Times New Roman" panose="02020503050405090304" charset="0"/>
            </a:endParaRPr>
          </a:p>
        </p:txBody>
      </p:sp>
    </p:spTree>
    <p:custDataLst>
      <p:tags r:id="rId1"/>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162560" y="193675"/>
            <a:ext cx="6096000" cy="398780"/>
          </a:xfrm>
          <a:prstGeom prst="rect">
            <a:avLst/>
          </a:prstGeom>
          <a:noFill/>
        </p:spPr>
        <p:txBody>
          <a:bodyPr wrap="square" rtlCol="0" anchor="t">
            <a:spAutoFit/>
          </a:bodyPr>
          <a:p>
            <a:r>
              <a:rPr lang="en-US" altLang="zh-CN" sz="2000" b="1">
                <a:latin typeface="Times New Roman" panose="02020503050405090304" charset="0"/>
                <a:cs typeface="Times New Roman" panose="02020503050405090304" charset="0"/>
              </a:rPr>
              <a:t>Uncertainty in residual chlorine model parameters</a:t>
            </a:r>
            <a:endParaRPr lang="en-US" altLang="zh-CN" sz="2000" b="1">
              <a:latin typeface="Times New Roman" panose="02020503050405090304" charset="0"/>
              <a:cs typeface="Times New Roman" panose="02020503050405090304" charset="0"/>
            </a:endParaRPr>
          </a:p>
        </p:txBody>
      </p:sp>
      <p:sp>
        <p:nvSpPr>
          <p:cNvPr id="9" name="文本框 8"/>
          <p:cNvSpPr txBox="1"/>
          <p:nvPr/>
        </p:nvSpPr>
        <p:spPr>
          <a:xfrm>
            <a:off x="3118485" y="5252720"/>
            <a:ext cx="5080000" cy="1198880"/>
          </a:xfrm>
          <a:prstGeom prst="rect">
            <a:avLst/>
          </a:prstGeom>
          <a:noFill/>
        </p:spPr>
        <p:txBody>
          <a:bodyPr wrap="square" rtlCol="0" anchor="t">
            <a:spAutoFit/>
          </a:bodyPr>
          <a:p>
            <a:r>
              <a:rPr lang="en-US" altLang="zh-CN">
                <a:latin typeface="Times New Roman Regular" panose="02020503050405090304" charset="0"/>
                <a:cs typeface="Times New Roman Regular" panose="02020503050405090304" charset="0"/>
              </a:rPr>
              <a:t>The prior simply samples each Kw uniformly within a reasonable range, then GLUE becomes more natural and easier to defend. Forcing N to be multiplied will make the likelihood extremely sharp.</a:t>
            </a:r>
            <a:endParaRPr lang="en-US" altLang="zh-CN">
              <a:latin typeface="Times New Roman Regular" panose="02020503050405090304" charset="0"/>
              <a:cs typeface="Times New Roman Regular" panose="02020503050405090304" charset="0"/>
            </a:endParaRPr>
          </a:p>
        </p:txBody>
      </p:sp>
      <p:sp>
        <p:nvSpPr>
          <p:cNvPr id="11" name="文本框 10"/>
          <p:cNvSpPr txBox="1"/>
          <p:nvPr/>
        </p:nvSpPr>
        <p:spPr>
          <a:xfrm>
            <a:off x="8552180" y="1533525"/>
            <a:ext cx="1128395" cy="368300"/>
          </a:xfrm>
          <a:prstGeom prst="rect">
            <a:avLst/>
          </a:prstGeom>
        </p:spPr>
        <p:txBody>
          <a:bodyPr wrap="square">
            <a:spAutoFit/>
          </a:bodyPr>
          <a:p>
            <a:r>
              <a:rPr lang="en-US" altLang="zh-CN">
                <a:solidFill>
                  <a:schemeClr val="tx1"/>
                </a:solidFill>
                <a:latin typeface="Times New Roman Regular" panose="02020503050405090304" charset="0"/>
                <a:cs typeface="Times New Roman Regular" panose="02020503050405090304" charset="0"/>
              </a:rPr>
              <a:t>GLUE</a:t>
            </a:r>
            <a:endParaRPr lang="en-US" altLang="zh-CN">
              <a:solidFill>
                <a:schemeClr val="tx1"/>
              </a:solidFill>
              <a:latin typeface="Times New Roman Regular" panose="02020503050405090304" charset="0"/>
              <a:cs typeface="Times New Roman Regular" panose="02020503050405090304" charset="0"/>
            </a:endParaRPr>
          </a:p>
        </p:txBody>
      </p:sp>
      <p:pic>
        <p:nvPicPr>
          <p:cNvPr id="16" name="图片 15"/>
          <p:cNvPicPr>
            <a:picLocks noChangeAspect="1"/>
          </p:cNvPicPr>
          <p:nvPr/>
        </p:nvPicPr>
        <p:blipFill>
          <a:blip r:embed="rId1"/>
          <a:stretch>
            <a:fillRect/>
          </a:stretch>
        </p:blipFill>
        <p:spPr>
          <a:xfrm>
            <a:off x="8414385" y="4502150"/>
            <a:ext cx="3103880" cy="1670050"/>
          </a:xfrm>
          <a:prstGeom prst="rect">
            <a:avLst/>
          </a:prstGeom>
        </p:spPr>
      </p:pic>
      <p:pic>
        <p:nvPicPr>
          <p:cNvPr id="17" name="图片 16"/>
          <p:cNvPicPr>
            <a:picLocks noChangeAspect="1"/>
          </p:cNvPicPr>
          <p:nvPr/>
        </p:nvPicPr>
        <p:blipFill>
          <a:blip r:embed="rId2"/>
          <a:stretch>
            <a:fillRect/>
          </a:stretch>
        </p:blipFill>
        <p:spPr>
          <a:xfrm>
            <a:off x="8414385" y="3392170"/>
            <a:ext cx="3378835" cy="1065530"/>
          </a:xfrm>
          <a:prstGeom prst="rect">
            <a:avLst/>
          </a:prstGeom>
        </p:spPr>
      </p:pic>
      <p:sp>
        <p:nvSpPr>
          <p:cNvPr id="12" name="文本框 11"/>
          <p:cNvSpPr txBox="1"/>
          <p:nvPr/>
        </p:nvSpPr>
        <p:spPr>
          <a:xfrm>
            <a:off x="5020310" y="1533525"/>
            <a:ext cx="2460625" cy="368300"/>
          </a:xfrm>
          <a:prstGeom prst="rect">
            <a:avLst/>
          </a:prstGeom>
        </p:spPr>
        <p:txBody>
          <a:bodyPr wrap="square">
            <a:spAutoFit/>
          </a:bodyPr>
          <a:p>
            <a:r>
              <a:rPr lang="en-US" altLang="zh-CN">
                <a:latin typeface="Times New Roman Regular" panose="02020503050405090304" charset="0"/>
                <a:cs typeface="Times New Roman Regular" panose="02020503050405090304" charset="0"/>
              </a:rPr>
              <a:t>Bayesian / MCMC</a:t>
            </a:r>
            <a:endParaRPr lang="en-US" altLang="zh-CN">
              <a:latin typeface="Times New Roman Regular" panose="02020503050405090304" charset="0"/>
              <a:cs typeface="Times New Roman Regular" panose="02020503050405090304" charset="0"/>
            </a:endParaRPr>
          </a:p>
        </p:txBody>
      </p:sp>
      <p:sp>
        <p:nvSpPr>
          <p:cNvPr id="13" name="文本框 12"/>
          <p:cNvSpPr txBox="1"/>
          <p:nvPr/>
        </p:nvSpPr>
        <p:spPr>
          <a:xfrm>
            <a:off x="314960" y="1533525"/>
            <a:ext cx="2803525" cy="368300"/>
          </a:xfrm>
          <a:prstGeom prst="rect">
            <a:avLst/>
          </a:prstGeom>
        </p:spPr>
        <p:txBody>
          <a:bodyPr wrap="square">
            <a:spAutoFit/>
          </a:bodyPr>
          <a:p>
            <a:r>
              <a:rPr lang="en-US" altLang="zh-CN">
                <a:latin typeface="Times New Roman Regular" panose="02020503050405090304" charset="0"/>
                <a:cs typeface="Times New Roman Regular" panose="02020503050405090304" charset="0"/>
              </a:rPr>
              <a:t>GA = Genetic Algorithm</a:t>
            </a:r>
            <a:endParaRPr lang="en-US" altLang="zh-CN">
              <a:latin typeface="Times New Roman Regular" panose="02020503050405090304" charset="0"/>
              <a:cs typeface="Times New Roman Regular" panose="02020503050405090304" charset="0"/>
            </a:endParaRPr>
          </a:p>
        </p:txBody>
      </p:sp>
      <p:sp>
        <p:nvSpPr>
          <p:cNvPr id="14" name="文本框 13"/>
          <p:cNvSpPr txBox="1"/>
          <p:nvPr/>
        </p:nvSpPr>
        <p:spPr>
          <a:xfrm>
            <a:off x="293370" y="2327275"/>
            <a:ext cx="3589655" cy="922020"/>
          </a:xfrm>
          <a:prstGeom prst="rect">
            <a:avLst/>
          </a:prstGeom>
          <a:noFill/>
        </p:spPr>
        <p:txBody>
          <a:bodyPr wrap="square" rtlCol="0" anchor="t">
            <a:spAutoFit/>
          </a:bodyPr>
          <a:p>
            <a:r>
              <a:rPr lang="en-US" altLang="zh-CN">
                <a:latin typeface="Times New Roman Regular" panose="02020503050405090304" charset="0"/>
                <a:cs typeface="Times New Roman Regular" panose="02020503050405090304" charset="0"/>
              </a:rPr>
              <a:t>Minimize the error between simulated residual chlorine and observed residual chlorine</a:t>
            </a:r>
            <a:endParaRPr lang="en-US" altLang="zh-CN">
              <a:latin typeface="Times New Roman Regular" panose="02020503050405090304" charset="0"/>
              <a:cs typeface="Times New Roman Regular" panose="02020503050405090304" charset="0"/>
            </a:endParaRPr>
          </a:p>
        </p:txBody>
      </p:sp>
      <p:sp>
        <p:nvSpPr>
          <p:cNvPr id="15" name="文本框 14"/>
          <p:cNvSpPr txBox="1"/>
          <p:nvPr/>
        </p:nvSpPr>
        <p:spPr>
          <a:xfrm>
            <a:off x="293370" y="3863340"/>
            <a:ext cx="3216275" cy="368300"/>
          </a:xfrm>
          <a:prstGeom prst="rect">
            <a:avLst/>
          </a:prstGeom>
          <a:noFill/>
        </p:spPr>
        <p:txBody>
          <a:bodyPr wrap="square" rtlCol="0" anchor="t">
            <a:spAutoFit/>
          </a:bodyPr>
          <a:p>
            <a:r>
              <a:rPr lang="en-US" altLang="zh-CN">
                <a:latin typeface="Times New Roman Regular" panose="02020503050405090304" charset="0"/>
                <a:cs typeface="Times New Roman Regular" panose="02020503050405090304" charset="0"/>
              </a:rPr>
              <a:t>Optimal parameter set</a:t>
            </a:r>
            <a:endParaRPr lang="en-US" altLang="zh-CN">
              <a:latin typeface="Times New Roman Regular" panose="02020503050405090304" charset="0"/>
              <a:cs typeface="Times New Roman Regular" panose="02020503050405090304" charset="0"/>
            </a:endParaRPr>
          </a:p>
        </p:txBody>
      </p:sp>
      <p:sp>
        <p:nvSpPr>
          <p:cNvPr id="18" name="文本框 17"/>
          <p:cNvSpPr txBox="1"/>
          <p:nvPr/>
        </p:nvSpPr>
        <p:spPr>
          <a:xfrm>
            <a:off x="8551545" y="2242820"/>
            <a:ext cx="3379470" cy="645160"/>
          </a:xfrm>
          <a:prstGeom prst="rect">
            <a:avLst/>
          </a:prstGeom>
        </p:spPr>
        <p:txBody>
          <a:bodyPr wrap="square">
            <a:spAutoFit/>
          </a:bodyPr>
          <a:p>
            <a:r>
              <a:rPr lang="en-US" altLang="zh-CN">
                <a:latin typeface="Times New Roman Regular" panose="02020503050405090304" charset="0"/>
                <a:cs typeface="Times New Roman Regular" panose="02020503050405090304" charset="0"/>
              </a:rPr>
              <a:t>behavioural parameter sets + uncertainty interval</a:t>
            </a:r>
            <a:endParaRPr lang="en-US" altLang="zh-CN">
              <a:latin typeface="Times New Roman Regular" panose="02020503050405090304" charset="0"/>
              <a:cs typeface="Times New Roman Regular" panose="02020503050405090304" charset="0"/>
            </a:endParaRPr>
          </a:p>
        </p:txBody>
      </p:sp>
      <p:sp>
        <p:nvSpPr>
          <p:cNvPr id="19" name="文本框 18"/>
          <p:cNvSpPr txBox="1"/>
          <p:nvPr/>
        </p:nvSpPr>
        <p:spPr>
          <a:xfrm>
            <a:off x="4674235" y="4541520"/>
            <a:ext cx="3710305" cy="368300"/>
          </a:xfrm>
          <a:prstGeom prst="rect">
            <a:avLst/>
          </a:prstGeom>
          <a:noFill/>
        </p:spPr>
        <p:txBody>
          <a:bodyPr wrap="square" rtlCol="0" anchor="t">
            <a:spAutoFit/>
          </a:bodyPr>
          <a:p>
            <a:r>
              <a:rPr lang="en-US" altLang="zh-CN">
                <a:latin typeface="Times New Roman Regular" panose="02020503050405090304" charset="0"/>
                <a:cs typeface="Times New Roman Regular" panose="02020503050405090304" charset="0"/>
              </a:rPr>
              <a:t>Posterior = Likelihood × Prior</a:t>
            </a:r>
            <a:endParaRPr lang="en-US" altLang="zh-CN">
              <a:latin typeface="Times New Roman Regular" panose="02020503050405090304" charset="0"/>
              <a:cs typeface="Times New Roman Regular" panose="02020503050405090304" charset="0"/>
            </a:endParaRPr>
          </a:p>
        </p:txBody>
      </p:sp>
      <p:pic>
        <p:nvPicPr>
          <p:cNvPr id="7" name="图片 6"/>
          <p:cNvPicPr>
            <a:picLocks noChangeAspect="1"/>
          </p:cNvPicPr>
          <p:nvPr/>
        </p:nvPicPr>
        <p:blipFill>
          <a:blip r:embed="rId3"/>
          <a:stretch>
            <a:fillRect/>
          </a:stretch>
        </p:blipFill>
        <p:spPr>
          <a:xfrm>
            <a:off x="4395470" y="3378835"/>
            <a:ext cx="3710305" cy="819785"/>
          </a:xfrm>
          <a:prstGeom prst="rect">
            <a:avLst/>
          </a:prstGeom>
        </p:spPr>
      </p:pic>
      <p:pic>
        <p:nvPicPr>
          <p:cNvPr id="8" name="图片 7"/>
          <p:cNvPicPr>
            <a:picLocks noChangeAspect="1"/>
          </p:cNvPicPr>
          <p:nvPr/>
        </p:nvPicPr>
        <p:blipFill>
          <a:blip r:embed="rId4"/>
          <a:stretch>
            <a:fillRect/>
          </a:stretch>
        </p:blipFill>
        <p:spPr>
          <a:xfrm>
            <a:off x="3903345" y="2324100"/>
            <a:ext cx="4648835" cy="819785"/>
          </a:xfrm>
          <a:prstGeom prst="rect">
            <a:avLst/>
          </a:prstGeom>
        </p:spPr>
      </p:pic>
    </p:spTree>
    <p:custDataLst>
      <p:tags r:id="rId5"/>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1"/>
          <a:stretch>
            <a:fillRect/>
          </a:stretch>
        </p:blipFill>
        <p:spPr>
          <a:xfrm>
            <a:off x="589915" y="186055"/>
            <a:ext cx="5276215" cy="4307840"/>
          </a:xfrm>
          <a:prstGeom prst="rect">
            <a:avLst/>
          </a:prstGeom>
        </p:spPr>
      </p:pic>
      <p:sp>
        <p:nvSpPr>
          <p:cNvPr id="6" name="文本框 5"/>
          <p:cNvSpPr txBox="1"/>
          <p:nvPr/>
        </p:nvSpPr>
        <p:spPr>
          <a:xfrm>
            <a:off x="6731635" y="457200"/>
            <a:ext cx="5009515" cy="2522855"/>
          </a:xfrm>
          <a:prstGeom prst="rect">
            <a:avLst/>
          </a:prstGeom>
          <a:noFill/>
        </p:spPr>
        <p:txBody>
          <a:bodyPr wrap="square" rtlCol="0" anchor="t">
            <a:spAutoFit/>
          </a:bodyPr>
          <a:p>
            <a:pPr marL="0" indent="0">
              <a:spcBef>
                <a:spcPts val="600"/>
              </a:spcBef>
              <a:spcAft>
                <a:spcPts val="600"/>
              </a:spcAft>
              <a:buFont typeface="Arial" panose="020B0604020202090204"/>
              <a:buChar char="•"/>
            </a:pPr>
            <a:r>
              <a:rPr lang="en-US" altLang="zh-CN">
                <a:latin typeface="Times New Roman" panose="02020503050405090304" charset="0"/>
                <a:ea typeface="-apple-system"/>
                <a:cs typeface="Times New Roman" panose="02020503050405090304" charset="0"/>
                <a:sym typeface="+mn-ea"/>
              </a:rPr>
              <a:t> Source initial chlorine = </a:t>
            </a:r>
            <a:r>
              <a:rPr lang="en-US" altLang="zh-CN" b="1">
                <a:latin typeface="Times New Roman" panose="02020503050405090304" charset="0"/>
                <a:ea typeface="-apple-system"/>
                <a:cs typeface="Times New Roman" panose="02020503050405090304" charset="0"/>
                <a:sym typeface="+mn-ea"/>
              </a:rPr>
              <a:t>1.0 mg/L</a:t>
            </a:r>
            <a:endParaRPr lang="en-US" altLang="zh-CN" b="1">
              <a:latin typeface="Times New Roman" panose="02020503050405090304" charset="0"/>
              <a:ea typeface="-apple-system"/>
              <a:cs typeface="Times New Roman" panose="02020503050405090304" charset="0"/>
              <a:sym typeface="+mn-ea"/>
            </a:endParaRPr>
          </a:p>
          <a:p>
            <a:pPr marL="0" indent="0">
              <a:spcBef>
                <a:spcPts val="600"/>
              </a:spcBef>
              <a:spcAft>
                <a:spcPts val="600"/>
              </a:spcAft>
              <a:buFont typeface="Arial" panose="020B0604020202090204"/>
              <a:buChar char="•"/>
            </a:pPr>
            <a:r>
              <a:rPr lang="en-US" altLang="zh-CN">
                <a:latin typeface="Times New Roman" panose="02020503050405090304" charset="0"/>
                <a:ea typeface="-apple-system"/>
                <a:cs typeface="Times New Roman" panose="02020503050405090304" charset="0"/>
                <a:sym typeface="+mn-ea"/>
              </a:rPr>
              <a:t> Tank initial chlorine = 0.5 </a:t>
            </a:r>
            <a:endParaRPr lang="en-US" altLang="zh-CN">
              <a:latin typeface="Times New Roman" panose="02020503050405090304" charset="0"/>
              <a:ea typeface="-apple-system"/>
              <a:cs typeface="Times New Roman" panose="02020503050405090304" charset="0"/>
              <a:sym typeface="+mn-ea"/>
            </a:endParaRPr>
          </a:p>
          <a:p>
            <a:pPr marL="0" indent="0">
              <a:spcBef>
                <a:spcPts val="600"/>
              </a:spcBef>
              <a:spcAft>
                <a:spcPts val="600"/>
              </a:spcAft>
              <a:buFont typeface="Arial" panose="020B0604020202090204"/>
              <a:buChar char="•"/>
            </a:pPr>
            <a:r>
              <a:rPr lang="en-US" altLang="zh-CN">
                <a:latin typeface="Times New Roman" panose="02020503050405090304" charset="0"/>
                <a:ea typeface="-apple-system"/>
                <a:cs typeface="Times New Roman" panose="02020503050405090304" charset="0"/>
                <a:sym typeface="+mn-ea"/>
              </a:rPr>
              <a:t> kb = −0.5 /day (original = 0, no decay)</a:t>
            </a:r>
            <a:endParaRPr lang="en-US" altLang="zh-CN" b="0" i="0">
              <a:latin typeface="Times New Roman" panose="02020503050405090304" charset="0"/>
              <a:ea typeface="-apple-system"/>
              <a:cs typeface="Times New Roman" panose="02020503050405090304" charset="0"/>
            </a:endParaRPr>
          </a:p>
          <a:p>
            <a:pPr marL="0" indent="0">
              <a:spcBef>
                <a:spcPts val="600"/>
              </a:spcBef>
              <a:spcAft>
                <a:spcPts val="600"/>
              </a:spcAft>
              <a:buFont typeface="Arial" panose="020B0604020202090204"/>
              <a:buChar char="•"/>
            </a:pPr>
            <a:r>
              <a:rPr lang="en-US" altLang="zh-CN">
                <a:latin typeface="Times New Roman" panose="02020503050405090304" charset="0"/>
                <a:ea typeface="-apple-system"/>
                <a:cs typeface="Times New Roman" panose="02020503050405090304" charset="0"/>
                <a:sym typeface="+mn-ea"/>
              </a:rPr>
              <a:t> kw_old = -1.0/day </a:t>
            </a:r>
            <a:endParaRPr lang="en-US" altLang="zh-CN">
              <a:latin typeface="Times New Roman" panose="02020503050405090304" charset="0"/>
              <a:ea typeface="-apple-system"/>
              <a:cs typeface="Times New Roman" panose="02020503050405090304" charset="0"/>
              <a:sym typeface="+mn-ea"/>
            </a:endParaRPr>
          </a:p>
          <a:p>
            <a:pPr marL="0" indent="0">
              <a:spcBef>
                <a:spcPts val="600"/>
              </a:spcBef>
              <a:spcAft>
                <a:spcPts val="600"/>
              </a:spcAft>
              <a:buFont typeface="Arial" panose="020B0604020202090204"/>
              <a:buChar char="•"/>
            </a:pPr>
            <a:r>
              <a:rPr lang="en-US" altLang="zh-CN">
                <a:latin typeface="Times New Roman" panose="02020503050405090304" charset="0"/>
                <a:ea typeface="-apple-system"/>
                <a:cs typeface="Times New Roman" panose="02020503050405090304" charset="0"/>
                <a:sym typeface="+mn-ea"/>
              </a:rPr>
              <a:t> kw_ave = -0.1/day</a:t>
            </a:r>
            <a:endParaRPr lang="en-US" altLang="zh-CN" b="0" i="0">
              <a:latin typeface="Times New Roman" panose="02020503050405090304" charset="0"/>
              <a:ea typeface="-apple-system"/>
              <a:cs typeface="Times New Roman" panose="02020503050405090304" charset="0"/>
            </a:endParaRPr>
          </a:p>
          <a:p>
            <a:pPr marL="0" indent="0">
              <a:spcBef>
                <a:spcPts val="600"/>
              </a:spcBef>
              <a:spcAft>
                <a:spcPts val="600"/>
              </a:spcAft>
              <a:buFont typeface="Arial" panose="020B0604020202090204"/>
              <a:buChar char="•"/>
            </a:pPr>
            <a:r>
              <a:rPr lang="en-US" altLang="zh-CN">
                <a:latin typeface="Times New Roman" panose="02020503050405090304" charset="0"/>
                <a:ea typeface="-apple-system"/>
                <a:cs typeface="Times New Roman" panose="02020503050405090304" charset="0"/>
                <a:sym typeface="+mn-ea"/>
              </a:rPr>
              <a:t> kw_new =   -0.05 /day</a:t>
            </a:r>
            <a:endParaRPr lang="en-US" altLang="zh-CN">
              <a:latin typeface="Times New Roman" panose="02020503050405090304" charset="0"/>
              <a:ea typeface="-apple-system"/>
              <a:cs typeface="Times New Roman" panose="02020503050405090304" charset="0"/>
              <a:sym typeface="+mn-ea"/>
            </a:endParaRPr>
          </a:p>
        </p:txBody>
      </p:sp>
      <p:graphicFrame>
        <p:nvGraphicFramePr>
          <p:cNvPr id="7" name="表格 6"/>
          <p:cNvGraphicFramePr/>
          <p:nvPr/>
        </p:nvGraphicFramePr>
        <p:xfrm>
          <a:off x="262255" y="4493895"/>
          <a:ext cx="10485120" cy="2463800"/>
        </p:xfrm>
        <a:graphic>
          <a:graphicData uri="http://schemas.openxmlformats.org/drawingml/2006/table">
            <a:tbl>
              <a:tblPr/>
              <a:tblGrid>
                <a:gridCol w="3495040"/>
                <a:gridCol w="3192145"/>
                <a:gridCol w="3797935"/>
              </a:tblGrid>
              <a:tr h="0">
                <a:tc>
                  <a:txBody>
                    <a:bodyPr/>
                    <a:p>
                      <a:pPr algn="l" fontAlgn="t"/>
                      <a:r>
                        <a:rPr lang="en-US" altLang="zh-CN" sz="2000" b="0" i="0">
                          <a:solidFill>
                            <a:schemeClr val="tx1"/>
                          </a:solidFill>
                          <a:latin typeface="Times New Roman" panose="02020503050405090304" charset="0"/>
                          <a:ea typeface="-apple-system"/>
                        </a:rPr>
                        <a:t>Group</a:t>
                      </a:r>
                      <a:endParaRPr lang="en-US" altLang="zh-CN" sz="2000" b="0" i="0">
                        <a:solidFill>
                          <a:schemeClr val="tx1"/>
                        </a:solidFill>
                        <a:latin typeface="Times New Roman" panose="02020503050405090304" charset="0"/>
                        <a:ea typeface="-apple-system"/>
                      </a:endParaRPr>
                    </a:p>
                  </a:txBody>
                  <a:tcPr marL="114617" marR="114617" marT="63817" marB="63817" anchor="t" anchorCtr="0">
                    <a:lnL>
                      <a:noFill/>
                    </a:lnL>
                    <a:lnR>
                      <a:noFill/>
                    </a:lnR>
                    <a:lnT>
                      <a:noFill/>
                    </a:lnT>
                    <a:lnB>
                      <a:noFill/>
                    </a:lnB>
                    <a:noFill/>
                  </a:tcPr>
                </a:tc>
                <a:tc>
                  <a:txBody>
                    <a:bodyPr/>
                    <a:p>
                      <a:pPr algn="l" fontAlgn="t"/>
                      <a:r>
                        <a:rPr lang="en-US" altLang="zh-CN" sz="2000" b="0" i="0">
                          <a:solidFill>
                            <a:schemeClr val="tx1"/>
                          </a:solidFill>
                          <a:latin typeface="Times New Roman" panose="02020503050405090304" charset="0"/>
                          <a:ea typeface="-apple-system"/>
                          <a:cs typeface="Times New Roman" panose="02020503050405090304" charset="0"/>
                        </a:rPr>
                        <a:t>01 (</a:t>
                      </a:r>
                      <a:r>
                        <a:rPr lang="en-US" altLang="zh-CN" sz="2000" b="0" i="0">
                          <a:solidFill>
                            <a:schemeClr val="tx1"/>
                          </a:solidFill>
                          <a:latin typeface="Times New Roman" panose="02020503050405090304" charset="0"/>
                          <a:ea typeface="-apple-system"/>
                          <a:cs typeface="Times New Roman" panose="02020503050405090304" charset="0"/>
                        </a:rPr>
                        <a:t>Spatial partitioning)</a:t>
                      </a:r>
                      <a:endParaRPr lang="en-US" altLang="zh-CN" sz="2000" b="0" i="0">
                        <a:solidFill>
                          <a:schemeClr val="tx1"/>
                        </a:solidFill>
                        <a:latin typeface="Times New Roman" panose="02020503050405090304" charset="0"/>
                        <a:ea typeface="-apple-system"/>
                        <a:cs typeface="Times New Roman" panose="02020503050405090304" charset="0"/>
                      </a:endParaRPr>
                    </a:p>
                  </a:txBody>
                  <a:tcPr marL="114617" marR="114617" marT="63817" marB="63817" anchor="t" anchorCtr="0">
                    <a:lnL>
                      <a:noFill/>
                    </a:lnL>
                    <a:lnR>
                      <a:noFill/>
                    </a:lnR>
                    <a:lnT>
                      <a:noFill/>
                    </a:lnT>
                    <a:lnB>
                      <a:noFill/>
                    </a:lnB>
                    <a:noFill/>
                  </a:tcPr>
                </a:tc>
                <a:tc>
                  <a:txBody>
                    <a:bodyPr/>
                    <a:p>
                      <a:pPr algn="l" fontAlgn="t"/>
                      <a:r>
                        <a:rPr lang="en-US" altLang="zh-CN" sz="2000" b="0" i="0">
                          <a:solidFill>
                            <a:schemeClr val="tx1"/>
                          </a:solidFill>
                          <a:latin typeface="Times New Roman" panose="02020503050405090304" charset="0"/>
                          <a:ea typeface="-apple-system"/>
                          <a:cs typeface="Times New Roman" panose="02020503050405090304" charset="0"/>
                        </a:rPr>
                        <a:t>02</a:t>
                      </a:r>
                      <a:r>
                        <a:rPr lang="zh-CN" altLang="en-US" sz="2000" b="0" i="0">
                          <a:solidFill>
                            <a:schemeClr val="tx1"/>
                          </a:solidFill>
                          <a:latin typeface="Times New Roman" panose="02020503050405090304" charset="0"/>
                          <a:ea typeface="-apple-system"/>
                          <a:cs typeface="Times New Roman" panose="02020503050405090304" charset="0"/>
                        </a:rPr>
                        <a:t>（</a:t>
                      </a:r>
                      <a:r>
                        <a:rPr lang="en-US" altLang="zh-CN" sz="2000" b="0" i="0">
                          <a:solidFill>
                            <a:schemeClr val="tx1"/>
                          </a:solidFill>
                          <a:latin typeface="Times New Roman" panose="02020503050405090304" charset="0"/>
                          <a:ea typeface="-apple-system"/>
                          <a:cs typeface="Times New Roman" panose="02020503050405090304" charset="0"/>
                        </a:rPr>
                        <a:t>Take turns in sequence</a:t>
                      </a:r>
                      <a:r>
                        <a:rPr lang="en-US" altLang="zh-CN" sz="2000" b="0" i="0">
                          <a:solidFill>
                            <a:schemeClr val="tx1"/>
                          </a:solidFill>
                          <a:latin typeface="Times New Roman" panose="02020503050405090304" charset="0"/>
                          <a:ea typeface="-apple-system"/>
                          <a:cs typeface="Times New Roman" panose="02020503050405090304" charset="0"/>
                        </a:rPr>
                        <a:t>)</a:t>
                      </a:r>
                      <a:endParaRPr lang="en-US" altLang="zh-CN" sz="2000" b="0" i="0">
                        <a:solidFill>
                          <a:schemeClr val="tx1"/>
                        </a:solidFill>
                        <a:latin typeface="Times New Roman" panose="02020503050405090304" charset="0"/>
                        <a:ea typeface="-apple-system"/>
                        <a:cs typeface="Times New Roman" panose="02020503050405090304" charset="0"/>
                      </a:endParaRPr>
                    </a:p>
                  </a:txBody>
                  <a:tcPr marL="114617" marR="114617" marT="63817" marB="63817" anchor="t" anchorCtr="0">
                    <a:lnL>
                      <a:noFill/>
                    </a:lnL>
                    <a:lnR>
                      <a:noFill/>
                    </a:lnR>
                    <a:lnT>
                      <a:noFill/>
                    </a:lnT>
                    <a:lnB>
                      <a:noFill/>
                    </a:lnB>
                    <a:noFill/>
                  </a:tcPr>
                </a:tc>
              </a:tr>
              <a:tr h="0">
                <a:tc>
                  <a:txBody>
                    <a:bodyPr/>
                    <a:p>
                      <a:pPr algn="l" fontAlgn="t" latinLnBrk="0"/>
                      <a:r>
                        <a:rPr lang="en-US" altLang="zh-CN" sz="2000" b="0" i="0">
                          <a:solidFill>
                            <a:schemeClr val="tx1"/>
                          </a:solidFill>
                          <a:latin typeface="Times New Roman" panose="02020503050405090304" charset="0"/>
                          <a:ea typeface="-apple-system"/>
                          <a:cs typeface="Times New Roman" panose="02020503050405090304" charset="0"/>
                        </a:rPr>
                        <a:t>old</a:t>
                      </a:r>
                      <a:endParaRPr lang="en-US" altLang="zh-CN" sz="2000" b="0" i="0">
                        <a:solidFill>
                          <a:schemeClr val="tx1"/>
                        </a:solidFill>
                        <a:latin typeface="Times New Roman" panose="02020503050405090304" charset="0"/>
                        <a:ea typeface="-apple-system"/>
                        <a:cs typeface="Times New Roman" panose="02020503050405090304" charset="0"/>
                      </a:endParaRPr>
                    </a:p>
                  </a:txBody>
                  <a:tcPr marL="114617" marR="114617" marT="63817" marB="63817" anchor="t" anchorCtr="0">
                    <a:lnL>
                      <a:noFill/>
                    </a:lnL>
                    <a:lnR>
                      <a:noFill/>
                    </a:lnR>
                    <a:lnT>
                      <a:noFill/>
                    </a:lnT>
                    <a:lnB>
                      <a:noFill/>
                    </a:lnB>
                    <a:noFill/>
                  </a:tcPr>
                </a:tc>
                <a:tc>
                  <a:txBody>
                    <a:bodyPr/>
                    <a:p>
                      <a:pPr algn="l" fontAlgn="t" latinLnBrk="0"/>
                      <a:r>
                        <a:rPr lang="en-US" altLang="zh-CN" sz="2000" b="0" i="0">
                          <a:solidFill>
                            <a:schemeClr val="tx1"/>
                          </a:solidFill>
                          <a:latin typeface="Times New Roman" panose="02020503050405090304" charset="0"/>
                          <a:ea typeface="-apple-system"/>
                          <a:cs typeface="Times New Roman" panose="02020503050405090304" charset="0"/>
                        </a:rPr>
                        <a:t>14</a:t>
                      </a:r>
                      <a:endParaRPr lang="en-US" altLang="zh-CN" sz="2000" b="0" i="0">
                        <a:solidFill>
                          <a:schemeClr val="tx1"/>
                        </a:solidFill>
                        <a:latin typeface="Times New Roman" panose="02020503050405090304" charset="0"/>
                        <a:ea typeface="-apple-system"/>
                        <a:cs typeface="Times New Roman" panose="02020503050405090304" charset="0"/>
                      </a:endParaRPr>
                    </a:p>
                  </a:txBody>
                  <a:tcPr marL="114617" marR="114617" marT="63817" marB="63817" anchor="t" anchorCtr="0">
                    <a:lnL>
                      <a:noFill/>
                    </a:lnL>
                    <a:lnR>
                      <a:noFill/>
                    </a:lnR>
                    <a:lnT>
                      <a:noFill/>
                    </a:lnT>
                    <a:lnB>
                      <a:noFill/>
                    </a:lnB>
                    <a:noFill/>
                  </a:tcPr>
                </a:tc>
                <a:tc>
                  <a:txBody>
                    <a:bodyPr/>
                    <a:p>
                      <a:pPr algn="l" fontAlgn="t" latinLnBrk="0"/>
                      <a:r>
                        <a:rPr lang="en-US" altLang="zh-CN" sz="2000" b="0" i="0">
                          <a:solidFill>
                            <a:schemeClr val="tx1"/>
                          </a:solidFill>
                          <a:latin typeface="Times New Roman" panose="02020503050405090304" charset="0"/>
                          <a:ea typeface="-apple-system"/>
                          <a:cs typeface="Times New Roman" panose="02020503050405090304" charset="0"/>
                        </a:rPr>
                        <a:t>39</a:t>
                      </a:r>
                      <a:endParaRPr lang="en-US" altLang="zh-CN" sz="2000" b="0" i="0">
                        <a:solidFill>
                          <a:schemeClr val="tx1"/>
                        </a:solidFill>
                        <a:latin typeface="Times New Roman" panose="02020503050405090304" charset="0"/>
                        <a:ea typeface="-apple-system"/>
                        <a:cs typeface="Times New Roman" panose="02020503050405090304" charset="0"/>
                      </a:endParaRPr>
                    </a:p>
                  </a:txBody>
                  <a:tcPr marL="114617" marR="114617" marT="63817" marB="63817" anchor="t" anchorCtr="0">
                    <a:lnL>
                      <a:noFill/>
                    </a:lnL>
                    <a:lnR>
                      <a:noFill/>
                    </a:lnR>
                    <a:lnT>
                      <a:noFill/>
                    </a:lnT>
                    <a:lnB>
                      <a:noFill/>
                    </a:lnB>
                    <a:noFill/>
                  </a:tcPr>
                </a:tc>
              </a:tr>
              <a:tr h="0">
                <a:tc>
                  <a:txBody>
                    <a:bodyPr/>
                    <a:p>
                      <a:pPr algn="l" fontAlgn="t" latinLnBrk="0"/>
                      <a:r>
                        <a:rPr lang="en-US" altLang="zh-CN" sz="2000" b="0" i="0">
                          <a:solidFill>
                            <a:schemeClr val="tx1"/>
                          </a:solidFill>
                          <a:latin typeface="Times New Roman" panose="02020503050405090304" charset="0"/>
                          <a:ea typeface="-apple-system"/>
                          <a:cs typeface="Times New Roman" panose="02020503050405090304" charset="0"/>
                        </a:rPr>
                        <a:t>average</a:t>
                      </a:r>
                      <a:endParaRPr lang="en-US" altLang="zh-CN" sz="2000" b="0" i="0">
                        <a:solidFill>
                          <a:schemeClr val="tx1"/>
                        </a:solidFill>
                        <a:latin typeface="Times New Roman" panose="02020503050405090304" charset="0"/>
                        <a:ea typeface="-apple-system"/>
                        <a:cs typeface="Times New Roman" panose="02020503050405090304" charset="0"/>
                      </a:endParaRPr>
                    </a:p>
                  </a:txBody>
                  <a:tcPr marL="114617" marR="114617" marT="63817" marB="63817" anchor="t" anchorCtr="0">
                    <a:lnL>
                      <a:noFill/>
                    </a:lnL>
                    <a:lnR>
                      <a:noFill/>
                    </a:lnR>
                    <a:lnT>
                      <a:noFill/>
                    </a:lnT>
                    <a:lnB>
                      <a:noFill/>
                    </a:lnB>
                    <a:noFill/>
                  </a:tcPr>
                </a:tc>
                <a:tc>
                  <a:txBody>
                    <a:bodyPr/>
                    <a:p>
                      <a:pPr algn="l" fontAlgn="t" latinLnBrk="0"/>
                      <a:r>
                        <a:rPr lang="en-US" altLang="zh-CN" sz="2000" b="0" i="0">
                          <a:solidFill>
                            <a:schemeClr val="tx1"/>
                          </a:solidFill>
                          <a:latin typeface="Times New Roman" panose="02020503050405090304" charset="0"/>
                          <a:ea typeface="-apple-system"/>
                          <a:cs typeface="Times New Roman" panose="02020503050405090304" charset="0"/>
                        </a:rPr>
                        <a:t>37</a:t>
                      </a:r>
                      <a:endParaRPr lang="en-US" altLang="zh-CN" sz="2000" b="0" i="0">
                        <a:solidFill>
                          <a:schemeClr val="tx1"/>
                        </a:solidFill>
                        <a:latin typeface="Times New Roman" panose="02020503050405090304" charset="0"/>
                        <a:ea typeface="-apple-system"/>
                        <a:cs typeface="Times New Roman" panose="02020503050405090304" charset="0"/>
                      </a:endParaRPr>
                    </a:p>
                  </a:txBody>
                  <a:tcPr marL="114617" marR="114617" marT="63817" marB="63817" anchor="t" anchorCtr="0">
                    <a:lnL>
                      <a:noFill/>
                    </a:lnL>
                    <a:lnR>
                      <a:noFill/>
                    </a:lnR>
                    <a:lnT>
                      <a:noFill/>
                    </a:lnT>
                    <a:lnB>
                      <a:noFill/>
                    </a:lnB>
                    <a:noFill/>
                  </a:tcPr>
                </a:tc>
                <a:tc>
                  <a:txBody>
                    <a:bodyPr/>
                    <a:p>
                      <a:pPr algn="l" fontAlgn="t" latinLnBrk="0"/>
                      <a:r>
                        <a:rPr lang="en-US" altLang="zh-CN" sz="2000" b="0" i="0">
                          <a:solidFill>
                            <a:schemeClr val="tx1"/>
                          </a:solidFill>
                          <a:latin typeface="Times New Roman" panose="02020503050405090304" charset="0"/>
                          <a:ea typeface="-apple-system"/>
                          <a:cs typeface="Times New Roman" panose="02020503050405090304" charset="0"/>
                        </a:rPr>
                        <a:t>39</a:t>
                      </a:r>
                      <a:endParaRPr lang="en-US" altLang="zh-CN" sz="2000" b="0" i="0">
                        <a:solidFill>
                          <a:schemeClr val="tx1"/>
                        </a:solidFill>
                        <a:latin typeface="Times New Roman" panose="02020503050405090304" charset="0"/>
                        <a:ea typeface="-apple-system"/>
                        <a:cs typeface="Times New Roman" panose="02020503050405090304" charset="0"/>
                      </a:endParaRPr>
                    </a:p>
                  </a:txBody>
                  <a:tcPr marL="114617" marR="114617" marT="63817" marB="63817" anchor="t" anchorCtr="0">
                    <a:lnL>
                      <a:noFill/>
                    </a:lnL>
                    <a:lnR>
                      <a:noFill/>
                    </a:lnR>
                    <a:lnT>
                      <a:noFill/>
                    </a:lnT>
                    <a:lnB>
                      <a:noFill/>
                    </a:lnB>
                    <a:noFill/>
                  </a:tcPr>
                </a:tc>
              </a:tr>
              <a:tr h="0">
                <a:tc>
                  <a:txBody>
                    <a:bodyPr/>
                    <a:p>
                      <a:pPr algn="l" fontAlgn="t" latinLnBrk="0"/>
                      <a:r>
                        <a:rPr lang="en-US" altLang="zh-CN" sz="2000" b="0" i="0">
                          <a:solidFill>
                            <a:schemeClr val="tx1"/>
                          </a:solidFill>
                          <a:latin typeface="Times New Roman" panose="02020503050405090304" charset="0"/>
                          <a:ea typeface="-apple-system"/>
                          <a:cs typeface="Times New Roman" panose="02020503050405090304" charset="0"/>
                        </a:rPr>
                        <a:t>new</a:t>
                      </a:r>
                      <a:endParaRPr lang="en-US" altLang="zh-CN" sz="2000" b="0" i="0">
                        <a:solidFill>
                          <a:schemeClr val="tx1"/>
                        </a:solidFill>
                        <a:latin typeface="Times New Roman" panose="02020503050405090304" charset="0"/>
                        <a:ea typeface="-apple-system"/>
                        <a:cs typeface="Times New Roman" panose="02020503050405090304" charset="0"/>
                      </a:endParaRPr>
                    </a:p>
                  </a:txBody>
                  <a:tcPr marL="114617" marR="114617" marT="63817" marB="63817" anchor="t" anchorCtr="0">
                    <a:lnL>
                      <a:noFill/>
                    </a:lnL>
                    <a:lnR>
                      <a:noFill/>
                    </a:lnR>
                    <a:lnT>
                      <a:noFill/>
                    </a:lnT>
                    <a:lnB>
                      <a:noFill/>
                    </a:lnB>
                    <a:noFill/>
                  </a:tcPr>
                </a:tc>
                <a:tc>
                  <a:txBody>
                    <a:bodyPr/>
                    <a:p>
                      <a:pPr algn="l" fontAlgn="t" latinLnBrk="0"/>
                      <a:r>
                        <a:rPr lang="en-US" altLang="zh-CN" sz="2000" b="0" i="0">
                          <a:solidFill>
                            <a:schemeClr val="tx1"/>
                          </a:solidFill>
                          <a:latin typeface="Times New Roman" panose="02020503050405090304" charset="0"/>
                          <a:ea typeface="-apple-system"/>
                          <a:cs typeface="Times New Roman" panose="02020503050405090304" charset="0"/>
                        </a:rPr>
                        <a:t>66</a:t>
                      </a:r>
                      <a:endParaRPr lang="en-US" altLang="zh-CN" sz="2000" b="0" i="0">
                        <a:solidFill>
                          <a:schemeClr val="tx1"/>
                        </a:solidFill>
                        <a:latin typeface="Times New Roman" panose="02020503050405090304" charset="0"/>
                        <a:ea typeface="-apple-system"/>
                        <a:cs typeface="Times New Roman" panose="02020503050405090304" charset="0"/>
                      </a:endParaRPr>
                    </a:p>
                  </a:txBody>
                  <a:tcPr marL="114617" marR="114617" marT="63817" marB="63817" anchor="t" anchorCtr="0">
                    <a:lnL>
                      <a:noFill/>
                    </a:lnL>
                    <a:lnR>
                      <a:noFill/>
                    </a:lnR>
                    <a:lnT>
                      <a:noFill/>
                    </a:lnT>
                    <a:lnB>
                      <a:noFill/>
                    </a:lnB>
                    <a:noFill/>
                  </a:tcPr>
                </a:tc>
                <a:tc>
                  <a:txBody>
                    <a:bodyPr/>
                    <a:p>
                      <a:pPr algn="l" fontAlgn="t" latinLnBrk="0"/>
                      <a:r>
                        <a:rPr lang="en-US" altLang="zh-CN" sz="2000" b="0" i="0">
                          <a:solidFill>
                            <a:schemeClr val="tx1"/>
                          </a:solidFill>
                          <a:latin typeface="Times New Roman" panose="02020503050405090304" charset="0"/>
                          <a:ea typeface="-apple-system"/>
                          <a:cs typeface="Times New Roman" panose="02020503050405090304" charset="0"/>
                        </a:rPr>
                        <a:t>39</a:t>
                      </a:r>
                      <a:endParaRPr lang="en-US" altLang="zh-CN" sz="2000" b="0" i="0">
                        <a:solidFill>
                          <a:schemeClr val="tx1"/>
                        </a:solidFill>
                        <a:latin typeface="Times New Roman" panose="02020503050405090304" charset="0"/>
                        <a:ea typeface="-apple-system"/>
                        <a:cs typeface="Times New Roman" panose="02020503050405090304" charset="0"/>
                      </a:endParaRPr>
                    </a:p>
                  </a:txBody>
                  <a:tcPr marL="114617" marR="114617" marT="63817" marB="63817" anchor="t" anchorCtr="0">
                    <a:lnL>
                      <a:noFill/>
                    </a:lnL>
                    <a:lnR>
                      <a:noFill/>
                    </a:lnR>
                    <a:lnT>
                      <a:noFill/>
                    </a:lnT>
                    <a:lnB>
                      <a:noFill/>
                    </a:lnB>
                    <a:noFill/>
                  </a:tcPr>
                </a:tc>
              </a:tr>
              <a:tr h="0">
                <a:tc>
                  <a:txBody>
                    <a:bodyPr/>
                    <a:p>
                      <a:pPr algn="l" fontAlgn="t" latinLnBrk="0"/>
                      <a:r>
                        <a:rPr lang="en-US" altLang="zh-CN" sz="2000" b="0" i="0">
                          <a:solidFill>
                            <a:schemeClr val="tx1"/>
                          </a:solidFill>
                          <a:latin typeface="Times New Roman" panose="02020503050405090304" charset="0"/>
                          <a:ea typeface="-apple-system"/>
                        </a:rPr>
                        <a:t>Total</a:t>
                      </a:r>
                      <a:endParaRPr lang="en-US" altLang="zh-CN" sz="2000" b="0" i="0">
                        <a:solidFill>
                          <a:schemeClr val="tx1"/>
                        </a:solidFill>
                        <a:latin typeface="Times New Roman" panose="02020503050405090304" charset="0"/>
                        <a:ea typeface="-apple-system"/>
                      </a:endParaRPr>
                    </a:p>
                  </a:txBody>
                  <a:tcPr marL="114617" marR="114617" marT="63817" marB="63817" anchor="t" anchorCtr="0">
                    <a:lnL>
                      <a:noFill/>
                    </a:lnL>
                    <a:lnR>
                      <a:noFill/>
                    </a:lnR>
                    <a:lnT>
                      <a:noFill/>
                    </a:lnT>
                    <a:lnB>
                      <a:noFill/>
                    </a:lnB>
                    <a:noFill/>
                  </a:tcPr>
                </a:tc>
                <a:tc>
                  <a:txBody>
                    <a:bodyPr/>
                    <a:p>
                      <a:pPr algn="l" fontAlgn="t" latinLnBrk="0"/>
                      <a:r>
                        <a:rPr lang="en-US" altLang="zh-CN" sz="2000" b="0" i="0">
                          <a:solidFill>
                            <a:schemeClr val="tx1"/>
                          </a:solidFill>
                          <a:latin typeface="Times New Roman" panose="02020503050405090304" charset="0"/>
                          <a:ea typeface="-apple-system"/>
                          <a:cs typeface="Times New Roman" panose="02020503050405090304" charset="0"/>
                        </a:rPr>
                        <a:t>117</a:t>
                      </a:r>
                      <a:endParaRPr lang="en-US" altLang="zh-CN" sz="2000" b="0" i="0">
                        <a:solidFill>
                          <a:schemeClr val="tx1"/>
                        </a:solidFill>
                        <a:latin typeface="Times New Roman" panose="02020503050405090304" charset="0"/>
                        <a:ea typeface="-apple-system"/>
                        <a:cs typeface="Times New Roman" panose="02020503050405090304" charset="0"/>
                      </a:endParaRPr>
                    </a:p>
                  </a:txBody>
                  <a:tcPr marL="114617" marR="114617" marT="63817" marB="63817" anchor="t" anchorCtr="0">
                    <a:lnL>
                      <a:noFill/>
                    </a:lnL>
                    <a:lnR>
                      <a:noFill/>
                    </a:lnR>
                    <a:lnT>
                      <a:noFill/>
                    </a:lnT>
                    <a:lnB>
                      <a:noFill/>
                    </a:lnB>
                    <a:noFill/>
                  </a:tcPr>
                </a:tc>
                <a:tc>
                  <a:txBody>
                    <a:bodyPr/>
                    <a:p>
                      <a:pPr algn="l" fontAlgn="t" latinLnBrk="0"/>
                      <a:r>
                        <a:rPr lang="en-US" altLang="zh-CN" sz="2000" b="0" i="0">
                          <a:solidFill>
                            <a:schemeClr val="tx1"/>
                          </a:solidFill>
                          <a:latin typeface="Times New Roman" panose="02020503050405090304" charset="0"/>
                          <a:ea typeface="-apple-system"/>
                          <a:cs typeface="Times New Roman" panose="02020503050405090304" charset="0"/>
                        </a:rPr>
                        <a:t>117</a:t>
                      </a:r>
                      <a:endParaRPr lang="en-US" altLang="zh-CN" sz="2000" b="0" i="0">
                        <a:solidFill>
                          <a:schemeClr val="tx1"/>
                        </a:solidFill>
                        <a:latin typeface="Times New Roman" panose="02020503050405090304" charset="0"/>
                        <a:ea typeface="-apple-system"/>
                        <a:cs typeface="Times New Roman" panose="02020503050405090304" charset="0"/>
                      </a:endParaRPr>
                    </a:p>
                  </a:txBody>
                  <a:tcPr marL="114617" marR="114617" marT="63817" marB="63817" anchor="t" anchorCtr="0">
                    <a:lnL>
                      <a:noFill/>
                    </a:lnL>
                    <a:lnR>
                      <a:noFill/>
                    </a:lnR>
                    <a:lnT>
                      <a:noFill/>
                    </a:lnT>
                    <a:lnB>
                      <a:noFill/>
                    </a:lnB>
                    <a:noFill/>
                  </a:tcPr>
                </a:tc>
              </a:tr>
            </a:tbl>
          </a:graphicData>
        </a:graphic>
      </p:graphicFrame>
    </p:spTree>
    <p:custDataLst>
      <p:tags r:id="rId2"/>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1"/>
          <a:stretch>
            <a:fillRect/>
          </a:stretch>
        </p:blipFill>
        <p:spPr>
          <a:xfrm>
            <a:off x="22225" y="3429000"/>
            <a:ext cx="5960110" cy="3285490"/>
          </a:xfrm>
          <a:prstGeom prst="rect">
            <a:avLst/>
          </a:prstGeom>
        </p:spPr>
      </p:pic>
      <p:pic>
        <p:nvPicPr>
          <p:cNvPr id="5" name="图片 4"/>
          <p:cNvPicPr>
            <a:picLocks noChangeAspect="1"/>
          </p:cNvPicPr>
          <p:nvPr/>
        </p:nvPicPr>
        <p:blipFill>
          <a:blip r:embed="rId2"/>
          <a:stretch>
            <a:fillRect/>
          </a:stretch>
        </p:blipFill>
        <p:spPr>
          <a:xfrm>
            <a:off x="22225" y="30480"/>
            <a:ext cx="5717540" cy="3151505"/>
          </a:xfrm>
          <a:prstGeom prst="rect">
            <a:avLst/>
          </a:prstGeom>
        </p:spPr>
      </p:pic>
      <p:pic>
        <p:nvPicPr>
          <p:cNvPr id="6" name="图片 5"/>
          <p:cNvPicPr>
            <a:picLocks noChangeAspect="1"/>
          </p:cNvPicPr>
          <p:nvPr/>
        </p:nvPicPr>
        <p:blipFill>
          <a:blip r:embed="rId3"/>
          <a:stretch>
            <a:fillRect/>
          </a:stretch>
        </p:blipFill>
        <p:spPr>
          <a:xfrm>
            <a:off x="6096000" y="236855"/>
            <a:ext cx="5386070" cy="4882515"/>
          </a:xfrm>
          <a:prstGeom prst="rect">
            <a:avLst/>
          </a:prstGeom>
        </p:spPr>
      </p:pic>
    </p:spTree>
    <p:custDataLst>
      <p:tags r:id="rId4"/>
    </p:custData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154940" y="204153"/>
            <a:ext cx="5080000" cy="460375"/>
          </a:xfrm>
          <a:prstGeom prst="rect">
            <a:avLst/>
          </a:prstGeom>
        </p:spPr>
        <p:txBody>
          <a:bodyPr>
            <a:spAutoFit/>
          </a:bodyPr>
          <a:p>
            <a:r>
              <a:rPr lang="en-US" altLang="zh-CN" sz="2400" b="1">
                <a:solidFill>
                  <a:schemeClr val="tx1"/>
                </a:solidFill>
                <a:latin typeface="Times New Roman" panose="02020503050405090304" charset="0"/>
                <a:cs typeface="Times New Roman" panose="02020503050405090304" charset="0"/>
              </a:rPr>
              <a:t>GLUE</a:t>
            </a:r>
            <a:endParaRPr lang="en-US" altLang="zh-CN" sz="2400" b="1">
              <a:solidFill>
                <a:schemeClr val="tx1"/>
              </a:solidFill>
              <a:latin typeface="Times New Roman" panose="02020503050405090304" charset="0"/>
              <a:cs typeface="Times New Roman" panose="02020503050405090304" charset="0"/>
            </a:endParaRPr>
          </a:p>
        </p:txBody>
      </p:sp>
      <p:sp>
        <p:nvSpPr>
          <p:cNvPr id="6" name="文本框 5"/>
          <p:cNvSpPr txBox="1"/>
          <p:nvPr/>
        </p:nvSpPr>
        <p:spPr>
          <a:xfrm>
            <a:off x="217805" y="2366645"/>
            <a:ext cx="2988945" cy="1245235"/>
          </a:xfrm>
          <a:prstGeom prst="rect">
            <a:avLst/>
          </a:prstGeom>
        </p:spPr>
        <p:txBody>
          <a:bodyPr wrap="square">
            <a:spAutoFit/>
          </a:bodyPr>
          <a:p>
            <a:pPr>
              <a:lnSpc>
                <a:spcPts val="1800"/>
              </a:lnSpc>
            </a:pPr>
            <a:r>
              <a:rPr lang="en-US" altLang="zh-CN" sz="2000" b="0">
                <a:solidFill>
                  <a:schemeClr val="tx1"/>
                </a:solidFill>
                <a:latin typeface="Times New Roman" panose="02020503050405090304" charset="0"/>
                <a:ea typeface="Menlo" panose="020B0609030804020204"/>
                <a:cs typeface="Times New Roman" panose="02020503050405090304" charset="0"/>
              </a:rPr>
              <a:t>kw_old ∈ [-1.5, -0.2] </a:t>
            </a:r>
            <a:endParaRPr lang="en-US" altLang="zh-CN" sz="2000" b="0">
              <a:solidFill>
                <a:schemeClr val="tx1"/>
              </a:solidFill>
              <a:latin typeface="Times New Roman" panose="02020503050405090304" charset="0"/>
              <a:ea typeface="Menlo" panose="020B0609030804020204"/>
              <a:cs typeface="Times New Roman" panose="02020503050405090304" charset="0"/>
            </a:endParaRPr>
          </a:p>
          <a:p>
            <a:pPr>
              <a:lnSpc>
                <a:spcPts val="1800"/>
              </a:lnSpc>
            </a:pPr>
            <a:endParaRPr lang="en-US" altLang="zh-CN" sz="2000" b="0">
              <a:solidFill>
                <a:schemeClr val="tx1"/>
              </a:solidFill>
              <a:latin typeface="Times New Roman" panose="02020503050405090304" charset="0"/>
              <a:ea typeface="Menlo" panose="020B0609030804020204"/>
              <a:cs typeface="Times New Roman" panose="02020503050405090304" charset="0"/>
            </a:endParaRPr>
          </a:p>
          <a:p>
            <a:pPr>
              <a:lnSpc>
                <a:spcPts val="1800"/>
              </a:lnSpc>
            </a:pPr>
            <a:r>
              <a:rPr lang="en-US" altLang="zh-CN" sz="2000" b="0">
                <a:solidFill>
                  <a:schemeClr val="tx1"/>
                </a:solidFill>
                <a:latin typeface="Times New Roman" panose="02020503050405090304" charset="0"/>
                <a:ea typeface="Menlo" panose="020B0609030804020204"/>
                <a:cs typeface="Times New Roman" panose="02020503050405090304" charset="0"/>
              </a:rPr>
              <a:t>kw_avg ∈ [</a:t>
            </a:r>
            <a:r>
              <a:rPr lang="en-US" altLang="zh-CN" sz="2000">
                <a:solidFill>
                  <a:schemeClr val="tx1"/>
                </a:solidFill>
                <a:latin typeface="Times New Roman" panose="02020503050405090304" charset="0"/>
                <a:ea typeface="Menlo" panose="020B0609030804020204"/>
                <a:cs typeface="Times New Roman" panose="02020503050405090304" charset="0"/>
                <a:sym typeface="+mn-ea"/>
              </a:rPr>
              <a:t>-0.2, -</a:t>
            </a:r>
            <a:r>
              <a:rPr lang="en-US" altLang="zh-CN" sz="2000" b="0">
                <a:solidFill>
                  <a:schemeClr val="tx1"/>
                </a:solidFill>
                <a:latin typeface="Times New Roman" panose="02020503050405090304" charset="0"/>
                <a:ea typeface="Menlo" panose="020B0609030804020204"/>
                <a:cs typeface="Times New Roman" panose="02020503050405090304" charset="0"/>
              </a:rPr>
              <a:t>0.04] </a:t>
            </a:r>
            <a:endParaRPr lang="en-US" altLang="zh-CN" sz="2000" b="0">
              <a:solidFill>
                <a:schemeClr val="tx1"/>
              </a:solidFill>
              <a:latin typeface="Times New Roman" panose="02020503050405090304" charset="0"/>
              <a:ea typeface="Menlo" panose="020B0609030804020204"/>
              <a:cs typeface="Times New Roman" panose="02020503050405090304" charset="0"/>
            </a:endParaRPr>
          </a:p>
          <a:p>
            <a:pPr>
              <a:lnSpc>
                <a:spcPts val="1800"/>
              </a:lnSpc>
            </a:pPr>
            <a:endParaRPr lang="en-US" altLang="zh-CN" sz="2000" b="0">
              <a:solidFill>
                <a:schemeClr val="tx1"/>
              </a:solidFill>
              <a:latin typeface="Times New Roman" panose="02020503050405090304" charset="0"/>
              <a:ea typeface="Menlo" panose="020B0609030804020204"/>
              <a:cs typeface="Times New Roman" panose="02020503050405090304" charset="0"/>
            </a:endParaRPr>
          </a:p>
          <a:p>
            <a:pPr>
              <a:lnSpc>
                <a:spcPts val="1800"/>
              </a:lnSpc>
            </a:pPr>
            <a:r>
              <a:rPr lang="en-US" altLang="zh-CN" sz="2000" b="0">
                <a:solidFill>
                  <a:schemeClr val="tx1"/>
                </a:solidFill>
                <a:latin typeface="Times New Roman" panose="02020503050405090304" charset="0"/>
                <a:ea typeface="Menlo" panose="020B0609030804020204"/>
                <a:cs typeface="Times New Roman" panose="02020503050405090304" charset="0"/>
              </a:rPr>
              <a:t>kw_new ∈ [</a:t>
            </a:r>
            <a:r>
              <a:rPr lang="en-US" altLang="zh-CN" sz="2000">
                <a:solidFill>
                  <a:schemeClr val="tx1"/>
                </a:solidFill>
                <a:latin typeface="Times New Roman" panose="02020503050405090304" charset="0"/>
                <a:ea typeface="Menlo" panose="020B0609030804020204"/>
                <a:cs typeface="Times New Roman" panose="02020503050405090304" charset="0"/>
                <a:sym typeface="+mn-ea"/>
              </a:rPr>
              <a:t>-0.1, -</a:t>
            </a:r>
            <a:r>
              <a:rPr lang="en-US" altLang="zh-CN" sz="2000" b="0">
                <a:solidFill>
                  <a:schemeClr val="tx1"/>
                </a:solidFill>
                <a:latin typeface="Times New Roman" panose="02020503050405090304" charset="0"/>
                <a:ea typeface="Menlo" panose="020B0609030804020204"/>
                <a:cs typeface="Times New Roman" panose="02020503050405090304" charset="0"/>
              </a:rPr>
              <a:t>0.005]</a:t>
            </a:r>
            <a:endParaRPr lang="en-US" altLang="zh-CN" sz="2000" b="0">
              <a:solidFill>
                <a:schemeClr val="tx1"/>
              </a:solidFill>
              <a:latin typeface="Times New Roman" panose="02020503050405090304" charset="0"/>
              <a:ea typeface="Menlo" panose="020B0609030804020204"/>
              <a:cs typeface="Times New Roman" panose="02020503050405090304" charset="0"/>
            </a:endParaRPr>
          </a:p>
        </p:txBody>
      </p:sp>
      <p:sp>
        <p:nvSpPr>
          <p:cNvPr id="8" name="文本框 7"/>
          <p:cNvSpPr txBox="1"/>
          <p:nvPr/>
        </p:nvSpPr>
        <p:spPr>
          <a:xfrm>
            <a:off x="217805" y="3935413"/>
            <a:ext cx="5080000" cy="398780"/>
          </a:xfrm>
          <a:prstGeom prst="rect">
            <a:avLst/>
          </a:prstGeom>
        </p:spPr>
        <p:txBody>
          <a:bodyPr>
            <a:spAutoFit/>
          </a:bodyPr>
          <a:p>
            <a:r>
              <a:rPr lang="en-US" altLang="zh-CN" sz="2000">
                <a:latin typeface="Times New Roman" panose="02020503050405090304" charset="0"/>
                <a:cs typeface="Times New Roman" panose="02020503050405090304" charset="0"/>
              </a:rPr>
              <a:t>σ = 0.1 mg/L</a:t>
            </a:r>
            <a:endParaRPr lang="en-US" altLang="zh-CN" sz="2000">
              <a:latin typeface="Times New Roman" panose="02020503050405090304" charset="0"/>
              <a:cs typeface="Times New Roman" panose="02020503050405090304" charset="0"/>
            </a:endParaRPr>
          </a:p>
        </p:txBody>
      </p:sp>
      <p:sp>
        <p:nvSpPr>
          <p:cNvPr id="9" name="文本框 8"/>
          <p:cNvSpPr txBox="1"/>
          <p:nvPr/>
        </p:nvSpPr>
        <p:spPr>
          <a:xfrm>
            <a:off x="154940" y="4592638"/>
            <a:ext cx="5080000" cy="398780"/>
          </a:xfrm>
          <a:prstGeom prst="rect">
            <a:avLst/>
          </a:prstGeom>
        </p:spPr>
        <p:txBody>
          <a:bodyPr>
            <a:spAutoFit/>
          </a:bodyPr>
          <a:p>
            <a:r>
              <a:rPr lang="en-US" altLang="zh-CN" sz="2000">
                <a:latin typeface="Times New Roman" panose="02020503050405090304" charset="0"/>
                <a:cs typeface="Times New Roman" panose="02020503050405090304" charset="0"/>
              </a:rPr>
              <a:t>behavioural threshold: RMSE &lt; 0.12 mg/L</a:t>
            </a:r>
            <a:endParaRPr lang="en-US" altLang="zh-CN" sz="2000">
              <a:latin typeface="Times New Roman" panose="02020503050405090304" charset="0"/>
              <a:cs typeface="Times New Roman" panose="02020503050405090304" charset="0"/>
            </a:endParaRPr>
          </a:p>
        </p:txBody>
      </p:sp>
      <p:sp>
        <p:nvSpPr>
          <p:cNvPr id="14" name="文本框 13"/>
          <p:cNvSpPr txBox="1"/>
          <p:nvPr/>
        </p:nvSpPr>
        <p:spPr>
          <a:xfrm>
            <a:off x="5234940" y="664845"/>
            <a:ext cx="6226810" cy="5354320"/>
          </a:xfrm>
          <a:prstGeom prst="rect">
            <a:avLst/>
          </a:prstGeom>
          <a:noFill/>
        </p:spPr>
        <p:txBody>
          <a:bodyPr wrap="square" rtlCol="0">
            <a:spAutoFit/>
          </a:bodyPr>
          <a:p>
            <a:r>
              <a:rPr lang="en-US" altLang="zh-CN">
                <a:latin typeface="Times New Roman" panose="02020503050405090304" charset="0"/>
                <a:cs typeface="Times New Roman" panose="02020503050405090304" charset="0"/>
              </a:rPr>
              <a:t>• Uniform prior: The three kw parameters are initially "equally likely" within their respective ranges; k_b is fixed and not inverted.  </a:t>
            </a:r>
            <a:endParaRPr lang="en-US" altLang="zh-CN">
              <a:latin typeface="Times New Roman" panose="02020503050405090304" charset="0"/>
              <a:cs typeface="Times New Roman" panose="02020503050405090304" charset="0"/>
            </a:endParaRPr>
          </a:p>
          <a:p>
            <a:endParaRPr lang="en-US" altLang="zh-CN">
              <a:latin typeface="Times New Roman" panose="02020503050405090304" charset="0"/>
              <a:cs typeface="Times New Roman" panose="02020503050405090304" charset="0"/>
            </a:endParaRPr>
          </a:p>
          <a:p>
            <a:r>
              <a:rPr lang="en-US" altLang="zh-CN">
                <a:latin typeface="Times New Roman" panose="02020503050405090304" charset="0"/>
                <a:cs typeface="Times New Roman" panose="02020503050405090304" charset="0"/>
              </a:rPr>
              <a:t>1. Sample 2,000 sets of [kw_old, kw_avg, kw_new] from the prior using Monte Carlo;  </a:t>
            </a:r>
            <a:endParaRPr lang="en-US" altLang="zh-CN">
              <a:latin typeface="Times New Roman" panose="02020503050405090304" charset="0"/>
              <a:cs typeface="Times New Roman" panose="02020503050405090304" charset="0"/>
            </a:endParaRPr>
          </a:p>
          <a:p>
            <a:endParaRPr lang="en-US" altLang="zh-CN">
              <a:latin typeface="Times New Roman" panose="02020503050405090304" charset="0"/>
              <a:cs typeface="Times New Roman" panose="02020503050405090304" charset="0"/>
            </a:endParaRPr>
          </a:p>
          <a:p>
            <a:r>
              <a:rPr lang="en-US" altLang="zh-CN">
                <a:latin typeface="Times New Roman" panose="02020503050405090304" charset="0"/>
                <a:cs typeface="Times New Roman" panose="02020503050405090304" charset="0"/>
              </a:rPr>
              <a:t>2. For each set, run WNTR forward simulation and calculate RMSE at monitoring points;  </a:t>
            </a:r>
            <a:endParaRPr lang="en-US" altLang="zh-CN">
              <a:latin typeface="Times New Roman" panose="02020503050405090304" charset="0"/>
              <a:cs typeface="Times New Roman" panose="02020503050405090304" charset="0"/>
            </a:endParaRPr>
          </a:p>
          <a:p>
            <a:endParaRPr lang="en-US" altLang="zh-CN">
              <a:latin typeface="Times New Roman" panose="02020503050405090304" charset="0"/>
              <a:cs typeface="Times New Roman" panose="02020503050405090304" charset="0"/>
            </a:endParaRPr>
          </a:p>
          <a:p>
            <a:r>
              <a:rPr lang="en-US" altLang="zh-CN">
                <a:latin typeface="Times New Roman" panose="02020503050405090304" charset="0"/>
                <a:cs typeface="Times New Roman" panose="02020503050405090304" charset="0"/>
              </a:rPr>
              <a:t>3. Use Gaussian likelihood based on RMSE;  </a:t>
            </a:r>
            <a:endParaRPr lang="en-US" altLang="zh-CN">
              <a:latin typeface="Times New Roman" panose="02020503050405090304" charset="0"/>
              <a:cs typeface="Times New Roman" panose="02020503050405090304" charset="0"/>
            </a:endParaRPr>
          </a:p>
          <a:p>
            <a:endParaRPr lang="en-US" altLang="zh-CN">
              <a:latin typeface="Times New Roman" panose="02020503050405090304" charset="0"/>
              <a:cs typeface="Times New Roman" panose="02020503050405090304" charset="0"/>
            </a:endParaRPr>
          </a:p>
          <a:p>
            <a:r>
              <a:rPr lang="en-US" altLang="zh-CN">
                <a:latin typeface="Times New Roman" panose="02020503050405090304" charset="0"/>
                <a:cs typeface="Times New Roman" panose="02020503050405090304" charset="0"/>
              </a:rPr>
              <a:t>4. Filter out poor results using a behavioral threshold (RMSE &lt; 0.12 mg/L);  </a:t>
            </a:r>
            <a:endParaRPr lang="en-US" altLang="zh-CN">
              <a:latin typeface="Times New Roman" panose="02020503050405090304" charset="0"/>
              <a:cs typeface="Times New Roman" panose="02020503050405090304" charset="0"/>
            </a:endParaRPr>
          </a:p>
          <a:p>
            <a:endParaRPr lang="en-US" altLang="zh-CN">
              <a:latin typeface="Times New Roman" panose="02020503050405090304" charset="0"/>
              <a:cs typeface="Times New Roman" panose="02020503050405090304" charset="0"/>
            </a:endParaRPr>
          </a:p>
          <a:p>
            <a:r>
              <a:rPr lang="en-US" altLang="zh-CN">
                <a:latin typeface="Times New Roman" panose="02020503050405090304" charset="0"/>
                <a:cs typeface="Times New Roman" panose="02020503050405090304" charset="0"/>
              </a:rPr>
              <a:t>5. Normalize likelihoods into weights;  </a:t>
            </a:r>
            <a:endParaRPr lang="en-US" altLang="zh-CN">
              <a:latin typeface="Times New Roman" panose="02020503050405090304" charset="0"/>
              <a:cs typeface="Times New Roman" panose="02020503050405090304" charset="0"/>
            </a:endParaRPr>
          </a:p>
          <a:p>
            <a:endParaRPr lang="en-US" altLang="zh-CN">
              <a:latin typeface="Times New Roman" panose="02020503050405090304" charset="0"/>
              <a:cs typeface="Times New Roman" panose="02020503050405090304" charset="0"/>
            </a:endParaRPr>
          </a:p>
          <a:p>
            <a:r>
              <a:rPr lang="en-US" altLang="zh-CN">
                <a:latin typeface="Times New Roman" panose="02020503050405090304" charset="0"/>
                <a:cs typeface="Times New Roman" panose="02020503050405090304" charset="0"/>
              </a:rPr>
              <a:t>6. Output: Behavioral kw distribution, 5–95% prediction interval, weighted P(C &lt; 0.2)</a:t>
            </a:r>
            <a:endParaRPr lang="en-US" altLang="zh-CN">
              <a:latin typeface="Times New Roman" panose="02020503050405090304" charset="0"/>
              <a:cs typeface="Times New Roman" panose="02020503050405090304" charset="0"/>
            </a:endParaRPr>
          </a:p>
        </p:txBody>
      </p:sp>
      <p:sp>
        <p:nvSpPr>
          <p:cNvPr id="15" name="文本框 14"/>
          <p:cNvSpPr txBox="1"/>
          <p:nvPr/>
        </p:nvSpPr>
        <p:spPr>
          <a:xfrm>
            <a:off x="217805" y="1582420"/>
            <a:ext cx="6096000" cy="460375"/>
          </a:xfrm>
          <a:prstGeom prst="rect">
            <a:avLst/>
          </a:prstGeom>
          <a:noFill/>
        </p:spPr>
        <p:txBody>
          <a:bodyPr wrap="square" rtlCol="0" anchor="t">
            <a:spAutoFit/>
          </a:bodyPr>
          <a:p>
            <a:r>
              <a:rPr lang="en-US" altLang="zh-CN" sz="2400">
                <a:latin typeface="Times New Roman" panose="02020503050405090304" charset="0"/>
                <a:cs typeface="Times New Roman" panose="02020503050405090304" charset="0"/>
                <a:sym typeface="+mn-ea"/>
              </a:rPr>
              <a:t>Prior</a:t>
            </a:r>
            <a:endParaRPr lang="en-US" altLang="zh-CN" sz="2400">
              <a:latin typeface="Times New Roman" panose="02020503050405090304" charset="0"/>
              <a:cs typeface="Times New Roman" panose="02020503050405090304" charset="0"/>
              <a:sym typeface="+mn-ea"/>
            </a:endParaRPr>
          </a:p>
        </p:txBody>
      </p:sp>
    </p:spTree>
    <p:custDataLst>
      <p:tags r:id="rId1"/>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02895" y="1139190"/>
            <a:ext cx="6651625" cy="2861310"/>
          </a:xfrm>
          <a:prstGeom prst="rect">
            <a:avLst/>
          </a:prstGeom>
          <a:noFill/>
        </p:spPr>
        <p:txBody>
          <a:bodyPr wrap="square" rtlCol="0" anchor="t">
            <a:spAutoFit/>
          </a:bodyPr>
          <a:p>
            <a:r>
              <a:rPr lang="en-US" altLang="zh-CN">
                <a:latin typeface="Times New Roman Regular" panose="02020503050405090304" charset="0"/>
                <a:cs typeface="Times New Roman Regular" panose="02020503050405090304" charset="0"/>
              </a:rPr>
              <a:t>Behavioural: 1685 / 2000 (RMSE &lt; 0.12)</a:t>
            </a:r>
            <a:endParaRPr lang="en-US" altLang="zh-CN">
              <a:latin typeface="Times New Roman Regular" panose="02020503050405090304" charset="0"/>
              <a:cs typeface="Times New Roman Regular" panose="02020503050405090304" charset="0"/>
            </a:endParaRPr>
          </a:p>
          <a:p>
            <a:endParaRPr lang="en-US" altLang="zh-CN">
              <a:latin typeface="Times New Roman" panose="02020503050405090304" charset="0"/>
              <a:cs typeface="Times New Roman" panose="02020503050405090304" charset="0"/>
              <a:sym typeface="+mn-ea"/>
            </a:endParaRPr>
          </a:p>
          <a:p>
            <a:r>
              <a:rPr lang="en-US" altLang="zh-CN">
                <a:latin typeface="Times New Roman" panose="02020503050405090304" charset="0"/>
                <a:cs typeface="Times New Roman" panose="02020503050405090304" charset="0"/>
                <a:sym typeface="+mn-ea"/>
              </a:rPr>
              <a:t>-Out of 2,000 sets of random parameters, 1,685 sets resulted in an RMSE less than 0.12.</a:t>
            </a:r>
            <a:endParaRPr lang="en-US" altLang="zh-CN">
              <a:latin typeface="Times New Roman Regular" panose="02020503050405090304" charset="0"/>
              <a:cs typeface="Times New Roman Regular" panose="02020503050405090304" charset="0"/>
            </a:endParaRPr>
          </a:p>
          <a:p>
            <a:endParaRPr lang="en-US" altLang="zh-CN">
              <a:latin typeface="Times New Roman Regular" panose="02020503050405090304" charset="0"/>
              <a:cs typeface="Times New Roman Regular" panose="02020503050405090304" charset="0"/>
            </a:endParaRPr>
          </a:p>
          <a:p>
            <a:r>
              <a:rPr lang="en-US" altLang="zh-CN">
                <a:latin typeface="Times New Roman Regular" panose="02020503050405090304" charset="0"/>
                <a:cs typeface="Times New Roman Regular" panose="02020503050405090304" charset="0"/>
              </a:rPr>
              <a:t>GLUE Weighted posterior</a:t>
            </a:r>
            <a:r>
              <a:rPr lang="zh-CN" altLang="en-US">
                <a:latin typeface="Times New Roman Regular" panose="02020503050405090304" charset="0"/>
                <a:cs typeface="Times New Roman Regular" panose="02020503050405090304" charset="0"/>
              </a:rPr>
              <a:t> (</a:t>
            </a:r>
            <a:r>
              <a:rPr lang="en-US" altLang="zh-CN">
                <a:latin typeface="Times New Roman Regular" panose="02020503050405090304" charset="0"/>
                <a:cs typeface="Times New Roman Regular" panose="02020503050405090304" charset="0"/>
              </a:rPr>
              <a:t>mean ± std)：</a:t>
            </a:r>
            <a:endParaRPr lang="en-US" altLang="zh-CN">
              <a:latin typeface="Times New Roman Regular" panose="02020503050405090304" charset="0"/>
              <a:cs typeface="Times New Roman Regular" panose="02020503050405090304" charset="0"/>
            </a:endParaRPr>
          </a:p>
          <a:p>
            <a:endParaRPr lang="en-US" altLang="zh-CN">
              <a:latin typeface="Times New Roman Regular" panose="02020503050405090304" charset="0"/>
              <a:cs typeface="Times New Roman Regular" panose="02020503050405090304" charset="0"/>
            </a:endParaRPr>
          </a:p>
          <a:p>
            <a:r>
              <a:rPr lang="en-US" altLang="zh-CN">
                <a:latin typeface="Times New Roman Regular" panose="02020503050405090304" charset="0"/>
                <a:cs typeface="Times New Roman Regular" panose="02020503050405090304" charset="0"/>
              </a:rPr>
              <a:t>kw_old = -0.961 ± 0.317   (true -1.00)</a:t>
            </a:r>
            <a:endParaRPr lang="en-US" altLang="zh-CN">
              <a:latin typeface="Times New Roman Regular" panose="02020503050405090304" charset="0"/>
              <a:cs typeface="Times New Roman Regular" panose="02020503050405090304" charset="0"/>
            </a:endParaRPr>
          </a:p>
          <a:p>
            <a:r>
              <a:rPr lang="en-US" altLang="zh-CN">
                <a:latin typeface="Times New Roman Regular" panose="02020503050405090304" charset="0"/>
                <a:cs typeface="Times New Roman Regular" panose="02020503050405090304" charset="0"/>
              </a:rPr>
              <a:t>kw_avg = -0.120 ± 0.045   (true -0.10)</a:t>
            </a:r>
            <a:endParaRPr lang="en-US" altLang="zh-CN">
              <a:latin typeface="Times New Roman Regular" panose="02020503050405090304" charset="0"/>
              <a:cs typeface="Times New Roman Regular" panose="02020503050405090304" charset="0"/>
            </a:endParaRPr>
          </a:p>
          <a:p>
            <a:r>
              <a:rPr lang="en-US" altLang="zh-CN">
                <a:latin typeface="Times New Roman Regular" panose="02020503050405090304" charset="0"/>
                <a:cs typeface="Times New Roman Regular" panose="02020503050405090304" charset="0"/>
              </a:rPr>
              <a:t>kw_new = -0.053 ± 0.027   (true -0.05)</a:t>
            </a:r>
            <a:endParaRPr lang="zh-CN" altLang="en-US">
              <a:latin typeface="Times New Roman Regular" panose="02020503050405090304" charset="0"/>
              <a:cs typeface="Times New Roman Regular" panose="02020503050405090304" charset="0"/>
            </a:endParaRPr>
          </a:p>
        </p:txBody>
      </p:sp>
      <p:graphicFrame>
        <p:nvGraphicFramePr>
          <p:cNvPr id="6" name="表格 5"/>
          <p:cNvGraphicFramePr/>
          <p:nvPr/>
        </p:nvGraphicFramePr>
        <p:xfrm>
          <a:off x="477520" y="4255770"/>
          <a:ext cx="10483850" cy="1178560"/>
        </p:xfrm>
        <a:graphic>
          <a:graphicData uri="http://schemas.openxmlformats.org/drawingml/2006/table">
            <a:tbl>
              <a:tblPr/>
              <a:tblGrid>
                <a:gridCol w="2096770"/>
                <a:gridCol w="2096770"/>
                <a:gridCol w="2096770"/>
                <a:gridCol w="2096770"/>
                <a:gridCol w="2096770"/>
              </a:tblGrid>
              <a:tr h="0">
                <a:tc>
                  <a:txBody>
                    <a:bodyPr/>
                    <a:p>
                      <a:pPr algn="l" fontAlgn="t"/>
                      <a:r>
                        <a:rPr lang="en-US" altLang="zh-CN" sz="1800" b="0" i="0">
                          <a:solidFill>
                            <a:schemeClr val="tx1"/>
                          </a:solidFill>
                          <a:latin typeface="Times New Roman Regular" panose="02020503050405090304" charset="0"/>
                          <a:ea typeface="-apple-system"/>
                          <a:cs typeface="Times New Roman Regular" panose="02020503050405090304" charset="0"/>
                        </a:rPr>
                        <a:t>Parameter</a:t>
                      </a:r>
                      <a:endParaRPr lang="en-US" altLang="zh-CN" sz="1800" b="0" i="0">
                        <a:solidFill>
                          <a:schemeClr val="tx1"/>
                        </a:solidFill>
                        <a:latin typeface="Times New Roman Regular" panose="02020503050405090304" charset="0"/>
                        <a:ea typeface="-apple-system"/>
                        <a:cs typeface="Times New Roman Regular" panose="02020503050405090304" charset="0"/>
                      </a:endParaRPr>
                    </a:p>
                  </a:txBody>
                  <a:tcPr marL="114617" marR="114617" marT="63817" marB="63817" anchor="t" anchorCtr="0">
                    <a:lnL>
                      <a:noFill/>
                    </a:lnL>
                    <a:lnR>
                      <a:noFill/>
                    </a:lnR>
                    <a:lnT>
                      <a:noFill/>
                    </a:lnT>
                    <a:lnB>
                      <a:noFill/>
                    </a:lnB>
                    <a:noFill/>
                  </a:tcPr>
                </a:tc>
                <a:tc>
                  <a:txBody>
                    <a:bodyPr/>
                    <a:p>
                      <a:pPr algn="l" fontAlgn="t"/>
                      <a:r>
                        <a:rPr lang="en-US" altLang="zh-CN" sz="1800">
                          <a:latin typeface="Times New Roman Regular" panose="02020503050405090304" charset="0"/>
                          <a:cs typeface="Times New Roman Regular" panose="02020503050405090304" charset="0"/>
                          <a:sym typeface="+mn-ea"/>
                        </a:rPr>
                        <a:t>Posterior</a:t>
                      </a:r>
                      <a:r>
                        <a:rPr lang="zh-CN" altLang="en-US" sz="1800" b="0" i="0">
                          <a:solidFill>
                            <a:schemeClr val="tx1"/>
                          </a:solidFill>
                          <a:latin typeface="Times New Roman Regular" panose="02020503050405090304" charset="0"/>
                          <a:ea typeface="-apple-system"/>
                          <a:cs typeface="Times New Roman Regular" panose="02020503050405090304" charset="0"/>
                        </a:rPr>
                        <a:t> </a:t>
                      </a:r>
                      <a:r>
                        <a:rPr lang="en-US" altLang="zh-CN" sz="1800" b="0" i="0">
                          <a:solidFill>
                            <a:schemeClr val="tx1"/>
                          </a:solidFill>
                          <a:latin typeface="Times New Roman Regular" panose="02020503050405090304" charset="0"/>
                          <a:ea typeface="-apple-system"/>
                          <a:cs typeface="Times New Roman Regular" panose="02020503050405090304" charset="0"/>
                        </a:rPr>
                        <a:t>5–95%</a:t>
                      </a:r>
                      <a:endParaRPr lang="en-US" altLang="zh-CN" sz="1800" b="0" i="0">
                        <a:solidFill>
                          <a:schemeClr val="tx1"/>
                        </a:solidFill>
                        <a:latin typeface="Times New Roman Regular" panose="02020503050405090304" charset="0"/>
                        <a:ea typeface="-apple-system"/>
                        <a:cs typeface="Times New Roman Regular" panose="02020503050405090304" charset="0"/>
                      </a:endParaRPr>
                    </a:p>
                  </a:txBody>
                  <a:tcPr marL="114617" marR="114617" marT="63817" marB="63817" anchor="t" anchorCtr="0">
                    <a:lnL>
                      <a:noFill/>
                    </a:lnL>
                    <a:lnR>
                      <a:noFill/>
                    </a:lnR>
                    <a:lnT>
                      <a:noFill/>
                    </a:lnT>
                    <a:lnB>
                      <a:noFill/>
                    </a:lnB>
                    <a:noFill/>
                  </a:tcPr>
                </a:tc>
                <a:tc>
                  <a:txBody>
                    <a:bodyPr/>
                    <a:p>
                      <a:pPr algn="l" fontAlgn="t"/>
                      <a:r>
                        <a:rPr lang="en-US" altLang="zh-CN" sz="1800" b="0" i="0">
                          <a:solidFill>
                            <a:schemeClr val="tx1"/>
                          </a:solidFill>
                          <a:latin typeface="Times New Roman Regular" panose="02020503050405090304" charset="0"/>
                          <a:ea typeface="-apple-system"/>
                          <a:cs typeface="Times New Roman Regular" panose="02020503050405090304" charset="0"/>
                        </a:rPr>
                        <a:t>Median</a:t>
                      </a:r>
                      <a:endParaRPr lang="en-US" altLang="zh-CN" sz="1800" b="0" i="0">
                        <a:solidFill>
                          <a:schemeClr val="tx1"/>
                        </a:solidFill>
                        <a:latin typeface="Times New Roman Regular" panose="02020503050405090304" charset="0"/>
                        <a:ea typeface="-apple-system"/>
                        <a:cs typeface="Times New Roman Regular" panose="02020503050405090304" charset="0"/>
                      </a:endParaRPr>
                    </a:p>
                  </a:txBody>
                  <a:tcPr marL="114617" marR="114617" marT="63817" marB="63817" anchor="t" anchorCtr="0">
                    <a:lnL>
                      <a:noFill/>
                    </a:lnL>
                    <a:lnR>
                      <a:noFill/>
                    </a:lnR>
                    <a:lnT>
                      <a:noFill/>
                    </a:lnT>
                    <a:lnB>
                      <a:noFill/>
                    </a:lnB>
                    <a:noFill/>
                  </a:tcPr>
                </a:tc>
                <a:tc>
                  <a:txBody>
                    <a:bodyPr/>
                    <a:p>
                      <a:pPr algn="l" fontAlgn="t"/>
                      <a:r>
                        <a:rPr lang="en-US" altLang="zh-CN" sz="1800" b="0" i="0">
                          <a:solidFill>
                            <a:schemeClr val="tx1"/>
                          </a:solidFill>
                          <a:latin typeface="Times New Roman Regular" panose="02020503050405090304" charset="0"/>
                          <a:ea typeface="-apple-system"/>
                          <a:cs typeface="Times New Roman Regular" panose="02020503050405090304" charset="0"/>
                        </a:rPr>
                        <a:t>Prior</a:t>
                      </a:r>
                      <a:endParaRPr lang="en-US" altLang="zh-CN" sz="1800" b="0" i="0">
                        <a:solidFill>
                          <a:schemeClr val="tx1"/>
                        </a:solidFill>
                        <a:latin typeface="Times New Roman Regular" panose="02020503050405090304" charset="0"/>
                        <a:ea typeface="-apple-system"/>
                        <a:cs typeface="Times New Roman Regular" panose="02020503050405090304" charset="0"/>
                      </a:endParaRPr>
                    </a:p>
                  </a:txBody>
                  <a:tcPr marL="114617" marR="114617" marT="63817" marB="63817" anchor="t" anchorCtr="0">
                    <a:lnL>
                      <a:noFill/>
                    </a:lnL>
                    <a:lnR>
                      <a:noFill/>
                    </a:lnR>
                    <a:lnT>
                      <a:noFill/>
                    </a:lnT>
                    <a:lnB>
                      <a:noFill/>
                    </a:lnB>
                    <a:solidFill>
                      <a:schemeClr val="accent4">
                        <a:lumMod val="20000"/>
                        <a:lumOff val="80000"/>
                      </a:schemeClr>
                    </a:solidFill>
                  </a:tcPr>
                </a:tc>
                <a:tc>
                  <a:txBody>
                    <a:bodyPr/>
                    <a:p>
                      <a:pPr algn="l" fontAlgn="t"/>
                      <a:r>
                        <a:rPr lang="en-US" altLang="zh-CN" sz="1800" b="0" i="0">
                          <a:solidFill>
                            <a:schemeClr val="tx1"/>
                          </a:solidFill>
                          <a:latin typeface="Times New Roman Regular" panose="02020503050405090304" charset="0"/>
                          <a:ea typeface="-apple-system"/>
                          <a:cs typeface="Times New Roman Regular" panose="02020503050405090304" charset="0"/>
                        </a:rPr>
                        <a:t>True value</a:t>
                      </a:r>
                      <a:endParaRPr lang="en-US" altLang="zh-CN" sz="1800" b="0" i="0">
                        <a:solidFill>
                          <a:schemeClr val="tx1"/>
                        </a:solidFill>
                        <a:latin typeface="Times New Roman Regular" panose="02020503050405090304" charset="0"/>
                        <a:ea typeface="-apple-system"/>
                        <a:cs typeface="Times New Roman Regular" panose="02020503050405090304" charset="0"/>
                      </a:endParaRPr>
                    </a:p>
                  </a:txBody>
                  <a:tcPr marL="114617" marR="114617" marT="63817" marB="63817" anchor="t" anchorCtr="0">
                    <a:lnL>
                      <a:noFill/>
                    </a:lnL>
                    <a:lnR>
                      <a:noFill/>
                    </a:lnR>
                    <a:lnT>
                      <a:noFill/>
                    </a:lnT>
                    <a:lnB>
                      <a:noFill/>
                    </a:lnB>
                    <a:solidFill>
                      <a:schemeClr val="accent4">
                        <a:lumMod val="20000"/>
                        <a:lumOff val="80000"/>
                      </a:schemeClr>
                    </a:solidFill>
                  </a:tcPr>
                </a:tc>
              </a:tr>
              <a:tr h="0">
                <a:tc>
                  <a:txBody>
                    <a:bodyPr/>
                    <a:p>
                      <a:pPr algn="l" fontAlgn="t" latinLnBrk="0"/>
                      <a:r>
                        <a:rPr lang="en-US" altLang="zh-CN" sz="1800" b="0" i="0">
                          <a:solidFill>
                            <a:schemeClr val="tx1"/>
                          </a:solidFill>
                          <a:latin typeface="Times New Roman Regular" panose="02020503050405090304" charset="0"/>
                          <a:ea typeface="-apple-system"/>
                          <a:cs typeface="Times New Roman Regular" panose="02020503050405090304" charset="0"/>
                        </a:rPr>
                        <a:t>kw_old</a:t>
                      </a:r>
                      <a:endParaRPr lang="en-US" altLang="zh-CN" sz="1800" b="0" i="0">
                        <a:solidFill>
                          <a:schemeClr val="tx1"/>
                        </a:solidFill>
                        <a:latin typeface="Times New Roman Regular" panose="02020503050405090304" charset="0"/>
                        <a:ea typeface="-apple-system"/>
                        <a:cs typeface="Times New Roman Regular" panose="02020503050405090304" charset="0"/>
                      </a:endParaRPr>
                    </a:p>
                  </a:txBody>
                  <a:tcPr marL="114617" marR="114617" marT="63817" marB="63817" anchor="t" anchorCtr="0">
                    <a:lnL>
                      <a:noFill/>
                    </a:lnL>
                    <a:lnR>
                      <a:noFill/>
                    </a:lnR>
                    <a:lnT>
                      <a:noFill/>
                    </a:lnT>
                    <a:lnB>
                      <a:noFill/>
                    </a:lnB>
                    <a:noFill/>
                  </a:tcPr>
                </a:tc>
                <a:tc>
                  <a:txBody>
                    <a:bodyPr/>
                    <a:p>
                      <a:pPr algn="l" fontAlgn="t" latinLnBrk="0"/>
                      <a:r>
                        <a:rPr lang="en-US" altLang="zh-CN" sz="1800" b="0" i="0">
                          <a:solidFill>
                            <a:schemeClr val="tx1"/>
                          </a:solidFill>
                          <a:latin typeface="Times New Roman Regular" panose="02020503050405090304" charset="0"/>
                          <a:ea typeface="-apple-system"/>
                          <a:cs typeface="Times New Roman Regular" panose="02020503050405090304" charset="0"/>
                        </a:rPr>
                        <a:t>[-1.456, -0.455]</a:t>
                      </a:r>
                      <a:endParaRPr lang="en-US" altLang="zh-CN" sz="1800" b="0" i="0">
                        <a:solidFill>
                          <a:schemeClr val="tx1"/>
                        </a:solidFill>
                        <a:latin typeface="Times New Roman Regular" panose="02020503050405090304" charset="0"/>
                        <a:ea typeface="-apple-system"/>
                        <a:cs typeface="Times New Roman Regular" panose="02020503050405090304" charset="0"/>
                      </a:endParaRPr>
                    </a:p>
                  </a:txBody>
                  <a:tcPr marL="114617" marR="114617" marT="63817" marB="63817" anchor="t" anchorCtr="0">
                    <a:lnL>
                      <a:noFill/>
                    </a:lnL>
                    <a:lnR>
                      <a:noFill/>
                    </a:lnR>
                    <a:lnT>
                      <a:noFill/>
                    </a:lnT>
                    <a:lnB>
                      <a:noFill/>
                    </a:lnB>
                    <a:noFill/>
                  </a:tcPr>
                </a:tc>
                <a:tc>
                  <a:txBody>
                    <a:bodyPr/>
                    <a:p>
                      <a:pPr algn="l" fontAlgn="t" latinLnBrk="0"/>
                      <a:r>
                        <a:rPr lang="en-US" altLang="zh-CN" sz="1800" b="0" i="0">
                          <a:solidFill>
                            <a:schemeClr val="tx1"/>
                          </a:solidFill>
                          <a:latin typeface="Times New Roman Regular" panose="02020503050405090304" charset="0"/>
                          <a:ea typeface="-apple-system"/>
                          <a:cs typeface="Times New Roman Regular" panose="02020503050405090304" charset="0"/>
                        </a:rPr>
                        <a:t>-0.972</a:t>
                      </a:r>
                      <a:endParaRPr lang="en-US" altLang="zh-CN" sz="1800" b="0" i="0">
                        <a:solidFill>
                          <a:schemeClr val="tx1"/>
                        </a:solidFill>
                        <a:latin typeface="Times New Roman Regular" panose="02020503050405090304" charset="0"/>
                        <a:ea typeface="-apple-system"/>
                        <a:cs typeface="Times New Roman Regular" panose="02020503050405090304" charset="0"/>
                      </a:endParaRPr>
                    </a:p>
                  </a:txBody>
                  <a:tcPr marL="114617" marR="114617" marT="63817" marB="63817" anchor="t" anchorCtr="0">
                    <a:lnL>
                      <a:noFill/>
                    </a:lnL>
                    <a:lnR>
                      <a:noFill/>
                    </a:lnR>
                    <a:lnT>
                      <a:noFill/>
                    </a:lnT>
                    <a:lnB>
                      <a:noFill/>
                    </a:lnB>
                    <a:noFill/>
                  </a:tcPr>
                </a:tc>
                <a:tc>
                  <a:txBody>
                    <a:bodyPr/>
                    <a:p>
                      <a:pPr algn="l" fontAlgn="t" latinLnBrk="0"/>
                      <a:r>
                        <a:rPr lang="en-US" altLang="zh-CN" sz="1800" b="0" i="0">
                          <a:solidFill>
                            <a:schemeClr val="tx1"/>
                          </a:solidFill>
                          <a:latin typeface="Times New Roman Regular" panose="02020503050405090304" charset="0"/>
                          <a:ea typeface="-apple-system"/>
                          <a:cs typeface="Times New Roman Regular" panose="02020503050405090304" charset="0"/>
                        </a:rPr>
                        <a:t>[-1.5, -0.2]</a:t>
                      </a:r>
                      <a:endParaRPr lang="en-US" altLang="zh-CN" sz="1800" b="0" i="0">
                        <a:solidFill>
                          <a:schemeClr val="tx1"/>
                        </a:solidFill>
                        <a:latin typeface="Times New Roman Regular" panose="02020503050405090304" charset="0"/>
                        <a:ea typeface="-apple-system"/>
                        <a:cs typeface="Times New Roman Regular" panose="02020503050405090304" charset="0"/>
                      </a:endParaRPr>
                    </a:p>
                  </a:txBody>
                  <a:tcPr marL="114617" marR="114617" marT="63817" marB="63817" anchor="t" anchorCtr="0">
                    <a:lnL>
                      <a:noFill/>
                    </a:lnL>
                    <a:lnR>
                      <a:noFill/>
                    </a:lnR>
                    <a:lnT>
                      <a:noFill/>
                    </a:lnT>
                    <a:lnB>
                      <a:noFill/>
                    </a:lnB>
                    <a:solidFill>
                      <a:schemeClr val="accent4">
                        <a:lumMod val="20000"/>
                        <a:lumOff val="80000"/>
                      </a:schemeClr>
                    </a:solidFill>
                  </a:tcPr>
                </a:tc>
                <a:tc>
                  <a:txBody>
                    <a:bodyPr/>
                    <a:p>
                      <a:pPr algn="l" fontAlgn="t" latinLnBrk="0"/>
                      <a:r>
                        <a:rPr lang="en-US" altLang="zh-CN" sz="1800" b="0" i="0">
                          <a:solidFill>
                            <a:schemeClr val="tx1"/>
                          </a:solidFill>
                          <a:latin typeface="Times New Roman Regular" panose="02020503050405090304" charset="0"/>
                          <a:ea typeface="-apple-system"/>
                          <a:cs typeface="Times New Roman Regular" panose="02020503050405090304" charset="0"/>
                        </a:rPr>
                        <a:t>-1.0</a:t>
                      </a:r>
                      <a:endParaRPr lang="en-US" altLang="zh-CN" sz="1800" b="0" i="0">
                        <a:solidFill>
                          <a:schemeClr val="tx1"/>
                        </a:solidFill>
                        <a:latin typeface="Times New Roman Regular" panose="02020503050405090304" charset="0"/>
                        <a:ea typeface="-apple-system"/>
                        <a:cs typeface="Times New Roman Regular" panose="02020503050405090304" charset="0"/>
                      </a:endParaRPr>
                    </a:p>
                  </a:txBody>
                  <a:tcPr marL="114617" marR="114617" marT="63817" marB="63817" anchor="t" anchorCtr="0">
                    <a:lnL>
                      <a:noFill/>
                    </a:lnL>
                    <a:lnR>
                      <a:noFill/>
                    </a:lnR>
                    <a:lnT>
                      <a:noFill/>
                    </a:lnT>
                    <a:lnB>
                      <a:noFill/>
                    </a:lnB>
                    <a:solidFill>
                      <a:schemeClr val="accent4">
                        <a:lumMod val="20000"/>
                        <a:lumOff val="80000"/>
                      </a:schemeClr>
                    </a:solidFill>
                  </a:tcPr>
                </a:tc>
              </a:tr>
              <a:tr h="0">
                <a:tc>
                  <a:txBody>
                    <a:bodyPr/>
                    <a:p>
                      <a:pPr algn="l" fontAlgn="t" latinLnBrk="0"/>
                      <a:r>
                        <a:rPr lang="en-US" altLang="zh-CN" sz="1800" b="0" i="0">
                          <a:solidFill>
                            <a:schemeClr val="tx1"/>
                          </a:solidFill>
                          <a:latin typeface="Times New Roman Regular" panose="02020503050405090304" charset="0"/>
                          <a:ea typeface="-apple-system"/>
                          <a:cs typeface="Times New Roman Regular" panose="02020503050405090304" charset="0"/>
                        </a:rPr>
                        <a:t>kw_avg</a:t>
                      </a:r>
                      <a:endParaRPr lang="en-US" altLang="zh-CN" sz="1800" b="0" i="0">
                        <a:solidFill>
                          <a:schemeClr val="tx1"/>
                        </a:solidFill>
                        <a:latin typeface="Times New Roman Regular" panose="02020503050405090304" charset="0"/>
                        <a:ea typeface="-apple-system"/>
                        <a:cs typeface="Times New Roman Regular" panose="02020503050405090304" charset="0"/>
                      </a:endParaRPr>
                    </a:p>
                  </a:txBody>
                  <a:tcPr marL="114617" marR="114617" marT="63817" marB="63817" anchor="t" anchorCtr="0">
                    <a:lnL>
                      <a:noFill/>
                    </a:lnL>
                    <a:lnR>
                      <a:noFill/>
                    </a:lnR>
                    <a:lnT>
                      <a:noFill/>
                    </a:lnT>
                    <a:lnB>
                      <a:noFill/>
                    </a:lnB>
                    <a:noFill/>
                  </a:tcPr>
                </a:tc>
                <a:tc>
                  <a:txBody>
                    <a:bodyPr/>
                    <a:p>
                      <a:pPr algn="l" fontAlgn="t" latinLnBrk="0"/>
                      <a:r>
                        <a:rPr lang="en-US" altLang="zh-CN" sz="1800" b="0" i="0">
                          <a:solidFill>
                            <a:schemeClr val="tx1"/>
                          </a:solidFill>
                          <a:latin typeface="Times New Roman Regular" panose="02020503050405090304" charset="0"/>
                          <a:ea typeface="-apple-system"/>
                          <a:cs typeface="Times New Roman Regular" panose="02020503050405090304" charset="0"/>
                        </a:rPr>
                        <a:t>[-0.192, -0.048]</a:t>
                      </a:r>
                      <a:endParaRPr lang="en-US" altLang="zh-CN" sz="1800" b="0" i="0">
                        <a:solidFill>
                          <a:schemeClr val="tx1"/>
                        </a:solidFill>
                        <a:latin typeface="Times New Roman Regular" panose="02020503050405090304" charset="0"/>
                        <a:ea typeface="-apple-system"/>
                        <a:cs typeface="Times New Roman Regular" panose="02020503050405090304" charset="0"/>
                      </a:endParaRPr>
                    </a:p>
                  </a:txBody>
                  <a:tcPr marL="114617" marR="114617" marT="63817" marB="63817" anchor="t" anchorCtr="0">
                    <a:lnL>
                      <a:noFill/>
                    </a:lnL>
                    <a:lnR>
                      <a:noFill/>
                    </a:lnR>
                    <a:lnT>
                      <a:noFill/>
                    </a:lnT>
                    <a:lnB>
                      <a:noFill/>
                    </a:lnB>
                    <a:noFill/>
                  </a:tcPr>
                </a:tc>
                <a:tc>
                  <a:txBody>
                    <a:bodyPr/>
                    <a:p>
                      <a:pPr algn="l" fontAlgn="t" latinLnBrk="0"/>
                      <a:r>
                        <a:rPr lang="en-US" altLang="zh-CN" sz="1800" b="0" i="0">
                          <a:solidFill>
                            <a:schemeClr val="tx1"/>
                          </a:solidFill>
                          <a:latin typeface="Times New Roman Regular" panose="02020503050405090304" charset="0"/>
                          <a:ea typeface="-apple-system"/>
                          <a:cs typeface="Times New Roman Regular" panose="02020503050405090304" charset="0"/>
                        </a:rPr>
                        <a:t>-0.120</a:t>
                      </a:r>
                      <a:endParaRPr lang="en-US" altLang="zh-CN" sz="1800" b="0" i="0">
                        <a:solidFill>
                          <a:schemeClr val="tx1"/>
                        </a:solidFill>
                        <a:latin typeface="Times New Roman Regular" panose="02020503050405090304" charset="0"/>
                        <a:ea typeface="-apple-system"/>
                        <a:cs typeface="Times New Roman Regular" panose="02020503050405090304" charset="0"/>
                      </a:endParaRPr>
                    </a:p>
                  </a:txBody>
                  <a:tcPr marL="114617" marR="114617" marT="63817" marB="63817" anchor="t" anchorCtr="0">
                    <a:lnL>
                      <a:noFill/>
                    </a:lnL>
                    <a:lnR>
                      <a:noFill/>
                    </a:lnR>
                    <a:lnT>
                      <a:noFill/>
                    </a:lnT>
                    <a:lnB>
                      <a:noFill/>
                    </a:lnB>
                    <a:noFill/>
                  </a:tcPr>
                </a:tc>
                <a:tc>
                  <a:txBody>
                    <a:bodyPr/>
                    <a:p>
                      <a:pPr algn="l" fontAlgn="t" latinLnBrk="0"/>
                      <a:r>
                        <a:rPr lang="en-US" altLang="zh-CN" sz="1800" b="0" i="0">
                          <a:solidFill>
                            <a:schemeClr val="tx1"/>
                          </a:solidFill>
                          <a:latin typeface="Times New Roman Regular" panose="02020503050405090304" charset="0"/>
                          <a:ea typeface="-apple-system"/>
                          <a:cs typeface="Times New Roman Regular" panose="02020503050405090304" charset="0"/>
                        </a:rPr>
                        <a:t>[-0.2, -0.04]</a:t>
                      </a:r>
                      <a:endParaRPr lang="en-US" altLang="zh-CN" sz="1800" b="0" i="0">
                        <a:solidFill>
                          <a:schemeClr val="tx1"/>
                        </a:solidFill>
                        <a:latin typeface="Times New Roman Regular" panose="02020503050405090304" charset="0"/>
                        <a:ea typeface="-apple-system"/>
                        <a:cs typeface="Times New Roman Regular" panose="02020503050405090304" charset="0"/>
                      </a:endParaRPr>
                    </a:p>
                  </a:txBody>
                  <a:tcPr marL="114617" marR="114617" marT="63817" marB="63817" anchor="t" anchorCtr="0">
                    <a:lnL>
                      <a:noFill/>
                    </a:lnL>
                    <a:lnR>
                      <a:noFill/>
                    </a:lnR>
                    <a:lnT>
                      <a:noFill/>
                    </a:lnT>
                    <a:lnB>
                      <a:noFill/>
                    </a:lnB>
                    <a:solidFill>
                      <a:schemeClr val="accent4">
                        <a:lumMod val="20000"/>
                        <a:lumOff val="80000"/>
                      </a:schemeClr>
                    </a:solidFill>
                  </a:tcPr>
                </a:tc>
                <a:tc>
                  <a:txBody>
                    <a:bodyPr/>
                    <a:p>
                      <a:pPr algn="l" fontAlgn="t" latinLnBrk="0"/>
                      <a:r>
                        <a:rPr lang="en-US" altLang="zh-CN" sz="1800" b="0" i="0">
                          <a:solidFill>
                            <a:schemeClr val="tx1"/>
                          </a:solidFill>
                          <a:latin typeface="Times New Roman Regular" panose="02020503050405090304" charset="0"/>
                          <a:ea typeface="-apple-system"/>
                          <a:cs typeface="Times New Roman Regular" panose="02020503050405090304" charset="0"/>
                        </a:rPr>
                        <a:t>-0.1</a:t>
                      </a:r>
                      <a:endParaRPr lang="en-US" altLang="zh-CN" sz="1800" b="0" i="0">
                        <a:solidFill>
                          <a:schemeClr val="tx1"/>
                        </a:solidFill>
                        <a:latin typeface="Times New Roman Regular" panose="02020503050405090304" charset="0"/>
                        <a:ea typeface="-apple-system"/>
                        <a:cs typeface="Times New Roman Regular" panose="02020503050405090304" charset="0"/>
                      </a:endParaRPr>
                    </a:p>
                  </a:txBody>
                  <a:tcPr marL="114617" marR="114617" marT="63817" marB="63817" anchor="t" anchorCtr="0">
                    <a:lnL>
                      <a:noFill/>
                    </a:lnL>
                    <a:lnR>
                      <a:noFill/>
                    </a:lnR>
                    <a:lnT>
                      <a:noFill/>
                    </a:lnT>
                    <a:lnB>
                      <a:noFill/>
                    </a:lnB>
                    <a:solidFill>
                      <a:schemeClr val="accent4">
                        <a:lumMod val="20000"/>
                        <a:lumOff val="80000"/>
                      </a:schemeClr>
                    </a:solidFill>
                  </a:tcPr>
                </a:tc>
              </a:tr>
              <a:tr h="0">
                <a:tc>
                  <a:txBody>
                    <a:bodyPr/>
                    <a:p>
                      <a:pPr algn="l" fontAlgn="t" latinLnBrk="0"/>
                      <a:r>
                        <a:rPr lang="en-US" altLang="zh-CN" sz="1800" b="0" i="0">
                          <a:solidFill>
                            <a:schemeClr val="tx1"/>
                          </a:solidFill>
                          <a:latin typeface="Times New Roman Regular" panose="02020503050405090304" charset="0"/>
                          <a:ea typeface="-apple-system"/>
                          <a:cs typeface="Times New Roman Regular" panose="02020503050405090304" charset="0"/>
                        </a:rPr>
                        <a:t>kw_new</a:t>
                      </a:r>
                      <a:endParaRPr lang="en-US" altLang="zh-CN" sz="1800" b="0" i="0">
                        <a:solidFill>
                          <a:schemeClr val="tx1"/>
                        </a:solidFill>
                        <a:latin typeface="Times New Roman Regular" panose="02020503050405090304" charset="0"/>
                        <a:ea typeface="-apple-system"/>
                        <a:cs typeface="Times New Roman Regular" panose="02020503050405090304" charset="0"/>
                      </a:endParaRPr>
                    </a:p>
                  </a:txBody>
                  <a:tcPr marL="114617" marR="114617" marT="63817" marB="63817" anchor="t" anchorCtr="0">
                    <a:lnL>
                      <a:noFill/>
                    </a:lnL>
                    <a:lnR>
                      <a:noFill/>
                    </a:lnR>
                    <a:lnT>
                      <a:noFill/>
                    </a:lnT>
                    <a:lnB>
                      <a:noFill/>
                    </a:lnB>
                    <a:noFill/>
                  </a:tcPr>
                </a:tc>
                <a:tc>
                  <a:txBody>
                    <a:bodyPr/>
                    <a:p>
                      <a:pPr algn="l" fontAlgn="t" latinLnBrk="0"/>
                      <a:r>
                        <a:rPr lang="en-US" altLang="zh-CN" sz="1800" b="0" i="0">
                          <a:solidFill>
                            <a:schemeClr val="tx1"/>
                          </a:solidFill>
                          <a:latin typeface="Times New Roman Regular" panose="02020503050405090304" charset="0"/>
                          <a:ea typeface="-apple-system"/>
                          <a:cs typeface="Times New Roman Regular" panose="02020503050405090304" charset="0"/>
                        </a:rPr>
                        <a:t>[-0.095, -0.010]</a:t>
                      </a:r>
                      <a:endParaRPr lang="en-US" altLang="zh-CN" sz="1800" b="0" i="0">
                        <a:solidFill>
                          <a:schemeClr val="tx1"/>
                        </a:solidFill>
                        <a:latin typeface="Times New Roman Regular" panose="02020503050405090304" charset="0"/>
                        <a:ea typeface="-apple-system"/>
                        <a:cs typeface="Times New Roman Regular" panose="02020503050405090304" charset="0"/>
                      </a:endParaRPr>
                    </a:p>
                  </a:txBody>
                  <a:tcPr marL="114617" marR="114617" marT="63817" marB="63817" anchor="t" anchorCtr="0">
                    <a:lnL>
                      <a:noFill/>
                    </a:lnL>
                    <a:lnR>
                      <a:noFill/>
                    </a:lnR>
                    <a:lnT>
                      <a:noFill/>
                    </a:lnT>
                    <a:lnB>
                      <a:noFill/>
                    </a:lnB>
                    <a:noFill/>
                  </a:tcPr>
                </a:tc>
                <a:tc>
                  <a:txBody>
                    <a:bodyPr/>
                    <a:p>
                      <a:pPr algn="l" fontAlgn="t" latinLnBrk="0"/>
                      <a:r>
                        <a:rPr lang="en-US" altLang="zh-CN" sz="1800" b="0" i="0">
                          <a:solidFill>
                            <a:schemeClr val="tx1"/>
                          </a:solidFill>
                          <a:latin typeface="Times New Roman Regular" panose="02020503050405090304" charset="0"/>
                          <a:ea typeface="-apple-system"/>
                          <a:cs typeface="Times New Roman Regular" panose="02020503050405090304" charset="0"/>
                        </a:rPr>
                        <a:t>-0.053</a:t>
                      </a:r>
                      <a:endParaRPr lang="en-US" altLang="zh-CN" sz="1800" b="0" i="0">
                        <a:solidFill>
                          <a:schemeClr val="tx1"/>
                        </a:solidFill>
                        <a:latin typeface="Times New Roman Regular" panose="02020503050405090304" charset="0"/>
                        <a:ea typeface="-apple-system"/>
                        <a:cs typeface="Times New Roman Regular" panose="02020503050405090304" charset="0"/>
                      </a:endParaRPr>
                    </a:p>
                  </a:txBody>
                  <a:tcPr marL="114617" marR="114617" marT="63817" marB="63817" anchor="t" anchorCtr="0">
                    <a:lnL>
                      <a:noFill/>
                    </a:lnL>
                    <a:lnR>
                      <a:noFill/>
                    </a:lnR>
                    <a:lnT>
                      <a:noFill/>
                    </a:lnT>
                    <a:lnB>
                      <a:noFill/>
                    </a:lnB>
                    <a:noFill/>
                  </a:tcPr>
                </a:tc>
                <a:tc>
                  <a:txBody>
                    <a:bodyPr/>
                    <a:p>
                      <a:pPr algn="l" fontAlgn="t" latinLnBrk="0"/>
                      <a:r>
                        <a:rPr lang="en-US" altLang="zh-CN" sz="1800" b="0" i="0">
                          <a:solidFill>
                            <a:schemeClr val="tx1"/>
                          </a:solidFill>
                          <a:latin typeface="Times New Roman Regular" panose="02020503050405090304" charset="0"/>
                          <a:ea typeface="-apple-system"/>
                          <a:cs typeface="Times New Roman Regular" panose="02020503050405090304" charset="0"/>
                        </a:rPr>
                        <a:t>[-0.10, -0.005]</a:t>
                      </a:r>
                      <a:endParaRPr lang="en-US" altLang="zh-CN" sz="1800" b="0" i="0">
                        <a:solidFill>
                          <a:schemeClr val="tx1"/>
                        </a:solidFill>
                        <a:latin typeface="Times New Roman Regular" panose="02020503050405090304" charset="0"/>
                        <a:ea typeface="-apple-system"/>
                        <a:cs typeface="Times New Roman Regular" panose="02020503050405090304" charset="0"/>
                      </a:endParaRPr>
                    </a:p>
                  </a:txBody>
                  <a:tcPr marL="114617" marR="114617" marT="63817" marB="63817" anchor="t" anchorCtr="0">
                    <a:lnL>
                      <a:noFill/>
                    </a:lnL>
                    <a:lnR>
                      <a:noFill/>
                    </a:lnR>
                    <a:lnT>
                      <a:noFill/>
                    </a:lnT>
                    <a:lnB>
                      <a:noFill/>
                    </a:lnB>
                    <a:solidFill>
                      <a:schemeClr val="accent4">
                        <a:lumMod val="20000"/>
                        <a:lumOff val="80000"/>
                      </a:schemeClr>
                    </a:solidFill>
                  </a:tcPr>
                </a:tc>
                <a:tc>
                  <a:txBody>
                    <a:bodyPr/>
                    <a:p>
                      <a:pPr algn="l" fontAlgn="t" latinLnBrk="0"/>
                      <a:r>
                        <a:rPr lang="en-US" altLang="zh-CN" sz="1800" b="0" i="0">
                          <a:solidFill>
                            <a:schemeClr val="tx1"/>
                          </a:solidFill>
                          <a:latin typeface="Times New Roman Regular" panose="02020503050405090304" charset="0"/>
                          <a:ea typeface="-apple-system"/>
                          <a:cs typeface="Times New Roman Regular" panose="02020503050405090304" charset="0"/>
                        </a:rPr>
                        <a:t>-0.05</a:t>
                      </a:r>
                      <a:endParaRPr lang="en-US" altLang="zh-CN" sz="1800" b="0" i="0">
                        <a:solidFill>
                          <a:schemeClr val="tx1"/>
                        </a:solidFill>
                        <a:latin typeface="Times New Roman Regular" panose="02020503050405090304" charset="0"/>
                        <a:ea typeface="-apple-system"/>
                        <a:cs typeface="Times New Roman Regular" panose="02020503050405090304" charset="0"/>
                      </a:endParaRPr>
                    </a:p>
                  </a:txBody>
                  <a:tcPr marL="114617" marR="114617" marT="63817" marB="63817" anchor="t" anchorCtr="0">
                    <a:lnL>
                      <a:noFill/>
                    </a:lnL>
                    <a:lnR>
                      <a:noFill/>
                    </a:lnR>
                    <a:lnT>
                      <a:noFill/>
                    </a:lnT>
                    <a:lnB>
                      <a:noFill/>
                    </a:lnB>
                    <a:solidFill>
                      <a:schemeClr val="accent4">
                        <a:lumMod val="20000"/>
                        <a:lumOff val="80000"/>
                      </a:schemeClr>
                    </a:solidFill>
                  </a:tcPr>
                </a:tc>
              </a:tr>
            </a:tbl>
          </a:graphicData>
        </a:graphic>
      </p:graphicFrame>
      <p:sp>
        <p:nvSpPr>
          <p:cNvPr id="2" name="文本框 1"/>
          <p:cNvSpPr txBox="1"/>
          <p:nvPr/>
        </p:nvSpPr>
        <p:spPr>
          <a:xfrm>
            <a:off x="302895" y="118110"/>
            <a:ext cx="4203065" cy="645160"/>
          </a:xfrm>
          <a:prstGeom prst="rect">
            <a:avLst/>
          </a:prstGeom>
          <a:noFill/>
        </p:spPr>
        <p:txBody>
          <a:bodyPr wrap="square" rtlCol="0" anchor="t">
            <a:spAutoFit/>
          </a:bodyPr>
          <a:p>
            <a:r>
              <a:rPr lang="en-US" altLang="zh-CN">
                <a:latin typeface="Times New Roman" panose="02020503050405090304" charset="0"/>
                <a:cs typeface="Times New Roman" panose="02020503050405090304" charset="0"/>
              </a:rPr>
              <a:t>In likelihood, the six points at all times are merged and equally weighted.</a:t>
            </a:r>
            <a:endParaRPr lang="zh-CN" altLang="en-US">
              <a:latin typeface="Times New Roman" panose="02020503050405090304" charset="0"/>
              <a:cs typeface="Times New Roman" panose="02020503050405090304" charset="0"/>
            </a:endParaRPr>
          </a:p>
        </p:txBody>
      </p:sp>
    </p:spTree>
    <p:custDataLst>
      <p:tags r:id="rId1"/>
    </p:custData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p:cNvPicPr>
            <a:picLocks noChangeAspect="1"/>
          </p:cNvPicPr>
          <p:nvPr/>
        </p:nvPicPr>
        <p:blipFill>
          <a:blip r:embed="rId1"/>
          <a:stretch>
            <a:fillRect/>
          </a:stretch>
        </p:blipFill>
        <p:spPr>
          <a:xfrm>
            <a:off x="0" y="330835"/>
            <a:ext cx="12192000" cy="3229610"/>
          </a:xfrm>
          <a:prstGeom prst="rect">
            <a:avLst/>
          </a:prstGeom>
        </p:spPr>
      </p:pic>
      <p:sp>
        <p:nvSpPr>
          <p:cNvPr id="4" name="文本框 3"/>
          <p:cNvSpPr txBox="1"/>
          <p:nvPr/>
        </p:nvSpPr>
        <p:spPr>
          <a:xfrm>
            <a:off x="203835" y="5247005"/>
            <a:ext cx="6096000" cy="368300"/>
          </a:xfrm>
          <a:prstGeom prst="rect">
            <a:avLst/>
          </a:prstGeom>
          <a:noFill/>
        </p:spPr>
        <p:txBody>
          <a:bodyPr wrap="square" rtlCol="0" anchor="t">
            <a:spAutoFit/>
          </a:bodyPr>
          <a:p>
            <a:r>
              <a:rPr lang="en-US" altLang="zh-CN">
                <a:latin typeface="Times New Roman" panose="02020503050405090304" charset="0"/>
                <a:cs typeface="Times New Roman" panose="02020503050405090304" charset="0"/>
              </a:rPr>
              <a:t>Parameter uncertainty remains relatively large.</a:t>
            </a:r>
            <a:endParaRPr lang="en-US" altLang="zh-CN">
              <a:latin typeface="Times New Roman" panose="02020503050405090304" charset="0"/>
              <a:cs typeface="Times New Roman" panose="02020503050405090304" charset="0"/>
            </a:endParaRPr>
          </a:p>
        </p:txBody>
      </p:sp>
      <p:sp>
        <p:nvSpPr>
          <p:cNvPr id="6" name="文本框 5"/>
          <p:cNvSpPr txBox="1"/>
          <p:nvPr/>
        </p:nvSpPr>
        <p:spPr>
          <a:xfrm>
            <a:off x="203835" y="3724910"/>
            <a:ext cx="5687060" cy="922020"/>
          </a:xfrm>
          <a:prstGeom prst="rect">
            <a:avLst/>
          </a:prstGeom>
          <a:noFill/>
        </p:spPr>
        <p:txBody>
          <a:bodyPr wrap="square" rtlCol="0" anchor="t">
            <a:spAutoFit/>
          </a:bodyPr>
          <a:p>
            <a:r>
              <a:rPr lang="en-US" altLang="zh-CN">
                <a:latin typeface="Times New Roman" panose="02020503050405090304" charset="0"/>
                <a:cs typeface="Times New Roman" panose="02020503050405090304" charset="0"/>
              </a:rPr>
              <a:t>Plot the behavioral parameters of kw_old, kw_avg, and kw_new as </a:t>
            </a:r>
            <a:r>
              <a:rPr lang="en-US" altLang="zh-CN" b="1">
                <a:latin typeface="Times New Roman" panose="02020503050405090304" charset="0"/>
                <a:cs typeface="Times New Roman" panose="02020503050405090304" charset="0"/>
              </a:rPr>
              <a:t>weighted histograms respectively</a:t>
            </a:r>
            <a:r>
              <a:rPr lang="en-US" altLang="zh-CN">
                <a:latin typeface="Times New Roman" panose="02020503050405090304" charset="0"/>
                <a:cs typeface="Times New Roman" panose="02020503050405090304" charset="0"/>
              </a:rPr>
              <a:t>. </a:t>
            </a:r>
            <a:endParaRPr lang="en-US" altLang="zh-CN">
              <a:latin typeface="Times New Roman" panose="02020503050405090304" charset="0"/>
              <a:cs typeface="Times New Roman" panose="02020503050405090304" charset="0"/>
            </a:endParaRPr>
          </a:p>
          <a:p>
            <a:r>
              <a:rPr lang="en-US" altLang="zh-CN">
                <a:latin typeface="Times New Roman" panose="02020503050405090304" charset="0"/>
                <a:cs typeface="Times New Roman" panose="02020503050405090304" charset="0"/>
              </a:rPr>
              <a:t>(For each histogram, the weighted density integrates to 1.)</a:t>
            </a:r>
            <a:endParaRPr lang="zh-CN" altLang="en-US">
              <a:latin typeface="Times New Roman" panose="02020503050405090304" charset="0"/>
              <a:cs typeface="Times New Roman" panose="02020503050405090304" charset="0"/>
            </a:endParaRPr>
          </a:p>
        </p:txBody>
      </p:sp>
      <p:sp>
        <p:nvSpPr>
          <p:cNvPr id="7" name="文本框 6"/>
          <p:cNvSpPr txBox="1"/>
          <p:nvPr/>
        </p:nvSpPr>
        <p:spPr>
          <a:xfrm>
            <a:off x="203835" y="5798820"/>
            <a:ext cx="6762750" cy="368300"/>
          </a:xfrm>
          <a:prstGeom prst="rect">
            <a:avLst/>
          </a:prstGeom>
          <a:noFill/>
        </p:spPr>
        <p:txBody>
          <a:bodyPr wrap="square" rtlCol="0" anchor="t">
            <a:spAutoFit/>
          </a:bodyPr>
          <a:p>
            <a:r>
              <a:rPr lang="en-US" altLang="zh-CN">
                <a:latin typeface="Times New Roman" panose="02020503050405090304" charset="0"/>
                <a:cs typeface="Times New Roman" panose="02020503050405090304" charset="0"/>
              </a:rPr>
              <a:t>The average calculated by GLUE is close to the true value.</a:t>
            </a:r>
            <a:endParaRPr lang="en-US" altLang="zh-CN">
              <a:latin typeface="Times New Roman" panose="02020503050405090304" charset="0"/>
              <a:cs typeface="Times New Roman" panose="02020503050405090304" charset="0"/>
            </a:endParaRPr>
          </a:p>
        </p:txBody>
      </p:sp>
    </p:spTree>
    <p:custDataLst>
      <p:tags r:id="rId2"/>
    </p:custData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1"/>
          <a:stretch>
            <a:fillRect/>
          </a:stretch>
        </p:blipFill>
        <p:spPr>
          <a:xfrm>
            <a:off x="146685" y="572135"/>
            <a:ext cx="5539740" cy="2745105"/>
          </a:xfrm>
          <a:prstGeom prst="rect">
            <a:avLst/>
          </a:prstGeom>
        </p:spPr>
      </p:pic>
      <p:sp>
        <p:nvSpPr>
          <p:cNvPr id="2" name="文本框 1"/>
          <p:cNvSpPr txBox="1"/>
          <p:nvPr/>
        </p:nvSpPr>
        <p:spPr>
          <a:xfrm>
            <a:off x="63500" y="3921760"/>
            <a:ext cx="5340985" cy="1476375"/>
          </a:xfrm>
          <a:prstGeom prst="rect">
            <a:avLst/>
          </a:prstGeom>
          <a:noFill/>
        </p:spPr>
        <p:txBody>
          <a:bodyPr wrap="square" rtlCol="0" anchor="t">
            <a:spAutoFit/>
          </a:bodyPr>
          <a:p>
            <a:r>
              <a:rPr lang="en-US" altLang="zh-CN">
                <a:latin typeface="Times New Roman" panose="02020503050405090304" charset="0"/>
                <a:cs typeface="Times New Roman" panose="02020503050405090304" charset="0"/>
              </a:rPr>
              <a:t>Node 15: During the entire observation period, the behavioral parameter sets retained by GLUE are used to generate a 5%–95% prediction band and median line for residual chlorine, weighted by likelihood, compared with true values and noisy observations.</a:t>
            </a:r>
            <a:endParaRPr lang="en-US" altLang="zh-CN">
              <a:latin typeface="Times New Roman" panose="02020503050405090304" charset="0"/>
              <a:cs typeface="Times New Roman" panose="02020503050405090304" charset="0"/>
            </a:endParaRPr>
          </a:p>
        </p:txBody>
      </p:sp>
      <p:pic>
        <p:nvPicPr>
          <p:cNvPr id="3" name="图片 2"/>
          <p:cNvPicPr>
            <a:picLocks noChangeAspect="1"/>
          </p:cNvPicPr>
          <p:nvPr/>
        </p:nvPicPr>
        <p:blipFill>
          <a:blip r:embed="rId2"/>
          <a:stretch>
            <a:fillRect/>
          </a:stretch>
        </p:blipFill>
        <p:spPr>
          <a:xfrm>
            <a:off x="6302375" y="572135"/>
            <a:ext cx="5261610" cy="2607310"/>
          </a:xfrm>
          <a:prstGeom prst="rect">
            <a:avLst/>
          </a:prstGeom>
        </p:spPr>
      </p:pic>
      <p:sp>
        <p:nvSpPr>
          <p:cNvPr id="5" name="文本框 4"/>
          <p:cNvSpPr txBox="1"/>
          <p:nvPr/>
        </p:nvSpPr>
        <p:spPr>
          <a:xfrm>
            <a:off x="5803265" y="3921760"/>
            <a:ext cx="5340985" cy="645160"/>
          </a:xfrm>
          <a:prstGeom prst="rect">
            <a:avLst/>
          </a:prstGeom>
          <a:noFill/>
        </p:spPr>
        <p:txBody>
          <a:bodyPr wrap="square" rtlCol="0" anchor="t">
            <a:spAutoFit/>
          </a:bodyPr>
          <a:p>
            <a:r>
              <a:rPr lang="en-US" altLang="zh-CN">
                <a:latin typeface="Times New Roman" panose="02020503050405090304" charset="0"/>
                <a:cs typeface="Times New Roman" panose="02020503050405090304" charset="0"/>
              </a:rPr>
              <a:t>node107 near water source, new plastic pipe, short retention</a:t>
            </a:r>
            <a:endParaRPr lang="zh-CN" altLang="en-US">
              <a:latin typeface="Times New Roman" panose="02020503050405090304" charset="0"/>
              <a:cs typeface="Times New Roman" panose="02020503050405090304" charset="0"/>
            </a:endParaRPr>
          </a:p>
        </p:txBody>
      </p:sp>
    </p:spTree>
    <p:custDataLst>
      <p:tags r:id="rId3"/>
    </p:custData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1"/>
          <a:srcRect l="6129" b="5870"/>
          <a:stretch>
            <a:fillRect/>
          </a:stretch>
        </p:blipFill>
        <p:spPr>
          <a:xfrm>
            <a:off x="0" y="0"/>
            <a:ext cx="7197090" cy="6455410"/>
          </a:xfrm>
          <a:prstGeom prst="rect">
            <a:avLst/>
          </a:prstGeom>
        </p:spPr>
      </p:pic>
      <p:sp>
        <p:nvSpPr>
          <p:cNvPr id="5" name="文本框 4"/>
          <p:cNvSpPr txBox="1"/>
          <p:nvPr/>
        </p:nvSpPr>
        <p:spPr>
          <a:xfrm>
            <a:off x="7393305" y="2012950"/>
            <a:ext cx="3869690" cy="1198880"/>
          </a:xfrm>
          <a:prstGeom prst="rect">
            <a:avLst/>
          </a:prstGeom>
          <a:noFill/>
        </p:spPr>
        <p:txBody>
          <a:bodyPr wrap="square" rtlCol="0" anchor="t">
            <a:spAutoFit/>
          </a:bodyPr>
          <a:p>
            <a:r>
              <a:rPr lang="en-US" altLang="zh-CN">
                <a:latin typeface="Times New Roman" panose="02020503050405090304" charset="0"/>
                <a:cs typeface="Times New Roman" panose="02020503050405090304" charset="0"/>
              </a:rPr>
              <a:t>The average probability of being below 0.2 mg/L for a given node, calculated over all time periods using the GLUE parameter weights</a:t>
            </a:r>
            <a:endParaRPr lang="en-US" altLang="zh-CN">
              <a:latin typeface="Times New Roman" panose="02020503050405090304" charset="0"/>
              <a:cs typeface="Times New Roman" panose="02020503050405090304" charset="0"/>
            </a:endParaRPr>
          </a:p>
        </p:txBody>
      </p:sp>
      <p:sp>
        <p:nvSpPr>
          <p:cNvPr id="6" name="文本框 5"/>
          <p:cNvSpPr txBox="1"/>
          <p:nvPr/>
        </p:nvSpPr>
        <p:spPr>
          <a:xfrm>
            <a:off x="7496175" y="4330700"/>
            <a:ext cx="4076065" cy="1198880"/>
          </a:xfrm>
          <a:prstGeom prst="rect">
            <a:avLst/>
          </a:prstGeom>
          <a:noFill/>
        </p:spPr>
        <p:txBody>
          <a:bodyPr wrap="square" rtlCol="0" anchor="t">
            <a:spAutoFit/>
          </a:bodyPr>
          <a:p>
            <a:r>
              <a:rPr lang="en-US" altLang="zh-CN">
                <a:latin typeface="Times New Roman" panose="02020503050405090304" charset="0"/>
                <a:cs typeface="Times New Roman" panose="02020503050405090304" charset="0"/>
              </a:rPr>
              <a:t>Among the 92 junction nodes across the network, 25 nodes fall below 0.2 mg/L under certain parameter samples and time conditions.</a:t>
            </a:r>
            <a:endParaRPr lang="en-US" altLang="zh-CN">
              <a:latin typeface="Times New Roman" panose="02020503050405090304" charset="0"/>
              <a:cs typeface="Times New Roman" panose="02020503050405090304" charset="0"/>
            </a:endParaRPr>
          </a:p>
        </p:txBody>
      </p:sp>
    </p:spTree>
    <p:custDataLst>
      <p:tags r:id="rId2"/>
    </p:custData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1"/>
          <a:stretch>
            <a:fillRect/>
          </a:stretch>
        </p:blipFill>
        <p:spPr>
          <a:xfrm>
            <a:off x="81280" y="0"/>
            <a:ext cx="6177280" cy="5043805"/>
          </a:xfrm>
          <a:prstGeom prst="rect">
            <a:avLst/>
          </a:prstGeom>
        </p:spPr>
      </p:pic>
      <p:pic>
        <p:nvPicPr>
          <p:cNvPr id="5" name="图片 4"/>
          <p:cNvPicPr>
            <a:picLocks noChangeAspect="1"/>
          </p:cNvPicPr>
          <p:nvPr/>
        </p:nvPicPr>
        <p:blipFill>
          <a:blip r:embed="rId2"/>
          <a:stretch>
            <a:fillRect/>
          </a:stretch>
        </p:blipFill>
        <p:spPr>
          <a:xfrm>
            <a:off x="6340475" y="149225"/>
            <a:ext cx="5236210" cy="4745990"/>
          </a:xfrm>
          <a:prstGeom prst="rect">
            <a:avLst/>
          </a:prstGeom>
        </p:spPr>
      </p:pic>
    </p:spTree>
    <p:custDataLst>
      <p:tags r:id="rId3"/>
    </p:custData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1"/>
          <a:stretch>
            <a:fillRect/>
          </a:stretch>
        </p:blipFill>
        <p:spPr>
          <a:xfrm>
            <a:off x="492125" y="365760"/>
            <a:ext cx="5603875" cy="3088640"/>
          </a:xfrm>
          <a:prstGeom prst="rect">
            <a:avLst/>
          </a:prstGeom>
        </p:spPr>
      </p:pic>
      <p:pic>
        <p:nvPicPr>
          <p:cNvPr id="5" name="图片 4"/>
          <p:cNvPicPr>
            <a:picLocks noChangeAspect="1"/>
          </p:cNvPicPr>
          <p:nvPr/>
        </p:nvPicPr>
        <p:blipFill>
          <a:blip r:embed="rId2"/>
          <a:stretch>
            <a:fillRect/>
          </a:stretch>
        </p:blipFill>
        <p:spPr>
          <a:xfrm>
            <a:off x="633095" y="3736975"/>
            <a:ext cx="5906770" cy="2591435"/>
          </a:xfrm>
          <a:prstGeom prst="rect">
            <a:avLst/>
          </a:prstGeom>
        </p:spPr>
      </p:pic>
    </p:spTree>
    <p:custDataLst>
      <p:tags r:id="rId3"/>
    </p:custData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p:cNvGraphicFramePr/>
          <p:nvPr/>
        </p:nvGraphicFramePr>
        <p:xfrm>
          <a:off x="340995" y="5241290"/>
          <a:ext cx="10485120" cy="0"/>
        </p:xfrm>
        <a:graphic>
          <a:graphicData uri="http://schemas.openxmlformats.org/drawingml/2006/table">
            <a:tbl>
              <a:tblPr/>
              <a:tblGrid>
                <a:gridCol w="1747520"/>
                <a:gridCol w="1747520"/>
                <a:gridCol w="1747520"/>
                <a:gridCol w="1747520"/>
                <a:gridCol w="1747520"/>
              </a:tblGrid>
              <a:tr h="0">
                <a:tc>
                  <a:txBody>
                    <a:bodyPr/>
                    <a:p>
                      <a:pPr algn="l" fontAlgn="t"/>
                      <a:r>
                        <a:rPr lang="en-US" altLang="zh-CN" sz="1400" b="0" i="0">
                          <a:solidFill>
                            <a:schemeClr val="tx1"/>
                          </a:solidFill>
                          <a:latin typeface="Times New Roman Regular" panose="02020503050405090304" charset="0"/>
                          <a:ea typeface="-apple-system"/>
                          <a:cs typeface="Times New Roman Regular" panose="02020503050405090304" charset="0"/>
                        </a:rPr>
                        <a:t>Parameter</a:t>
                      </a:r>
                      <a:endParaRPr lang="en-US" altLang="zh-CN" sz="1400" b="0" i="0">
                        <a:solidFill>
                          <a:schemeClr val="tx1"/>
                        </a:solidFill>
                        <a:latin typeface="Times New Roman Regular" panose="02020503050405090304" charset="0"/>
                        <a:ea typeface="-apple-system"/>
                        <a:cs typeface="Times New Roman Regular" panose="02020503050405090304" charset="0"/>
                      </a:endParaRPr>
                    </a:p>
                  </a:txBody>
                  <a:tcPr marL="114617" marR="114617" marT="63817" marB="63817" anchor="t" anchorCtr="0">
                    <a:lnL>
                      <a:noFill/>
                    </a:lnL>
                    <a:lnR>
                      <a:noFill/>
                    </a:lnR>
                    <a:lnT>
                      <a:noFill/>
                    </a:lnT>
                    <a:lnB>
                      <a:noFill/>
                    </a:lnB>
                    <a:noFill/>
                  </a:tcPr>
                </a:tc>
                <a:tc>
                  <a:txBody>
                    <a:bodyPr/>
                    <a:p>
                      <a:pPr algn="l" fontAlgn="t"/>
                      <a:r>
                        <a:rPr lang="en-US" altLang="zh-CN" sz="1400">
                          <a:solidFill>
                            <a:schemeClr val="tx1"/>
                          </a:solidFill>
                          <a:latin typeface="Times New Roman Regular" panose="02020503050405090304" charset="0"/>
                          <a:cs typeface="Times New Roman Regular" panose="02020503050405090304" charset="0"/>
                          <a:sym typeface="+mn-ea"/>
                        </a:rPr>
                        <a:t>Posterior</a:t>
                      </a:r>
                      <a:r>
                        <a:rPr lang="zh-CN" altLang="en-US" sz="1400" b="0" i="0">
                          <a:solidFill>
                            <a:schemeClr val="tx1"/>
                          </a:solidFill>
                          <a:latin typeface="Times New Roman Regular" panose="02020503050405090304" charset="0"/>
                          <a:ea typeface="-apple-system"/>
                          <a:cs typeface="Times New Roman Regular" panose="02020503050405090304" charset="0"/>
                        </a:rPr>
                        <a:t> </a:t>
                      </a:r>
                      <a:r>
                        <a:rPr lang="en-US" altLang="zh-CN" sz="1400" b="0" i="0">
                          <a:solidFill>
                            <a:schemeClr val="tx1"/>
                          </a:solidFill>
                          <a:latin typeface="Times New Roman Regular" panose="02020503050405090304" charset="0"/>
                          <a:ea typeface="-apple-system"/>
                          <a:cs typeface="Times New Roman Regular" panose="02020503050405090304" charset="0"/>
                        </a:rPr>
                        <a:t>5–95%</a:t>
                      </a:r>
                      <a:endParaRPr lang="en-US" altLang="zh-CN" sz="1400" b="0" i="0">
                        <a:solidFill>
                          <a:schemeClr val="tx1"/>
                        </a:solidFill>
                        <a:latin typeface="Times New Roman Regular" panose="02020503050405090304" charset="0"/>
                        <a:ea typeface="-apple-system"/>
                        <a:cs typeface="Times New Roman Regular" panose="02020503050405090304" charset="0"/>
                      </a:endParaRPr>
                    </a:p>
                  </a:txBody>
                  <a:tcPr marL="114617" marR="114617" marT="63817" marB="63817" anchor="t" anchorCtr="0">
                    <a:lnL>
                      <a:noFill/>
                    </a:lnL>
                    <a:lnR>
                      <a:noFill/>
                    </a:lnR>
                    <a:lnT>
                      <a:noFill/>
                    </a:lnT>
                    <a:lnB>
                      <a:noFill/>
                    </a:lnB>
                    <a:noFill/>
                  </a:tcPr>
                </a:tc>
                <a:tc>
                  <a:txBody>
                    <a:bodyPr/>
                    <a:p>
                      <a:pPr algn="l" fontAlgn="t"/>
                      <a:r>
                        <a:rPr lang="en-US" altLang="zh-CN" sz="1400" b="0" i="0">
                          <a:solidFill>
                            <a:schemeClr val="tx1"/>
                          </a:solidFill>
                          <a:latin typeface="Times New Roman Regular" panose="02020503050405090304" charset="0"/>
                          <a:ea typeface="-apple-system"/>
                          <a:cs typeface="Times New Roman Regular" panose="02020503050405090304" charset="0"/>
                        </a:rPr>
                        <a:t>Median</a:t>
                      </a:r>
                      <a:endParaRPr lang="en-US" altLang="zh-CN" sz="1400" b="0" i="0">
                        <a:solidFill>
                          <a:schemeClr val="tx1"/>
                        </a:solidFill>
                        <a:latin typeface="Times New Roman Regular" panose="02020503050405090304" charset="0"/>
                        <a:ea typeface="-apple-system"/>
                        <a:cs typeface="Times New Roman Regular" panose="02020503050405090304" charset="0"/>
                      </a:endParaRPr>
                    </a:p>
                  </a:txBody>
                  <a:tcPr marL="114617" marR="114617" marT="63817" marB="63817" anchor="t" anchorCtr="0">
                    <a:lnL>
                      <a:noFill/>
                    </a:lnL>
                    <a:lnR>
                      <a:noFill/>
                    </a:lnR>
                    <a:lnT>
                      <a:noFill/>
                    </a:lnT>
                    <a:lnB>
                      <a:noFill/>
                    </a:lnB>
                    <a:noFill/>
                  </a:tcPr>
                </a:tc>
                <a:tc>
                  <a:txBody>
                    <a:bodyPr/>
                    <a:p>
                      <a:pPr algn="l" fontAlgn="t"/>
                      <a:r>
                        <a:rPr lang="en-US" altLang="zh-CN" sz="1400" b="0" i="0">
                          <a:solidFill>
                            <a:schemeClr val="tx1"/>
                          </a:solidFill>
                          <a:latin typeface="Times New Roman Regular" panose="02020503050405090304" charset="0"/>
                          <a:ea typeface="-apple-system"/>
                          <a:cs typeface="Times New Roman Regular" panose="02020503050405090304" charset="0"/>
                        </a:rPr>
                        <a:t>Prior</a:t>
                      </a:r>
                      <a:endParaRPr lang="en-US" altLang="zh-CN" sz="1400" b="0" i="0">
                        <a:solidFill>
                          <a:schemeClr val="tx1"/>
                        </a:solidFill>
                        <a:latin typeface="Times New Roman Regular" panose="02020503050405090304" charset="0"/>
                        <a:ea typeface="-apple-system"/>
                        <a:cs typeface="Times New Roman Regular" panose="02020503050405090304" charset="0"/>
                      </a:endParaRPr>
                    </a:p>
                  </a:txBody>
                  <a:tcPr marL="114617" marR="114617" marT="63817" marB="63817" anchor="t" anchorCtr="0">
                    <a:lnL>
                      <a:noFill/>
                    </a:lnL>
                    <a:lnR>
                      <a:noFill/>
                    </a:lnR>
                    <a:lnT>
                      <a:noFill/>
                    </a:lnT>
                    <a:lnB>
                      <a:noFill/>
                    </a:lnB>
                    <a:noFill/>
                  </a:tcPr>
                </a:tc>
                <a:tc>
                  <a:txBody>
                    <a:bodyPr/>
                    <a:p>
                      <a:pPr algn="l" fontAlgn="t"/>
                      <a:r>
                        <a:rPr lang="en-US" altLang="zh-CN" sz="1400" b="0" i="0">
                          <a:solidFill>
                            <a:schemeClr val="tx1"/>
                          </a:solidFill>
                          <a:latin typeface="Times New Roman Regular" panose="02020503050405090304" charset="0"/>
                          <a:ea typeface="-apple-system"/>
                          <a:cs typeface="Times New Roman Regular" panose="02020503050405090304" charset="0"/>
                        </a:rPr>
                        <a:t>True </a:t>
                      </a:r>
                      <a:r>
                        <a:rPr lang="en-US" altLang="zh-CN" sz="1400" b="0" i="0">
                          <a:solidFill>
                            <a:schemeClr val="tx1"/>
                          </a:solidFill>
                          <a:latin typeface="Times New Roman Regular" panose="02020503050405090304" charset="0"/>
                          <a:ea typeface="-apple-system"/>
                          <a:cs typeface="Times New Roman Regular" panose="02020503050405090304" charset="0"/>
                        </a:rPr>
                        <a:t>value</a:t>
                      </a:r>
                      <a:endParaRPr lang="en-US" altLang="zh-CN" sz="1400" b="0" i="0">
                        <a:solidFill>
                          <a:schemeClr val="tx1"/>
                        </a:solidFill>
                        <a:latin typeface="Times New Roman Regular" panose="02020503050405090304" charset="0"/>
                        <a:ea typeface="-apple-system"/>
                        <a:cs typeface="Times New Roman Regular" panose="02020503050405090304" charset="0"/>
                      </a:endParaRPr>
                    </a:p>
                  </a:txBody>
                  <a:tcPr marL="114617" marR="114617" marT="63817" marB="63817" anchor="t" anchorCtr="0">
                    <a:lnL>
                      <a:noFill/>
                    </a:lnL>
                    <a:lnR>
                      <a:noFill/>
                    </a:lnR>
                    <a:lnT>
                      <a:noFill/>
                    </a:lnT>
                    <a:lnB>
                      <a:noFill/>
                    </a:lnB>
                    <a:noFill/>
                  </a:tcPr>
                </a:tc>
              </a:tr>
              <a:tr h="0">
                <a:tc>
                  <a:txBody>
                    <a:bodyPr/>
                    <a:p>
                      <a:pPr algn="l" fontAlgn="t" latinLnBrk="0"/>
                      <a:r>
                        <a:rPr lang="en-US" altLang="zh-CN" sz="1400" b="0" i="0">
                          <a:solidFill>
                            <a:schemeClr val="tx1"/>
                          </a:solidFill>
                          <a:latin typeface="Times New Roman Regular" panose="02020503050405090304" charset="0"/>
                          <a:ea typeface="-apple-system"/>
                          <a:cs typeface="Times New Roman Regular" panose="02020503050405090304" charset="0"/>
                        </a:rPr>
                        <a:t>kw_old</a:t>
                      </a:r>
                      <a:endParaRPr lang="en-US" altLang="zh-CN" sz="1400" b="0" i="0">
                        <a:solidFill>
                          <a:schemeClr val="tx1"/>
                        </a:solidFill>
                        <a:latin typeface="Times New Roman Regular" panose="02020503050405090304" charset="0"/>
                        <a:ea typeface="-apple-system"/>
                        <a:cs typeface="Times New Roman Regular" panose="02020503050405090304" charset="0"/>
                      </a:endParaRPr>
                    </a:p>
                  </a:txBody>
                  <a:tcPr marL="114617" marR="114617" marT="63817" marB="63817" anchor="t" anchorCtr="0">
                    <a:lnL>
                      <a:noFill/>
                    </a:lnL>
                    <a:lnR>
                      <a:noFill/>
                    </a:lnR>
                    <a:lnT>
                      <a:noFill/>
                    </a:lnT>
                    <a:lnB>
                      <a:noFill/>
                    </a:lnB>
                    <a:noFill/>
                  </a:tcPr>
                </a:tc>
                <a:tc>
                  <a:txBody>
                    <a:bodyPr/>
                    <a:p>
                      <a:pPr algn="l" fontAlgn="t" latinLnBrk="0"/>
                      <a:r>
                        <a:rPr lang="en-US" altLang="zh-CN" sz="1400" b="0" i="0">
                          <a:solidFill>
                            <a:schemeClr val="tx1"/>
                          </a:solidFill>
                          <a:latin typeface="Times New Roman Regular" panose="02020503050405090304" charset="0"/>
                          <a:ea typeface="-apple-system"/>
                          <a:cs typeface="Times New Roman Regular" panose="02020503050405090304" charset="0"/>
                        </a:rPr>
                        <a:t>[-1.456, -0.625]</a:t>
                      </a:r>
                      <a:endParaRPr lang="en-US" altLang="zh-CN" sz="1400" b="0" i="0">
                        <a:solidFill>
                          <a:schemeClr val="tx1"/>
                        </a:solidFill>
                        <a:latin typeface="Times New Roman Regular" panose="02020503050405090304" charset="0"/>
                        <a:ea typeface="-apple-system"/>
                        <a:cs typeface="Times New Roman Regular" panose="02020503050405090304" charset="0"/>
                      </a:endParaRPr>
                    </a:p>
                  </a:txBody>
                  <a:tcPr marL="114617" marR="114617" marT="63817" marB="63817" anchor="t" anchorCtr="0">
                    <a:lnL>
                      <a:noFill/>
                    </a:lnL>
                    <a:lnR>
                      <a:noFill/>
                    </a:lnR>
                    <a:lnT>
                      <a:noFill/>
                    </a:lnT>
                    <a:lnB>
                      <a:noFill/>
                    </a:lnB>
                    <a:noFill/>
                  </a:tcPr>
                </a:tc>
                <a:tc>
                  <a:txBody>
                    <a:bodyPr/>
                    <a:p>
                      <a:pPr algn="l" fontAlgn="t" latinLnBrk="0"/>
                      <a:r>
                        <a:rPr lang="en-US" altLang="zh-CN" sz="1400" b="0" i="0">
                          <a:solidFill>
                            <a:schemeClr val="tx1"/>
                          </a:solidFill>
                          <a:latin typeface="Times New Roman Regular" panose="02020503050405090304" charset="0"/>
                          <a:ea typeface="-apple-system"/>
                          <a:cs typeface="Times New Roman Regular" panose="02020503050405090304" charset="0"/>
                        </a:rPr>
                        <a:t>-1.044</a:t>
                      </a:r>
                      <a:endParaRPr lang="en-US" altLang="zh-CN" sz="1400" b="0" i="0">
                        <a:solidFill>
                          <a:schemeClr val="tx1"/>
                        </a:solidFill>
                        <a:latin typeface="Times New Roman Regular" panose="02020503050405090304" charset="0"/>
                        <a:ea typeface="-apple-system"/>
                        <a:cs typeface="Times New Roman Regular" panose="02020503050405090304" charset="0"/>
                      </a:endParaRPr>
                    </a:p>
                  </a:txBody>
                  <a:tcPr marL="114617" marR="114617" marT="63817" marB="63817" anchor="t" anchorCtr="0">
                    <a:lnL>
                      <a:noFill/>
                    </a:lnL>
                    <a:lnR>
                      <a:noFill/>
                    </a:lnR>
                    <a:lnT>
                      <a:noFill/>
                    </a:lnT>
                    <a:lnB>
                      <a:noFill/>
                    </a:lnB>
                    <a:noFill/>
                  </a:tcPr>
                </a:tc>
                <a:tc>
                  <a:txBody>
                    <a:bodyPr/>
                    <a:p>
                      <a:pPr algn="l" fontAlgn="t" latinLnBrk="0"/>
                      <a:r>
                        <a:rPr lang="en-US" altLang="zh-CN" sz="1400" b="0" i="0">
                          <a:solidFill>
                            <a:schemeClr val="tx1"/>
                          </a:solidFill>
                          <a:latin typeface="Times New Roman Regular" panose="02020503050405090304" charset="0"/>
                          <a:ea typeface="-apple-system"/>
                          <a:cs typeface="Times New Roman Regular" panose="02020503050405090304" charset="0"/>
                        </a:rPr>
                        <a:t>[-1.5, -0.2]</a:t>
                      </a:r>
                      <a:endParaRPr lang="en-US" altLang="zh-CN" sz="1400" b="0" i="0">
                        <a:solidFill>
                          <a:schemeClr val="tx1"/>
                        </a:solidFill>
                        <a:latin typeface="Times New Roman Regular" panose="02020503050405090304" charset="0"/>
                        <a:ea typeface="-apple-system"/>
                        <a:cs typeface="Times New Roman Regular" panose="02020503050405090304" charset="0"/>
                      </a:endParaRPr>
                    </a:p>
                  </a:txBody>
                  <a:tcPr marL="114617" marR="114617" marT="63817" marB="63817" anchor="t" anchorCtr="0">
                    <a:lnL>
                      <a:noFill/>
                    </a:lnL>
                    <a:lnR>
                      <a:noFill/>
                    </a:lnR>
                    <a:lnT>
                      <a:noFill/>
                    </a:lnT>
                    <a:lnB>
                      <a:noFill/>
                    </a:lnB>
                    <a:noFill/>
                  </a:tcPr>
                </a:tc>
                <a:tc>
                  <a:txBody>
                    <a:bodyPr/>
                    <a:p>
                      <a:pPr algn="l" fontAlgn="t" latinLnBrk="0"/>
                      <a:r>
                        <a:rPr lang="en-US" altLang="zh-CN" sz="1400" b="0" i="0">
                          <a:solidFill>
                            <a:schemeClr val="tx1"/>
                          </a:solidFill>
                          <a:latin typeface="Times New Roman Regular" panose="02020503050405090304" charset="0"/>
                          <a:ea typeface="-apple-system"/>
                          <a:cs typeface="Times New Roman Regular" panose="02020503050405090304" charset="0"/>
                        </a:rPr>
                        <a:t>-1.0</a:t>
                      </a:r>
                      <a:endParaRPr lang="en-US" altLang="zh-CN" sz="1400" b="0" i="0">
                        <a:solidFill>
                          <a:schemeClr val="tx1"/>
                        </a:solidFill>
                        <a:latin typeface="Times New Roman Regular" panose="02020503050405090304" charset="0"/>
                        <a:ea typeface="-apple-system"/>
                        <a:cs typeface="Times New Roman Regular" panose="02020503050405090304" charset="0"/>
                      </a:endParaRPr>
                    </a:p>
                  </a:txBody>
                  <a:tcPr marL="114617" marR="114617" marT="63817" marB="63817" anchor="t" anchorCtr="0">
                    <a:lnL>
                      <a:noFill/>
                    </a:lnL>
                    <a:lnR>
                      <a:noFill/>
                    </a:lnR>
                    <a:lnT>
                      <a:noFill/>
                    </a:lnT>
                    <a:lnB>
                      <a:noFill/>
                    </a:lnB>
                    <a:noFill/>
                  </a:tcPr>
                </a:tc>
              </a:tr>
              <a:tr h="0">
                <a:tc>
                  <a:txBody>
                    <a:bodyPr/>
                    <a:p>
                      <a:pPr algn="l" fontAlgn="t" latinLnBrk="0"/>
                      <a:r>
                        <a:rPr lang="en-US" altLang="zh-CN" sz="1400" b="0" i="0">
                          <a:solidFill>
                            <a:schemeClr val="tx1"/>
                          </a:solidFill>
                          <a:latin typeface="Times New Roman Regular" panose="02020503050405090304" charset="0"/>
                          <a:ea typeface="-apple-system"/>
                          <a:cs typeface="Times New Roman Regular" panose="02020503050405090304" charset="0"/>
                        </a:rPr>
                        <a:t>kw_avg</a:t>
                      </a:r>
                      <a:endParaRPr lang="en-US" altLang="zh-CN" sz="1400" b="0" i="0">
                        <a:solidFill>
                          <a:schemeClr val="tx1"/>
                        </a:solidFill>
                        <a:latin typeface="Times New Roman Regular" panose="02020503050405090304" charset="0"/>
                        <a:ea typeface="-apple-system"/>
                        <a:cs typeface="Times New Roman Regular" panose="02020503050405090304" charset="0"/>
                      </a:endParaRPr>
                    </a:p>
                  </a:txBody>
                  <a:tcPr marL="114617" marR="114617" marT="63817" marB="63817" anchor="t" anchorCtr="0">
                    <a:lnL>
                      <a:noFill/>
                    </a:lnL>
                    <a:lnR>
                      <a:noFill/>
                    </a:lnR>
                    <a:lnT>
                      <a:noFill/>
                    </a:lnT>
                    <a:lnB>
                      <a:noFill/>
                    </a:lnB>
                    <a:noFill/>
                  </a:tcPr>
                </a:tc>
                <a:tc>
                  <a:txBody>
                    <a:bodyPr/>
                    <a:p>
                      <a:pPr algn="l" fontAlgn="t" latinLnBrk="0"/>
                      <a:r>
                        <a:rPr lang="en-US" altLang="zh-CN" sz="1400" b="0" i="0">
                          <a:solidFill>
                            <a:schemeClr val="tx1"/>
                          </a:solidFill>
                          <a:latin typeface="Times New Roman Regular" panose="02020503050405090304" charset="0"/>
                          <a:ea typeface="-apple-system"/>
                          <a:cs typeface="Times New Roman Regular" panose="02020503050405090304" charset="0"/>
                        </a:rPr>
                        <a:t>[-0.192, -0.050]</a:t>
                      </a:r>
                      <a:endParaRPr lang="en-US" altLang="zh-CN" sz="1400" b="0" i="0">
                        <a:solidFill>
                          <a:schemeClr val="tx1"/>
                        </a:solidFill>
                        <a:latin typeface="Times New Roman Regular" panose="02020503050405090304" charset="0"/>
                        <a:ea typeface="-apple-system"/>
                        <a:cs typeface="Times New Roman Regular" panose="02020503050405090304" charset="0"/>
                      </a:endParaRPr>
                    </a:p>
                  </a:txBody>
                  <a:tcPr marL="114617" marR="114617" marT="63817" marB="63817" anchor="t" anchorCtr="0">
                    <a:lnL>
                      <a:noFill/>
                    </a:lnL>
                    <a:lnR>
                      <a:noFill/>
                    </a:lnR>
                    <a:lnT>
                      <a:noFill/>
                    </a:lnT>
                    <a:lnB>
                      <a:noFill/>
                    </a:lnB>
                    <a:noFill/>
                  </a:tcPr>
                </a:tc>
                <a:tc>
                  <a:txBody>
                    <a:bodyPr/>
                    <a:p>
                      <a:pPr algn="l" fontAlgn="t" latinLnBrk="0"/>
                      <a:r>
                        <a:rPr lang="en-US" altLang="zh-CN" sz="1400" b="0" i="0">
                          <a:solidFill>
                            <a:schemeClr val="tx1"/>
                          </a:solidFill>
                          <a:latin typeface="Times New Roman Regular" panose="02020503050405090304" charset="0"/>
                          <a:ea typeface="-apple-system"/>
                          <a:cs typeface="Times New Roman Regular" panose="02020503050405090304" charset="0"/>
                        </a:rPr>
                        <a:t>-0.126</a:t>
                      </a:r>
                      <a:endParaRPr lang="en-US" altLang="zh-CN" sz="1400" b="0" i="0">
                        <a:solidFill>
                          <a:schemeClr val="tx1"/>
                        </a:solidFill>
                        <a:latin typeface="Times New Roman Regular" panose="02020503050405090304" charset="0"/>
                        <a:ea typeface="-apple-system"/>
                        <a:cs typeface="Times New Roman Regular" panose="02020503050405090304" charset="0"/>
                      </a:endParaRPr>
                    </a:p>
                  </a:txBody>
                  <a:tcPr marL="114617" marR="114617" marT="63817" marB="63817" anchor="t" anchorCtr="0">
                    <a:lnL>
                      <a:noFill/>
                    </a:lnL>
                    <a:lnR>
                      <a:noFill/>
                    </a:lnR>
                    <a:lnT>
                      <a:noFill/>
                    </a:lnT>
                    <a:lnB>
                      <a:noFill/>
                    </a:lnB>
                    <a:noFill/>
                  </a:tcPr>
                </a:tc>
                <a:tc>
                  <a:txBody>
                    <a:bodyPr/>
                    <a:p>
                      <a:pPr algn="l" fontAlgn="t" latinLnBrk="0"/>
                      <a:r>
                        <a:rPr lang="en-US" altLang="zh-CN" sz="1400" b="0" i="0">
                          <a:solidFill>
                            <a:schemeClr val="tx1"/>
                          </a:solidFill>
                          <a:latin typeface="Times New Roman Regular" panose="02020503050405090304" charset="0"/>
                          <a:ea typeface="-apple-system"/>
                          <a:cs typeface="Times New Roman Regular" panose="02020503050405090304" charset="0"/>
                        </a:rPr>
                        <a:t>[-0.2, -0.04]</a:t>
                      </a:r>
                      <a:endParaRPr lang="en-US" altLang="zh-CN" sz="1400" b="0" i="0">
                        <a:solidFill>
                          <a:schemeClr val="tx1"/>
                        </a:solidFill>
                        <a:latin typeface="Times New Roman Regular" panose="02020503050405090304" charset="0"/>
                        <a:ea typeface="-apple-system"/>
                        <a:cs typeface="Times New Roman Regular" panose="02020503050405090304" charset="0"/>
                      </a:endParaRPr>
                    </a:p>
                  </a:txBody>
                  <a:tcPr marL="114617" marR="114617" marT="63817" marB="63817" anchor="t" anchorCtr="0">
                    <a:lnL>
                      <a:noFill/>
                    </a:lnL>
                    <a:lnR>
                      <a:noFill/>
                    </a:lnR>
                    <a:lnT>
                      <a:noFill/>
                    </a:lnT>
                    <a:lnB>
                      <a:noFill/>
                    </a:lnB>
                    <a:noFill/>
                  </a:tcPr>
                </a:tc>
                <a:tc>
                  <a:txBody>
                    <a:bodyPr/>
                    <a:p>
                      <a:pPr algn="l" fontAlgn="t" latinLnBrk="0"/>
                      <a:r>
                        <a:rPr lang="en-US" altLang="zh-CN" sz="1400" b="0" i="0">
                          <a:solidFill>
                            <a:schemeClr val="tx1"/>
                          </a:solidFill>
                          <a:latin typeface="Times New Roman Regular" panose="02020503050405090304" charset="0"/>
                          <a:ea typeface="-apple-system"/>
                          <a:cs typeface="Times New Roman Regular" panose="02020503050405090304" charset="0"/>
                        </a:rPr>
                        <a:t>-0.1</a:t>
                      </a:r>
                      <a:endParaRPr lang="en-US" altLang="zh-CN" sz="1400" b="0" i="0">
                        <a:solidFill>
                          <a:schemeClr val="tx1"/>
                        </a:solidFill>
                        <a:latin typeface="Times New Roman Regular" panose="02020503050405090304" charset="0"/>
                        <a:ea typeface="-apple-system"/>
                        <a:cs typeface="Times New Roman Regular" panose="02020503050405090304" charset="0"/>
                      </a:endParaRPr>
                    </a:p>
                  </a:txBody>
                  <a:tcPr marL="114617" marR="114617" marT="63817" marB="63817" anchor="t" anchorCtr="0">
                    <a:lnL>
                      <a:noFill/>
                    </a:lnL>
                    <a:lnR>
                      <a:noFill/>
                    </a:lnR>
                    <a:lnT>
                      <a:noFill/>
                    </a:lnT>
                    <a:lnB>
                      <a:noFill/>
                    </a:lnB>
                    <a:noFill/>
                  </a:tcPr>
                </a:tc>
              </a:tr>
              <a:tr h="0">
                <a:tc>
                  <a:txBody>
                    <a:bodyPr/>
                    <a:p>
                      <a:pPr algn="l" fontAlgn="t" latinLnBrk="0"/>
                      <a:r>
                        <a:rPr lang="en-US" altLang="zh-CN" sz="1400" b="0" i="0">
                          <a:solidFill>
                            <a:schemeClr val="tx1"/>
                          </a:solidFill>
                          <a:latin typeface="Times New Roman Regular" panose="02020503050405090304" charset="0"/>
                          <a:ea typeface="-apple-system"/>
                          <a:cs typeface="Times New Roman Regular" panose="02020503050405090304" charset="0"/>
                        </a:rPr>
                        <a:t>kw_new</a:t>
                      </a:r>
                      <a:endParaRPr lang="en-US" altLang="zh-CN" sz="1400" b="0" i="0">
                        <a:solidFill>
                          <a:schemeClr val="tx1"/>
                        </a:solidFill>
                        <a:latin typeface="Times New Roman Regular" panose="02020503050405090304" charset="0"/>
                        <a:ea typeface="-apple-system"/>
                        <a:cs typeface="Times New Roman Regular" panose="02020503050405090304" charset="0"/>
                      </a:endParaRPr>
                    </a:p>
                  </a:txBody>
                  <a:tcPr marL="114617" marR="114617" marT="63817" marB="63817" anchor="t" anchorCtr="0">
                    <a:lnL>
                      <a:noFill/>
                    </a:lnL>
                    <a:lnR>
                      <a:noFill/>
                    </a:lnR>
                    <a:lnT>
                      <a:noFill/>
                    </a:lnT>
                    <a:lnB>
                      <a:noFill/>
                    </a:lnB>
                    <a:noFill/>
                  </a:tcPr>
                </a:tc>
                <a:tc>
                  <a:txBody>
                    <a:bodyPr/>
                    <a:p>
                      <a:pPr algn="l" fontAlgn="t" latinLnBrk="0"/>
                      <a:r>
                        <a:rPr lang="en-US" altLang="zh-CN" sz="1400" b="0" i="0">
                          <a:solidFill>
                            <a:schemeClr val="tx1"/>
                          </a:solidFill>
                          <a:latin typeface="Times New Roman Regular" panose="02020503050405090304" charset="0"/>
                          <a:ea typeface="-apple-system"/>
                          <a:cs typeface="Times New Roman Regular" panose="02020503050405090304" charset="0"/>
                        </a:rPr>
                        <a:t>[-0.095, -0.010]</a:t>
                      </a:r>
                      <a:endParaRPr lang="en-US" altLang="zh-CN" sz="1400" b="0" i="0">
                        <a:solidFill>
                          <a:schemeClr val="tx1"/>
                        </a:solidFill>
                        <a:latin typeface="Times New Roman Regular" panose="02020503050405090304" charset="0"/>
                        <a:ea typeface="-apple-system"/>
                        <a:cs typeface="Times New Roman Regular" panose="02020503050405090304" charset="0"/>
                      </a:endParaRPr>
                    </a:p>
                  </a:txBody>
                  <a:tcPr marL="114617" marR="114617" marT="63817" marB="63817" anchor="t" anchorCtr="0">
                    <a:lnL>
                      <a:noFill/>
                    </a:lnL>
                    <a:lnR>
                      <a:noFill/>
                    </a:lnR>
                    <a:lnT>
                      <a:noFill/>
                    </a:lnT>
                    <a:lnB>
                      <a:noFill/>
                    </a:lnB>
                    <a:noFill/>
                  </a:tcPr>
                </a:tc>
                <a:tc>
                  <a:txBody>
                    <a:bodyPr/>
                    <a:p>
                      <a:pPr algn="l" fontAlgn="t" latinLnBrk="0"/>
                      <a:r>
                        <a:rPr lang="en-US" altLang="zh-CN" sz="1400" b="0" i="0">
                          <a:solidFill>
                            <a:schemeClr val="tx1"/>
                          </a:solidFill>
                          <a:latin typeface="Times New Roman Regular" panose="02020503050405090304" charset="0"/>
                          <a:ea typeface="-apple-system"/>
                          <a:cs typeface="Times New Roman Regular" panose="02020503050405090304" charset="0"/>
                        </a:rPr>
                        <a:t>-0.053</a:t>
                      </a:r>
                      <a:endParaRPr lang="en-US" altLang="zh-CN" sz="1400" b="0" i="0">
                        <a:solidFill>
                          <a:schemeClr val="tx1"/>
                        </a:solidFill>
                        <a:latin typeface="Times New Roman Regular" panose="02020503050405090304" charset="0"/>
                        <a:ea typeface="-apple-system"/>
                        <a:cs typeface="Times New Roman Regular" panose="02020503050405090304" charset="0"/>
                      </a:endParaRPr>
                    </a:p>
                  </a:txBody>
                  <a:tcPr marL="114617" marR="114617" marT="63817" marB="63817" anchor="t" anchorCtr="0">
                    <a:lnL>
                      <a:noFill/>
                    </a:lnL>
                    <a:lnR>
                      <a:noFill/>
                    </a:lnR>
                    <a:lnT>
                      <a:noFill/>
                    </a:lnT>
                    <a:lnB>
                      <a:noFill/>
                    </a:lnB>
                    <a:noFill/>
                  </a:tcPr>
                </a:tc>
                <a:tc>
                  <a:txBody>
                    <a:bodyPr/>
                    <a:p>
                      <a:pPr algn="l" fontAlgn="t" latinLnBrk="0"/>
                      <a:r>
                        <a:rPr lang="en-US" altLang="zh-CN" sz="1400" b="0" i="0">
                          <a:solidFill>
                            <a:schemeClr val="tx1"/>
                          </a:solidFill>
                          <a:latin typeface="Times New Roman Regular" panose="02020503050405090304" charset="0"/>
                          <a:ea typeface="-apple-system"/>
                          <a:cs typeface="Times New Roman Regular" panose="02020503050405090304" charset="0"/>
                        </a:rPr>
                        <a:t>[-0.10, -0.005]</a:t>
                      </a:r>
                      <a:endParaRPr lang="en-US" altLang="zh-CN" sz="1400" b="0" i="0">
                        <a:solidFill>
                          <a:schemeClr val="tx1"/>
                        </a:solidFill>
                        <a:latin typeface="Times New Roman Regular" panose="02020503050405090304" charset="0"/>
                        <a:ea typeface="-apple-system"/>
                        <a:cs typeface="Times New Roman Regular" panose="02020503050405090304" charset="0"/>
                      </a:endParaRPr>
                    </a:p>
                  </a:txBody>
                  <a:tcPr marL="114617" marR="114617" marT="63817" marB="63817" anchor="t" anchorCtr="0">
                    <a:lnL>
                      <a:noFill/>
                    </a:lnL>
                    <a:lnR>
                      <a:noFill/>
                    </a:lnR>
                    <a:lnT>
                      <a:noFill/>
                    </a:lnT>
                    <a:lnB>
                      <a:noFill/>
                    </a:lnB>
                    <a:noFill/>
                  </a:tcPr>
                </a:tc>
                <a:tc>
                  <a:txBody>
                    <a:bodyPr/>
                    <a:p>
                      <a:pPr algn="l" fontAlgn="t" latinLnBrk="0"/>
                      <a:r>
                        <a:rPr lang="en-US" altLang="zh-CN" sz="1400" b="0" i="0">
                          <a:solidFill>
                            <a:schemeClr val="tx1"/>
                          </a:solidFill>
                          <a:latin typeface="Times New Roman Regular" panose="02020503050405090304" charset="0"/>
                          <a:ea typeface="-apple-system"/>
                          <a:cs typeface="Times New Roman Regular" panose="02020503050405090304" charset="0"/>
                        </a:rPr>
                        <a:t>-0.05</a:t>
                      </a:r>
                      <a:endParaRPr lang="en-US" altLang="zh-CN" sz="1400" b="0" i="0">
                        <a:solidFill>
                          <a:schemeClr val="tx1"/>
                        </a:solidFill>
                        <a:latin typeface="Times New Roman Regular" panose="02020503050405090304" charset="0"/>
                        <a:ea typeface="-apple-system"/>
                        <a:cs typeface="Times New Roman Regular" panose="02020503050405090304" charset="0"/>
                      </a:endParaRPr>
                    </a:p>
                  </a:txBody>
                  <a:tcPr marL="114617" marR="114617" marT="63817" marB="63817" anchor="t" anchorCtr="0">
                    <a:lnL>
                      <a:noFill/>
                    </a:lnL>
                    <a:lnR>
                      <a:noFill/>
                    </a:lnR>
                    <a:lnT>
                      <a:noFill/>
                    </a:lnT>
                    <a:lnB>
                      <a:noFill/>
                    </a:lnB>
                    <a:noFill/>
                  </a:tcPr>
                </a:tc>
              </a:tr>
            </a:tbl>
          </a:graphicData>
        </a:graphic>
      </p:graphicFrame>
      <p:pic>
        <p:nvPicPr>
          <p:cNvPr id="5" name="图片 4"/>
          <p:cNvPicPr>
            <a:picLocks noChangeAspect="1"/>
          </p:cNvPicPr>
          <p:nvPr/>
        </p:nvPicPr>
        <p:blipFill>
          <a:blip r:embed="rId1"/>
          <a:stretch>
            <a:fillRect/>
          </a:stretch>
        </p:blipFill>
        <p:spPr>
          <a:xfrm>
            <a:off x="113665" y="2546985"/>
            <a:ext cx="9420225" cy="2495550"/>
          </a:xfrm>
          <a:prstGeom prst="rect">
            <a:avLst/>
          </a:prstGeom>
        </p:spPr>
      </p:pic>
      <p:sp>
        <p:nvSpPr>
          <p:cNvPr id="8" name="文本框 7"/>
          <p:cNvSpPr txBox="1"/>
          <p:nvPr/>
        </p:nvSpPr>
        <p:spPr>
          <a:xfrm>
            <a:off x="255270" y="570865"/>
            <a:ext cx="6480810" cy="1753235"/>
          </a:xfrm>
          <a:prstGeom prst="rect">
            <a:avLst/>
          </a:prstGeom>
          <a:noFill/>
        </p:spPr>
        <p:txBody>
          <a:bodyPr wrap="square" rtlCol="0" anchor="t">
            <a:spAutoFit/>
          </a:bodyPr>
          <a:p>
            <a:r>
              <a:rPr lang="en-US" altLang="zh-CN">
                <a:latin typeface="Times New Roman Regular" panose="02020503050405090304" charset="0"/>
                <a:cs typeface="Times New Roman Regular" panose="02020503050405090304" charset="0"/>
              </a:rPr>
              <a:t>Behavioural: 1388 / 2000 (RMSE &lt; 0.12) </a:t>
            </a:r>
            <a:endParaRPr lang="en-US" altLang="zh-CN">
              <a:latin typeface="Times New Roman Regular" panose="02020503050405090304" charset="0"/>
              <a:cs typeface="Times New Roman Regular" panose="02020503050405090304" charset="0"/>
            </a:endParaRPr>
          </a:p>
          <a:p>
            <a:endParaRPr lang="en-US" altLang="zh-CN">
              <a:latin typeface="Times New Roman Regular" panose="02020503050405090304" charset="0"/>
              <a:cs typeface="Times New Roman Regular" panose="02020503050405090304" charset="0"/>
            </a:endParaRPr>
          </a:p>
          <a:p>
            <a:r>
              <a:rPr lang="en-US" altLang="zh-CN">
                <a:latin typeface="Times New Roman Regular" panose="02020503050405090304" charset="0"/>
                <a:cs typeface="Times New Roman Regular" panose="02020503050405090304" charset="0"/>
              </a:rPr>
              <a:t>GLUE </a:t>
            </a:r>
            <a:r>
              <a:rPr lang="en-US" altLang="zh-CN">
                <a:latin typeface="Times New Roman Regular" panose="02020503050405090304" charset="0"/>
                <a:cs typeface="Times New Roman Regular" panose="02020503050405090304" charset="0"/>
                <a:sym typeface="+mn-ea"/>
              </a:rPr>
              <a:t>Weighted posterior</a:t>
            </a:r>
            <a:r>
              <a:rPr lang="zh-CN" altLang="en-US">
                <a:latin typeface="Times New Roman Regular" panose="02020503050405090304" charset="0"/>
                <a:cs typeface="Times New Roman Regular" panose="02020503050405090304" charset="0"/>
              </a:rPr>
              <a:t> (</a:t>
            </a:r>
            <a:r>
              <a:rPr lang="en-US" altLang="zh-CN">
                <a:latin typeface="Times New Roman Regular" panose="02020503050405090304" charset="0"/>
                <a:cs typeface="Times New Roman Regular" panose="02020503050405090304" charset="0"/>
              </a:rPr>
              <a:t>mean ± std)：</a:t>
            </a:r>
            <a:endParaRPr lang="en-US" altLang="zh-CN">
              <a:latin typeface="Times New Roman Regular" panose="02020503050405090304" charset="0"/>
              <a:cs typeface="Times New Roman Regular" panose="02020503050405090304" charset="0"/>
            </a:endParaRPr>
          </a:p>
          <a:p>
            <a:r>
              <a:rPr lang="en-US" altLang="zh-CN">
                <a:latin typeface="Times New Roman Regular" panose="02020503050405090304" charset="0"/>
                <a:cs typeface="Times New Roman Regular" panose="02020503050405090304" charset="0"/>
              </a:rPr>
              <a:t>kw_old = -1.044 ± 0.260   (true -1.00)</a:t>
            </a:r>
            <a:endParaRPr lang="en-US" altLang="zh-CN">
              <a:latin typeface="Times New Roman Regular" panose="02020503050405090304" charset="0"/>
              <a:cs typeface="Times New Roman Regular" panose="02020503050405090304" charset="0"/>
            </a:endParaRPr>
          </a:p>
          <a:p>
            <a:r>
              <a:rPr lang="en-US" altLang="zh-CN">
                <a:latin typeface="Times New Roman Regular" panose="02020503050405090304" charset="0"/>
                <a:cs typeface="Times New Roman Regular" panose="02020503050405090304" charset="0"/>
              </a:rPr>
              <a:t>kw_avg = -0.123 ± 0.045   (true -0.10)</a:t>
            </a:r>
            <a:endParaRPr lang="en-US" altLang="zh-CN">
              <a:latin typeface="Times New Roman Regular" panose="02020503050405090304" charset="0"/>
              <a:cs typeface="Times New Roman Regular" panose="02020503050405090304" charset="0"/>
            </a:endParaRPr>
          </a:p>
          <a:p>
            <a:r>
              <a:rPr lang="en-US" altLang="zh-CN">
                <a:latin typeface="Times New Roman Regular" panose="02020503050405090304" charset="0"/>
                <a:cs typeface="Times New Roman Regular" panose="02020503050405090304" charset="0"/>
              </a:rPr>
              <a:t>kw_new = -0.053 ± 0.027   (true -0.05)</a:t>
            </a:r>
            <a:endParaRPr lang="zh-CN" altLang="en-US">
              <a:latin typeface="Times New Roman Regular" panose="02020503050405090304" charset="0"/>
              <a:cs typeface="Times New Roman Regular" panose="02020503050405090304" charset="0"/>
            </a:endParaRPr>
          </a:p>
        </p:txBody>
      </p:sp>
    </p:spTree>
    <p:custDataLst>
      <p:tags r:id="rId2"/>
    </p:custData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片 5"/>
          <p:cNvPicPr>
            <a:picLocks noChangeAspect="1"/>
          </p:cNvPicPr>
          <p:nvPr/>
        </p:nvPicPr>
        <p:blipFill>
          <a:blip r:embed="rId1"/>
          <a:stretch>
            <a:fillRect/>
          </a:stretch>
        </p:blipFill>
        <p:spPr>
          <a:xfrm>
            <a:off x="0" y="266065"/>
            <a:ext cx="5930900" cy="2938780"/>
          </a:xfrm>
          <a:prstGeom prst="rect">
            <a:avLst/>
          </a:prstGeom>
        </p:spPr>
      </p:pic>
      <p:pic>
        <p:nvPicPr>
          <p:cNvPr id="9" name="图片 8"/>
          <p:cNvPicPr>
            <a:picLocks noChangeAspect="1"/>
          </p:cNvPicPr>
          <p:nvPr/>
        </p:nvPicPr>
        <p:blipFill>
          <a:blip r:embed="rId2"/>
          <a:srcRect l="6200" b="5998"/>
          <a:stretch>
            <a:fillRect/>
          </a:stretch>
        </p:blipFill>
        <p:spPr>
          <a:xfrm>
            <a:off x="6036945" y="266065"/>
            <a:ext cx="5299710" cy="4750435"/>
          </a:xfrm>
          <a:prstGeom prst="rect">
            <a:avLst/>
          </a:prstGeom>
        </p:spPr>
      </p:pic>
      <p:sp>
        <p:nvSpPr>
          <p:cNvPr id="10" name="文本框 9"/>
          <p:cNvSpPr txBox="1"/>
          <p:nvPr/>
        </p:nvSpPr>
        <p:spPr>
          <a:xfrm>
            <a:off x="6840855" y="5872480"/>
            <a:ext cx="4754245" cy="645160"/>
          </a:xfrm>
          <a:prstGeom prst="rect">
            <a:avLst/>
          </a:prstGeom>
          <a:noFill/>
        </p:spPr>
        <p:txBody>
          <a:bodyPr wrap="square" rtlCol="0" anchor="t">
            <a:spAutoFit/>
          </a:bodyPr>
          <a:p>
            <a:r>
              <a:rPr lang="en-US" altLang="zh-CN">
                <a:latin typeface="Times New Roman" panose="02020503050405090304" charset="0"/>
                <a:cs typeface="Times New Roman" panose="02020503050405090304" charset="0"/>
              </a:rPr>
              <a:t>GLUE Risk: Number of nodes that could fall below 0.20 is 46 / 92</a:t>
            </a:r>
            <a:endParaRPr lang="zh-CN" altLang="en-US">
              <a:latin typeface="Times New Roman" panose="02020503050405090304" charset="0"/>
              <a:cs typeface="Times New Roman" panose="02020503050405090304" charset="0"/>
            </a:endParaRPr>
          </a:p>
        </p:txBody>
      </p:sp>
    </p:spTree>
    <p:custDataLst>
      <p:tags r:id="rId3"/>
    </p:custData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custDataLst>
              <p:tags r:id="rId1"/>
            </p:custDataLst>
          </p:nvPr>
        </p:nvSpPr>
        <p:spPr/>
        <p:txBody>
          <a:bodyPr/>
          <a:p>
            <a:endParaRPr lang="zh-CN" altLang="zh-CN"/>
          </a:p>
        </p:txBody>
      </p:sp>
      <p:sp>
        <p:nvSpPr>
          <p:cNvPr id="3" name="副标题 2"/>
          <p:cNvSpPr>
            <a:spLocks noGrp="1"/>
          </p:cNvSpPr>
          <p:nvPr>
            <p:ph type="subTitle" idx="1"/>
            <p:custDataLst>
              <p:tags r:id="rId2"/>
            </p:custDataLst>
          </p:nvPr>
        </p:nvSpPr>
        <p:spPr/>
        <p:txBody>
          <a:bodyPr/>
          <a:p>
            <a:endParaRPr lang="zh-CN" altLang="en-US"/>
          </a:p>
        </p:txBody>
      </p:sp>
    </p:spTree>
    <p:custDataLst>
      <p:tags r:id="rId3"/>
    </p:custDataLst>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2.xml><?xml version="1.0" encoding="utf-8"?>
<p:tagLst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63.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64.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resource_record_key" val="{&quot;29&quot;:[50000113,50000264,50052708],&quot;65&quot;:[20205081]}"/>
</p:tagLst>
</file>

<file path=ppt/tags/tag65.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66.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67.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68.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69.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70.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71.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72.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73.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74.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75.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76.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77.xml><?xml version="1.0" encoding="utf-8"?>
<p:tagLst xmlns:p="http://schemas.openxmlformats.org/presentationml/2006/main">
  <p:tag name="KSO_WM_UNIT_ISCONTENTSTITLE" val="0"/>
  <p:tag name="KSO_WM_UNIT_ISNUMDGMTITLE" val="0"/>
  <p:tag name="KSO_WM_UNIT_NOCLEAR" val="0"/>
  <p:tag name="KSO_WM_UNIT_SHOW_EDIT_AREA_INDICATION" val="1"/>
  <p:tag name="KSO_WM_UNIT_VALUE" val="28"/>
  <p:tag name="KSO_WM_UNIT_HIGHLIGHT" val="0"/>
  <p:tag name="KSO_WM_UNIT_COMPATIBLE" val="0"/>
  <p:tag name="KSO_WM_UNIT_DIAGRAM_ISNUMVISUAL" val="0"/>
  <p:tag name="KSO_WM_UNIT_DIAGRAM_ISREFERUNIT" val="0"/>
  <p:tag name="KSO_WM_UNIT_TYPE" val="a"/>
  <p:tag name="KSO_WM_UNIT_INDEX" val="1"/>
  <p:tag name="KSO_WM_UNIT_ID" val="custom20205081_1*a*1"/>
  <p:tag name="KSO_WM_TEMPLATE_CATEGORY" val="custom"/>
  <p:tag name="KSO_WM_TEMPLATE_INDEX" val="20205081"/>
  <p:tag name="KSO_WM_UNIT_LAYERLEVEL" val="1"/>
  <p:tag name="KSO_WM_TAG_VERSION" val="1.0"/>
  <p:tag name="KSO_WM_BEAUTIFY_FLAG" val="#wm#"/>
</p:tagLst>
</file>

<file path=ppt/tags/tag78.xml><?xml version="1.0" encoding="utf-8"?>
<p:tagLst xmlns:p="http://schemas.openxmlformats.org/presentationml/2006/main">
  <p:tag name="KSO_WM_UNIT_ISCONTENTSTITLE" val="0"/>
  <p:tag name="KSO_WM_UNIT_ISNUMDGMTITLE" val="0"/>
  <p:tag name="KSO_WM_UNIT_NOCLEAR" val="0"/>
  <p:tag name="KSO_WM_UNIT_SHOW_EDIT_AREA_INDICATION" val="1"/>
  <p:tag name="KSO_WM_UNIT_VALUE" val="111"/>
  <p:tag name="KSO_WM_UNIT_HIGHLIGHT" val="0"/>
  <p:tag name="KSO_WM_UNIT_COMPATIBLE" val="0"/>
  <p:tag name="KSO_WM_UNIT_DIAGRAM_ISNUMVISUAL" val="0"/>
  <p:tag name="KSO_WM_UNIT_DIAGRAM_ISREFERUNIT" val="0"/>
  <p:tag name="KSO_WM_UNIT_TYPE" val="b"/>
  <p:tag name="KSO_WM_UNIT_INDEX" val="1"/>
  <p:tag name="KSO_WM_UNIT_ID" val="custom20205081_1*b*1"/>
  <p:tag name="KSO_WM_TEMPLATE_CATEGORY" val="custom"/>
  <p:tag name="KSO_WM_TEMPLATE_INDEX" val="20205081"/>
  <p:tag name="KSO_WM_UNIT_LAYERLEVEL" val="1"/>
  <p:tag name="KSO_WM_TAG_VERSION" val="1.0"/>
  <p:tag name="KSO_WM_BEAUTIFY_FLAG" val="#wm#"/>
</p:tagLst>
</file>

<file path=ppt/tags/tag79.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80.xml><?xml version="1.0" encoding="utf-8"?>
<p:tagLst xmlns:p="http://schemas.openxmlformats.org/presentationml/2006/main">
  <p:tag name="resource_record_key" val="{&quot;29&quot;:[50000113,50000264,50052708],&quot;65&quot;:[20205081]}"/>
</p:tagLst>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苹方-简"/>
        <a:ea typeface="苹方-简"/>
        <a:cs typeface=""/>
      </a:majorFont>
      <a:minorFont>
        <a:latin typeface="苹方-简"/>
        <a:ea typeface="苹方-简"/>
        <a:cs typeface=""/>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WPS">
      <a:majorFont>
        <a:latin typeface="苹方-简"/>
        <a:ea typeface="苹方-简"/>
        <a:cs typeface=""/>
      </a:majorFont>
      <a:minorFont>
        <a:latin typeface="苹方-简"/>
        <a:ea typeface="苹方-简"/>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WPS">
      <a:majorFont>
        <a:latin typeface="苹方-简"/>
        <a:ea typeface="苹方-简"/>
        <a:cs typeface=""/>
      </a:majorFont>
      <a:minorFont>
        <a:latin typeface="苹方-简"/>
        <a:ea typeface="苹方-简"/>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4022</Words>
  <Application>WPS 演示</Application>
  <PresentationFormat>宽屏</PresentationFormat>
  <Paragraphs>237</Paragraphs>
  <Slides>15</Slides>
  <Notes>4</Notes>
  <HiddenSlides>0</HiddenSlides>
  <MMClips>0</MMClips>
  <ScaleCrop>false</ScaleCrop>
  <HeadingPairs>
    <vt:vector size="6" baseType="variant">
      <vt:variant>
        <vt:lpstr>已用的字体</vt:lpstr>
      </vt:variant>
      <vt:variant>
        <vt:i4>20</vt:i4>
      </vt:variant>
      <vt:variant>
        <vt:lpstr>主题</vt:lpstr>
      </vt:variant>
      <vt:variant>
        <vt:i4>1</vt:i4>
      </vt:variant>
      <vt:variant>
        <vt:lpstr>幻灯片标题</vt:lpstr>
      </vt:variant>
      <vt:variant>
        <vt:i4>15</vt:i4>
      </vt:variant>
    </vt:vector>
  </HeadingPairs>
  <TitlesOfParts>
    <vt:vector size="36" baseType="lpstr">
      <vt:lpstr>Arial</vt:lpstr>
      <vt:lpstr>宋体</vt:lpstr>
      <vt:lpstr>Wingdings</vt:lpstr>
      <vt:lpstr>Wingdings</vt:lpstr>
      <vt:lpstr>Times New Roman</vt:lpstr>
      <vt:lpstr>Times New Roman Regular</vt:lpstr>
      <vt:lpstr>PingFang SC Semibold</vt:lpstr>
      <vt:lpstr>Arial</vt:lpstr>
      <vt:lpstr>-apple-system</vt:lpstr>
      <vt:lpstr>Thonburi</vt:lpstr>
      <vt:lpstr>Menlo</vt:lpstr>
      <vt:lpstr>微软雅黑</vt:lpstr>
      <vt:lpstr>汉仪旗黑</vt:lpstr>
      <vt:lpstr>苹方-简</vt:lpstr>
      <vt:lpstr>汉仪书宋二KW</vt:lpstr>
      <vt:lpstr>宋体</vt:lpstr>
      <vt:lpstr>Arial Unicode MS</vt:lpstr>
      <vt:lpstr>-apple-system</vt:lpstr>
      <vt:lpstr>Menlo</vt:lpstr>
      <vt:lpstr>MS PGothic</vt:lpstr>
      <vt:lpstr>WPS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
  <cp:lastModifiedBy>彭睿欣</cp:lastModifiedBy>
  <cp:revision>216</cp:revision>
  <dcterms:created xsi:type="dcterms:W3CDTF">2026-07-16T21:19:26Z</dcterms:created>
  <dcterms:modified xsi:type="dcterms:W3CDTF">2026-07-16T21:19:26Z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2052-12.1.26026.26026</vt:lpwstr>
  </property>
  <property fmtid="{D5CDD505-2E9C-101B-9397-08002B2CF9AE}" pid="3" name="ICV">
    <vt:lpwstr>43935DC40F72AB72F51C446AAEB86442_41</vt:lpwstr>
  </property>
</Properties>
</file>