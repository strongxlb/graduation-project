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63" r:id="rId5"/>
    <p:sldId id="258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797050" y="1416685"/>
            <a:ext cx="9144000" cy="1856105"/>
          </a:xfrm>
        </p:spPr>
        <p:txBody>
          <a:bodyPr>
            <a:normAutofit fontScale="90000" lnSpcReduction="10000"/>
          </a:bodyPr>
          <a:lstStyle/>
          <a:p>
            <a:r>
              <a:rPr lang="en-GB" altLang="zh-CN" sz="54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Week</a:t>
            </a:r>
            <a:r>
              <a:rPr lang="en-US" sz="54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ly</a:t>
            </a:r>
            <a:r>
              <a:rPr lang="en-GB" altLang="zh-CN" sz="54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endParaRPr lang="en-GB" altLang="zh-CN" sz="54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GB" altLang="zh-CN" sz="54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Report</a:t>
            </a:r>
            <a:endParaRPr lang="en-GB" altLang="zh-CN" sz="54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GB" altLang="zh-CN" sz="54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9550400" y="5644222"/>
            <a:ext cx="2288200" cy="809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 err="1">
                <a:latin typeface="Times New Roman" panose="02020503050405090304" charset="0"/>
                <a:cs typeface="Times New Roman" panose="02020503050405090304" charset="0"/>
              </a:rPr>
              <a:t>Ruixin</a:t>
            </a:r>
            <a:r>
              <a:rPr lang="zh-CN" altLang="en-US" sz="18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1800" dirty="0">
                <a:latin typeface="Times New Roman" panose="02020503050405090304" charset="0"/>
                <a:cs typeface="Times New Roman" panose="02020503050405090304" charset="0"/>
              </a:rPr>
              <a:t>Peng</a:t>
            </a:r>
            <a:endParaRPr lang="en-US" altLang="zh-CN"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GB" sz="1800" dirty="0">
                <a:latin typeface="Times New Roman" panose="02020503050405090304" charset="0"/>
                <a:cs typeface="Times New Roman" panose="02020503050405090304" charset="0"/>
              </a:rPr>
              <a:t>July 17</a:t>
            </a:r>
            <a:r>
              <a:rPr lang="en-GB" altLang="zh-CN" sz="1800" dirty="0">
                <a:latin typeface="Times New Roman" panose="02020503050405090304" charset="0"/>
                <a:cs typeface="Times New Roman" panose="02020503050405090304" charset="0"/>
              </a:rPr>
              <a:t>, 2026</a:t>
            </a:r>
            <a:endParaRPr lang="en-GB" altLang="zh-CN" sz="18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4945" y="23145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400" b="1">
                <a:latin typeface="Times New Roman" panose="02020503050405090304" charset="0"/>
                <a:cs typeface="Times New Roman" panose="02020503050405090304" charset="0"/>
              </a:rPr>
              <a:t>Inverse crime</a:t>
            </a:r>
            <a:endParaRPr lang="en-US" altLang="zh-CN" sz="2400" b="1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945" y="1181735"/>
            <a:ext cx="1178052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Times New Roman" panose="02020503050405090304" charset="0"/>
                <a:cs typeface="Times New Roman" panose="02020503050405090304" charset="0"/>
              </a:rPr>
              <a:t>Truth uses a finer time step (e.g., 60 s WQ step), while calibration uses 300 s. </a:t>
            </a:r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2400">
                <a:latin typeface="Times New Roman" panose="02020503050405090304" charset="0"/>
                <a:cs typeface="Times New Roman" panose="02020503050405090304" charset="0"/>
              </a:rPr>
              <a:t>Truth uses pipe-level heterogeneous kw, while calibration employs grouped parameters. This tests the feasibility of "approximating true heterogeneity with 3 parameters," rather than the circular approach of "recovering 3 parameters using 3 parameters." </a:t>
            </a:r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 sz="2400">
                <a:latin typeface="Times New Roman" panose="02020503050405090304" charset="0"/>
                <a:cs typeface="Times New Roman" panose="02020503050405090304" charset="0"/>
              </a:rPr>
              <a:t>Bulk decay is considered perfectly known. (0.4, 0.5, 0.6)</a:t>
            </a:r>
            <a:endParaRPr lang="en-US" altLang="zh-CN" sz="240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/>
          <p:cNvGraphicFramePr/>
          <p:nvPr/>
        </p:nvGraphicFramePr>
        <p:xfrm>
          <a:off x="247015" y="2204085"/>
          <a:ext cx="10483850" cy="117856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0">
                <a:tc>
                  <a:txBody>
                    <a:bodyPr/>
                    <a:p>
                      <a:pPr algn="l" fontAlgn="t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Parameter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>
                          <a:latin typeface="Times New Roman Regular" panose="02020503050405090304" charset="0"/>
                          <a:cs typeface="Times New Roman Regular" panose="02020503050405090304" charset="0"/>
                          <a:sym typeface="+mn-ea"/>
                        </a:rPr>
                        <a:t>Posterior</a:t>
                      </a:r>
                      <a:r>
                        <a:rPr lang="zh-CN" altLang="en-US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 </a:t>
                      </a:r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5–95%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Median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Prior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True value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kw_old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[-1.456, -0.455]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-0.972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[-1.5, -0.2]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-1.0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kw_avg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[-0.192, -0.048]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-0.120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[-0.2, -0.04]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-0.1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kw_new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[-0.095, -0.010]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-0.053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[-0.10, -0.005]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2000" b="0" i="0">
                          <a:solidFill>
                            <a:schemeClr val="tx1"/>
                          </a:solidFill>
                          <a:latin typeface="Times New Roman Regular" panose="02020503050405090304" charset="0"/>
                          <a:ea typeface="-apple-system"/>
                          <a:cs typeface="Times New Roman Regular" panose="02020503050405090304" charset="0"/>
                        </a:rPr>
                        <a:t>-0.05</a:t>
                      </a:r>
                      <a:endParaRPr lang="en-US" altLang="zh-CN" sz="2000" b="0" i="0">
                        <a:solidFill>
                          <a:schemeClr val="tx1"/>
                        </a:solidFill>
                        <a:latin typeface="Times New Roman Regular" panose="02020503050405090304" charset="0"/>
                        <a:ea typeface="-apple-system"/>
                        <a:cs typeface="Times New Roman Regular" panose="02020503050405090304" charset="0"/>
                      </a:endParaRPr>
                    </a:p>
                  </a:txBody>
                  <a:tcPr marL="114617" marR="114617" marT="63817" marB="638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47015" y="81724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Times New Roman Regular" panose="02020503050405090304" charset="0"/>
                <a:cs typeface="Times New Roman Regular" panose="02020503050405090304" charset="0"/>
              </a:rPr>
              <a:t>GLUE prior is narrow</a:t>
            </a:r>
            <a:endParaRPr lang="en-US" altLang="zh-CN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47015" y="9347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Objective is the global RMSE - </a:t>
            </a:r>
            <a:r>
              <a:rPr lang="en-US" altLang="zh-CN">
                <a:latin typeface="Times New Roman" panose="02020503050405090304" charset="0"/>
                <a:cs typeface="Times New Roman" panose="02020503050405090304" charset="0"/>
                <a:sym typeface="+mn-ea"/>
              </a:rPr>
              <a:t>Signals from different zones are diluted (wntr_chlorine_getting_started_4)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630" y="3973195"/>
            <a:ext cx="588264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The threshold-risk metric is a time-averaged measure, which masks the operational reality.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zh-CN">
                <a:latin typeface="Times New Roman" panose="02020503050405090304" charset="0"/>
                <a:cs typeface="Times New Roman" panose="02020503050405090304" charset="0"/>
              </a:rPr>
              <a:t>eg. A node that is below the threshold 10% of the time and safe 90% of the time may have the same Pn as another node that is exactly at the threshold edge 100% of the time.</a:t>
            </a:r>
            <a:endParaRPr lang="en-US" altLang="zh-CN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" y="2126615"/>
            <a:ext cx="5029200" cy="4114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565" y="2156460"/>
            <a:ext cx="4919345" cy="40151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WPS 演示</Application>
  <PresentationFormat>宽屏</PresentationFormat>
  <Paragraphs>65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Times New Roman</vt:lpstr>
      <vt:lpstr>Times New Roman Regular</vt:lpstr>
      <vt:lpstr>-apple-system</vt:lpstr>
      <vt:lpstr>Thonburi</vt:lpstr>
      <vt:lpstr>微软雅黑</vt:lpstr>
      <vt:lpstr>汉仪旗黑</vt:lpstr>
      <vt:lpstr>苹方-简</vt:lpstr>
      <vt:lpstr>汉仪书宋二KW</vt:lpstr>
      <vt:lpstr>宋体</vt:lpstr>
      <vt:lpstr>Arial Unicode MS</vt:lpstr>
      <vt:lpstr>-apple-system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彭睿欣</cp:lastModifiedBy>
  <cp:revision>176</cp:revision>
  <dcterms:created xsi:type="dcterms:W3CDTF">2026-07-17T08:35:52Z</dcterms:created>
  <dcterms:modified xsi:type="dcterms:W3CDTF">2026-07-17T08:35:52Z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2C1015A3815F5656E0F7586A80E5A930_41</vt:lpwstr>
  </property>
</Properties>
</file>