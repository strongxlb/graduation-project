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4a" ContentType="audi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7" r:id="rId5"/>
    <p:sldId id="268" r:id="rId6"/>
    <p:sldId id="269" r:id="rId7"/>
    <p:sldId id="270" r:id="rId8"/>
    <p:sldId id="284" r:id="rId9"/>
    <p:sldId id="271" r:id="rId10"/>
    <p:sldId id="274" r:id="rId11"/>
    <p:sldId id="276" r:id="rId12"/>
    <p:sldId id="277" r:id="rId13"/>
    <p:sldId id="280" r:id="rId14"/>
    <p:sldId id="27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28"/>
    <p:restoredTop sz="68913"/>
  </p:normalViewPr>
  <p:slideViewPr>
    <p:cSldViewPr snapToGrid="0">
      <p:cViewPr>
        <p:scale>
          <a:sx n="71" d="100"/>
          <a:sy n="71" d="100"/>
        </p:scale>
        <p:origin x="288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>
              <a:sym typeface="+mn-ea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 dirty="0"/>
              <a:t>0 order decay</a:t>
            </a:r>
            <a:endParaRPr lang="en-US" altLang="zh-CN" dirty="0"/>
          </a:p>
          <a:p>
            <a:r>
              <a:rPr lang="en-US" altLang="zh-CN" dirty="0"/>
              <a:t>node</a:t>
            </a:r>
            <a:endParaRPr lang="en-US" alt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 dirty="0"/>
              <a:t>change kw</a:t>
            </a:r>
            <a:endParaRPr lang="en-US" altLang="zh-CN" dirty="0"/>
          </a:p>
          <a:p>
            <a:r>
              <a:rPr lang="en-US" altLang="zh-CN" dirty="0"/>
              <a:t>noise data</a:t>
            </a:r>
            <a:endParaRPr lang="en-US" alt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b="1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现在大概的思路是：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我拿到3个</a:t>
            </a:r>
            <a:r>
              <a:rPr lang="en-US" altLang="zh-CN" dirty="0"/>
              <a:t>DMA</a:t>
            </a:r>
            <a:endParaRPr lang="en-US" altLang="zh-CN" dirty="0"/>
          </a:p>
          <a:p>
            <a:r>
              <a:rPr lang="zh-CN" altLang="en-US" dirty="0"/>
              <a:t>1. 明确水力不用校准，默认正确</a:t>
            </a:r>
            <a:endParaRPr lang="zh-CN" altLang="en-US" dirty="0"/>
          </a:p>
          <a:p>
            <a:r>
              <a:rPr lang="zh-CN" altLang="en-US" dirty="0"/>
              <a:t>2. 不考虑</a:t>
            </a:r>
            <a:r>
              <a:rPr lang="en-US" altLang="zh-CN" dirty="0"/>
              <a:t>TOC, DBP, </a:t>
            </a:r>
            <a:r>
              <a:rPr lang="zh-CN" altLang="en-US" dirty="0"/>
              <a:t>生物膜的影响？</a:t>
            </a:r>
            <a:endParaRPr lang="zh-CN" altLang="en-US" dirty="0"/>
          </a:p>
          <a:p>
            <a:r>
              <a:rPr lang="zh-CN" altLang="en-US" dirty="0"/>
              <a:t>3. 入口监测器已经把它测出来了，直接输入（</a:t>
            </a:r>
            <a:r>
              <a:rPr lang="en-US" altLang="zh-CN" dirty="0"/>
              <a:t>getting started-</a:t>
            </a:r>
            <a:r>
              <a:rPr lang="zh-CN" altLang="en-US" dirty="0"/>
              <a:t>归一性）</a:t>
            </a:r>
            <a:endParaRPr lang="zh-CN" altLang="en-US" dirty="0"/>
          </a:p>
          <a:p>
            <a:r>
              <a:rPr lang="zh-CN" altLang="en-US" dirty="0"/>
              <a:t>4. 衰减：</a:t>
            </a:r>
            <a:r>
              <a:rPr lang="en-US" altLang="zh-CN" dirty="0"/>
              <a:t>kw, kb, </a:t>
            </a:r>
            <a:r>
              <a:rPr lang="zh-CN" altLang="en-US" dirty="0"/>
              <a:t>一阶衰减</a:t>
            </a:r>
            <a:endParaRPr lang="zh-CN" altLang="en-US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根据先验经验，知道</a:t>
            </a:r>
            <a:r>
              <a:rPr lang="en-US" altLang="zh-CN" dirty="0"/>
              <a:t>kb, kw</a:t>
            </a:r>
            <a:r>
              <a:rPr lang="zh-CN" altLang="en-US" dirty="0"/>
              <a:t>范围，然后</a:t>
            </a:r>
            <a:r>
              <a:rPr lang="en-US" altLang="zh-CN" dirty="0"/>
              <a:t>simulate，</a:t>
            </a:r>
            <a:r>
              <a:rPr lang="zh-CN" altLang="en-US" dirty="0"/>
              <a:t>试出来一系列(</a:t>
            </a:r>
            <a:r>
              <a:rPr lang="en-US" altLang="zh-CN" dirty="0"/>
              <a:t>kb, kw), </a:t>
            </a:r>
            <a:r>
              <a:rPr lang="zh-CN" altLang="en-US" dirty="0"/>
              <a:t>把</a:t>
            </a:r>
            <a:r>
              <a:rPr lang="en-US" altLang="zh-CN" dirty="0"/>
              <a:t>Csim</a:t>
            </a:r>
            <a:r>
              <a:rPr lang="zh-CN" altLang="en-US" dirty="0"/>
              <a:t>和</a:t>
            </a:r>
            <a:r>
              <a:rPr lang="en-US" altLang="zh-CN" dirty="0"/>
              <a:t>Cobs</a:t>
            </a:r>
            <a:r>
              <a:rPr lang="zh-CN" altLang="en-US" dirty="0"/>
              <a:t>比较，得出合适的</a:t>
            </a:r>
            <a:r>
              <a:rPr lang="en-US" altLang="zh-CN" dirty="0"/>
              <a:t>Csim</a:t>
            </a:r>
            <a:r>
              <a:rPr lang="zh-CN" altLang="en-US" dirty="0"/>
              <a:t>和合适的(</a:t>
            </a:r>
            <a:r>
              <a:rPr lang="en-US" altLang="zh-CN" dirty="0"/>
              <a:t>kb, kw)</a:t>
            </a:r>
            <a:r>
              <a:rPr lang="zh-CN" altLang="en-US" dirty="0"/>
              <a:t>的区间，也能得出在合理范围内的概率-</a:t>
            </a:r>
            <a:r>
              <a:rPr lang="en-US" altLang="zh-CN" dirty="0"/>
              <a:t>Monte Carlo ensemble, GLUE(</a:t>
            </a:r>
            <a:r>
              <a:rPr lang="zh-CN" altLang="en-US" dirty="0"/>
              <a:t>贝叶斯还没看不确定)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监测点（3输入+5拟合+2校验）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三个</a:t>
            </a:r>
            <a:r>
              <a:rPr lang="en-US" altLang="zh-CN" dirty="0"/>
              <a:t>DMA（ABC），differ in pipe material and age（Hallam, 2002），</a:t>
            </a:r>
            <a:r>
              <a:rPr lang="zh-CN" altLang="en-US" dirty="0"/>
              <a:t>得出的结论可比较</a:t>
            </a:r>
            <a:endParaRPr lang="zh-CN" altLang="en-US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？</a:t>
            </a:r>
            <a:endParaRPr lang="en-US" altLang="zh-CN" dirty="0"/>
          </a:p>
          <a:p>
            <a:r>
              <a:rPr lang="en-US" altLang="zh-CN" dirty="0"/>
              <a:t>DMA</a:t>
            </a:r>
            <a:r>
              <a:rPr lang="zh-CN" altLang="en-US" dirty="0"/>
              <a:t>是否同源-</a:t>
            </a:r>
            <a:r>
              <a:rPr lang="en-US" altLang="zh-CN" dirty="0"/>
              <a:t>kb</a:t>
            </a:r>
            <a:r>
              <a:rPr lang="zh-CN" altLang="en-US" dirty="0"/>
              <a:t>是否相同，</a:t>
            </a:r>
            <a:r>
              <a:rPr lang="en-US" altLang="zh-CN" dirty="0"/>
              <a:t>kb</a:t>
            </a:r>
            <a:r>
              <a:rPr lang="zh-CN" altLang="en-US" dirty="0"/>
              <a:t>是否需要单独校准</a:t>
            </a:r>
            <a:endParaRPr lang="zh-CN" altLang="en-US" dirty="0"/>
          </a:p>
          <a:p>
            <a:r>
              <a:rPr lang="en-US" altLang="zh-CN" dirty="0"/>
              <a:t>kb</a:t>
            </a:r>
            <a:r>
              <a:rPr lang="zh-CN" altLang="en-US" dirty="0"/>
              <a:t>固定，校准</a:t>
            </a:r>
            <a:r>
              <a:rPr lang="en-US" altLang="zh-CN" dirty="0"/>
              <a:t>kw or kb, kw</a:t>
            </a:r>
            <a:r>
              <a:rPr lang="zh-CN" altLang="en-US" dirty="0"/>
              <a:t>同时校准（个人感觉更难）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看完</a:t>
            </a:r>
            <a:r>
              <a:rPr lang="en-US" altLang="zh-CN" dirty="0"/>
              <a:t>glue</a:t>
            </a:r>
            <a:r>
              <a:rPr lang="zh-CN" altLang="en-US" dirty="0"/>
              <a:t>介绍之后，</a:t>
            </a:r>
            <a:r>
              <a:rPr lang="en-US" altLang="zh-CN" dirty="0"/>
              <a:t>kb, kw</a:t>
            </a:r>
            <a:r>
              <a:rPr lang="zh-CN" altLang="en-US" dirty="0"/>
              <a:t>作为一组来</a:t>
            </a:r>
            <a:r>
              <a:rPr lang="zh-CN" altLang="en-US" dirty="0"/>
              <a:t>矫正，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温度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三个</a:t>
            </a:r>
            <a:r>
              <a:rPr lang="en-US" altLang="zh-CN" dirty="0"/>
              <a:t>DMA（ABC），differ in pipe material and age（Hallam, 2002），</a:t>
            </a:r>
            <a:r>
              <a:rPr lang="zh-CN" altLang="en-US" dirty="0"/>
              <a:t>得出的结论比较 </a:t>
            </a:r>
            <a:r>
              <a:rPr lang="en-US" altLang="zh-CN" dirty="0"/>
              <a:t>or </a:t>
            </a:r>
            <a:r>
              <a:rPr lang="zh-CN" altLang="en-US" dirty="0"/>
              <a:t>在一个</a:t>
            </a:r>
            <a:r>
              <a:rPr lang="en-US" altLang="zh-CN" dirty="0"/>
              <a:t>DMA</a:t>
            </a:r>
            <a:r>
              <a:rPr lang="zh-CN" altLang="en-US" dirty="0"/>
              <a:t>上校准的模型能否适用于另一个</a:t>
            </a:r>
            <a:r>
              <a:rPr lang="en-US" altLang="zh-CN" dirty="0"/>
              <a:t>DMA？(</a:t>
            </a:r>
            <a:r>
              <a:rPr lang="zh-CN" altLang="en-US" dirty="0"/>
              <a:t>用</a:t>
            </a:r>
            <a:r>
              <a:rPr lang="en-US" altLang="zh-CN" dirty="0"/>
              <a:t>A</a:t>
            </a:r>
            <a:r>
              <a:rPr lang="zh-CN" altLang="en-US" dirty="0"/>
              <a:t>的结果预测</a:t>
            </a:r>
            <a:r>
              <a:rPr lang="en-US" altLang="zh-CN" dirty="0"/>
              <a:t>B,C，</a:t>
            </a:r>
            <a:r>
              <a:rPr lang="zh-CN" altLang="en-US" dirty="0"/>
              <a:t>但是我看到论文里说，不共用，所以我感觉不能预测)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75CA1-6F9A-C543-9726-5DEBB049FFB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58316B-B7F2-F042-B6C0-2231261321F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microsoft.com/office/2007/relationships/media" Target="../media/media1.m4a"/><Relationship Id="rId1" Type="http://schemas.openxmlformats.org/officeDocument/2006/relationships/audio" Target="../media/media1.m4a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microsoft.com/office/2007/relationships/media" Target="../media/media2.m4a"/><Relationship Id="rId3" Type="http://schemas.openxmlformats.org/officeDocument/2006/relationships/audio" Target="../media/media2.m4a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microsoft.com/office/2007/relationships/media" Target="../media/media3.m4a"/><Relationship Id="rId2" Type="http://schemas.openxmlformats.org/officeDocument/2006/relationships/audio" Target="../media/media3.m4a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microsoft.com/office/2007/relationships/media" Target="../media/media4.m4a"/><Relationship Id="rId2" Type="http://schemas.openxmlformats.org/officeDocument/2006/relationships/audio" Target="../media/media4.m4a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microsoft.com/office/2007/relationships/media" Target="../media/media5.m4a"/><Relationship Id="rId1" Type="http://schemas.openxmlformats.org/officeDocument/2006/relationships/audio" Target="../media/media5.m4a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microsoft.com/office/2007/relationships/media" Target="../media/media6.m4a"/><Relationship Id="rId2" Type="http://schemas.openxmlformats.org/officeDocument/2006/relationships/audio" Target="../media/media6.m4a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microsoft.com/office/2007/relationships/media" Target="../media/media7.m4a"/><Relationship Id="rId2" Type="http://schemas.openxmlformats.org/officeDocument/2006/relationships/audio" Target="../media/media7.m4a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microsoft.com/office/2007/relationships/media" Target="../media/media8.m4a"/><Relationship Id="rId2" Type="http://schemas.openxmlformats.org/officeDocument/2006/relationships/audio" Target="../media/media8.m4a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microsoft.com/office/2007/relationships/media" Target="../media/media9.m4a"/><Relationship Id="rId2" Type="http://schemas.openxmlformats.org/officeDocument/2006/relationships/audio" Target="../media/media9.m4a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microsoft.com/office/2007/relationships/media" Target="../media/media10.m4a"/><Relationship Id="rId1" Type="http://schemas.openxmlformats.org/officeDocument/2006/relationships/audio" Target="../media/media10.m4a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97050" y="1416685"/>
            <a:ext cx="9144000" cy="1856105"/>
          </a:xfrm>
        </p:spPr>
        <p:txBody>
          <a:bodyPr>
            <a:normAutofit/>
          </a:bodyPr>
          <a:lstStyle/>
          <a:p>
            <a:r>
              <a:rPr lang="en-GB" altLang="zh-CN" sz="5400" b="1" dirty="0">
                <a:latin typeface="Times New Roman" panose="02020503050405090304" charset="0"/>
                <a:cs typeface="Times New Roman" panose="02020503050405090304" charset="0"/>
              </a:rPr>
              <a:t>Week 1</a:t>
            </a:r>
            <a:r>
              <a:rPr lang="en-US" altLang="en-GB" sz="5400" b="1" dirty="0">
                <a:latin typeface="Times New Roman" panose="02020503050405090304" charset="0"/>
                <a:cs typeface="Times New Roman" panose="02020503050405090304" charset="0"/>
              </a:rPr>
              <a:t>-2</a:t>
            </a:r>
            <a:r>
              <a:rPr lang="en-GB" altLang="zh-CN" sz="5400" b="1" dirty="0">
                <a:latin typeface="Times New Roman" panose="02020503050405090304" charset="0"/>
                <a:cs typeface="Times New Roman" panose="02020503050405090304" charset="0"/>
              </a:rPr>
              <a:t> </a:t>
            </a:r>
            <a:endParaRPr lang="en-GB" altLang="zh-CN" sz="5400" b="1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GB" altLang="zh-CN" sz="5400" b="1" dirty="0">
                <a:latin typeface="Times New Roman" panose="02020503050405090304" charset="0"/>
                <a:cs typeface="Times New Roman" panose="02020503050405090304" charset="0"/>
              </a:rPr>
              <a:t>Report</a:t>
            </a:r>
            <a:endParaRPr lang="en-GB" altLang="zh-CN" sz="5400" b="1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GB" altLang="zh-CN" b="1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4" name="副标题 2"/>
          <p:cNvSpPr txBox="1"/>
          <p:nvPr/>
        </p:nvSpPr>
        <p:spPr>
          <a:xfrm>
            <a:off x="9550400" y="5644222"/>
            <a:ext cx="2288200" cy="809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 err="1">
                <a:latin typeface="Times New Roman" panose="02020503050405090304" charset="0"/>
                <a:cs typeface="Times New Roman" panose="02020503050405090304" charset="0"/>
              </a:rPr>
              <a:t>Ruixin</a:t>
            </a:r>
            <a:r>
              <a:rPr lang="zh-CN" altLang="en-US" sz="1800" dirty="0">
                <a:latin typeface="Times New Roman" panose="02020503050405090304" charset="0"/>
                <a:cs typeface="Times New Roman" panose="02020503050405090304" charset="0"/>
              </a:rPr>
              <a:t> </a:t>
            </a:r>
            <a:r>
              <a:rPr lang="en-US" altLang="zh-CN" sz="1800" dirty="0">
                <a:latin typeface="Times New Roman" panose="02020503050405090304" charset="0"/>
                <a:cs typeface="Times New Roman" panose="02020503050405090304" charset="0"/>
              </a:rPr>
              <a:t>Peng</a:t>
            </a:r>
            <a:endParaRPr lang="en-US" altLang="zh-CN" sz="1800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en-GB" sz="1800" dirty="0">
                <a:latin typeface="Times New Roman" panose="02020503050405090304" charset="0"/>
                <a:cs typeface="Times New Roman" panose="02020503050405090304" charset="0"/>
              </a:rPr>
              <a:t>June 1</a:t>
            </a:r>
            <a:r>
              <a:rPr lang="en-US" altLang="zh-CN" sz="1800" dirty="0">
                <a:latin typeface="Times New Roman" panose="02020503050405090304" charset="0"/>
                <a:cs typeface="Times New Roman" panose="02020503050405090304" charset="0"/>
              </a:rPr>
              <a:t>2</a:t>
            </a:r>
            <a:r>
              <a:rPr lang="en-GB" altLang="zh-CN" sz="1800" dirty="0">
                <a:latin typeface="Times New Roman" panose="02020503050405090304" charset="0"/>
                <a:cs typeface="Times New Roman" panose="02020503050405090304" charset="0"/>
              </a:rPr>
              <a:t>, 2026</a:t>
            </a:r>
            <a:endParaRPr lang="en-GB" altLang="zh-CN" sz="1800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2"/>
          <p:cNvSpPr txBox="1"/>
          <p:nvPr/>
        </p:nvSpPr>
        <p:spPr>
          <a:xfrm>
            <a:off x="9550400" y="5644222"/>
            <a:ext cx="2288200" cy="809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 err="1">
                <a:latin typeface="Times New Roman" panose="02020503050405090304" charset="0"/>
                <a:cs typeface="Times New Roman" panose="02020503050405090304" charset="0"/>
              </a:rPr>
              <a:t>Ruixin</a:t>
            </a:r>
            <a:r>
              <a:rPr lang="zh-CN" altLang="en-US" sz="1800" dirty="0">
                <a:latin typeface="Times New Roman" panose="02020503050405090304" charset="0"/>
                <a:cs typeface="Times New Roman" panose="02020503050405090304" charset="0"/>
              </a:rPr>
              <a:t> </a:t>
            </a:r>
            <a:r>
              <a:rPr lang="en-US" altLang="zh-CN" sz="1800" dirty="0">
                <a:latin typeface="Times New Roman" panose="02020503050405090304" charset="0"/>
                <a:cs typeface="Times New Roman" panose="02020503050405090304" charset="0"/>
              </a:rPr>
              <a:t>Peng</a:t>
            </a:r>
            <a:endParaRPr lang="en-US" altLang="zh-CN" sz="1800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en-GB" sz="1800" dirty="0">
                <a:latin typeface="Times New Roman" panose="02020503050405090304" charset="0"/>
                <a:cs typeface="Times New Roman" panose="02020503050405090304" charset="0"/>
              </a:rPr>
              <a:t>June 12</a:t>
            </a:r>
            <a:r>
              <a:rPr lang="en-GB" altLang="zh-CN" sz="1800" dirty="0">
                <a:latin typeface="Times New Roman" panose="02020503050405090304" charset="0"/>
                <a:cs typeface="Times New Roman" panose="02020503050405090304" charset="0"/>
              </a:rPr>
              <a:t>, 2026</a:t>
            </a:r>
            <a:endParaRPr lang="en-GB" altLang="zh-CN" sz="1800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401570" y="1538605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1. WNTR Chlorine Modelling - Pre Work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401570" y="2279015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2. Learning exercises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401570" y="3019425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3. Material reading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401570" y="3759835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4. My own understanding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191135" y="290195"/>
            <a:ext cx="1430020" cy="486410"/>
          </a:xfrm>
        </p:spPr>
        <p:txBody>
          <a:bodyPr>
            <a:normAutofit/>
          </a:bodyPr>
          <a:lstStyle/>
          <a:p>
            <a:r>
              <a:rPr lang="en-US" altLang="en-GB" b="1" dirty="0">
                <a:latin typeface="Times New Roman" panose="02020503050405090304" charset="0"/>
                <a:cs typeface="Times New Roman" panose="02020503050405090304" charset="0"/>
              </a:rPr>
              <a:t>Contents</a:t>
            </a:r>
            <a:endParaRPr lang="en-US" altLang="en-GB" b="1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pic>
        <p:nvPicPr>
          <p:cNvPr id="3" name="Audio Recording 2026年6月3日 21:44:34">
            <a:hlinkClick r:id="" action="ppaction://media"/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528425" y="6194425"/>
            <a:ext cx="663575" cy="6635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 additive="base"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wntr_getting_started-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890" y="407670"/>
            <a:ext cx="7059295" cy="39319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90" y="5358130"/>
            <a:ext cx="6134100" cy="50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389890" y="46335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= -0.5/day,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= -0.1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m/day ??</a:t>
            </a:r>
            <a:endParaRPr lang="en-US" altLang="zh-CN" dirty="0">
              <a:solidFill>
                <a:srgbClr val="FF0000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449185" y="802005"/>
            <a:ext cx="433133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b="1">
                <a:latin typeface="Times New Roman" panose="02020503050405090304" charset="0"/>
                <a:cs typeface="Times New Roman" panose="02020503050405090304" charset="0"/>
              </a:rPr>
              <a:t>near-source nodes</a:t>
            </a:r>
            <a:r>
              <a:rPr lang="en-US" altLang="zh-CN">
                <a:latin typeface="Times New Roman Regular" panose="02020503050405090304" charset="0"/>
                <a:cs typeface="Times New Roman Regular" panose="02020503050405090304" charset="0"/>
              </a:rPr>
              <a:t> (node 60 ≈ 1.0, node 10 ≈ 0.95) show </a:t>
            </a:r>
            <a:r>
              <a:rPr lang="en-US" altLang="zh-CN" b="1">
                <a:latin typeface="Times New Roman" panose="02020503050405090304" charset="0"/>
                <a:cs typeface="Times New Roman" panose="02020503050405090304" charset="0"/>
              </a:rPr>
              <a:t>almost no decay</a:t>
            </a:r>
            <a:endParaRPr lang="en-US" altLang="zh-CN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indent="0">
              <a:buFont typeface="Arial" panose="020B0604020202090204" pitchFamily="34" charset="0"/>
              <a:buNone/>
            </a:pPr>
            <a:endParaRPr lang="en-US" altLang="zh-CN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b="1">
                <a:latin typeface="Times New Roman" panose="02020503050405090304" charset="0"/>
                <a:cs typeface="Times New Roman" panose="02020503050405090304" charset="0"/>
              </a:rPr>
              <a:t>far / branch nodes</a:t>
            </a:r>
            <a:r>
              <a:rPr lang="en-US" altLang="zh-CN">
                <a:latin typeface="Times New Roman Regular" panose="02020503050405090304" charset="0"/>
                <a:cs typeface="Times New Roman Regular" panose="02020503050405090304" charset="0"/>
              </a:rPr>
              <a:t> (nodes 15, 20, 40) fall much lower</a:t>
            </a:r>
            <a:endParaRPr lang="en-US" altLang="zh-CN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560310" y="3311525"/>
            <a:ext cx="4330700" cy="13220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ct val="0"/>
              </a:spcAft>
              <a:buFont typeface="Arial" panose="020B0604020202090204"/>
              <a:buChar char="•"/>
            </a:pPr>
            <a:r>
              <a:rPr lang="en-US" altLang="zh-CN" sz="1600" b="0" i="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 There is a </a:t>
            </a:r>
            <a:r>
              <a:rPr lang="en-US" altLang="zh-CN" sz="1600" b="1" i="0" dirty="0">
                <a:latin typeface="Times New Roman" panose="02020503050405090304" charset="0"/>
                <a:ea typeface="-apple-system"/>
                <a:cs typeface="Times New Roman" panose="02020503050405090304" charset="0"/>
              </a:rPr>
              <a:t>warm-up</a:t>
            </a:r>
            <a:r>
              <a:rPr lang="en-US" altLang="zh-CN" sz="1600" b="1" i="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 transient </a:t>
            </a:r>
            <a:r>
              <a:rPr lang="en-US" altLang="zh-CN" sz="1600" b="0" i="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</a:rPr>
              <a:t>at the start (pipes/tanks filling from their initial state) before the system reaches a quasi-steady state -- so this initial period should be discarded when computing metrics later.</a:t>
            </a:r>
            <a:endParaRPr lang="en-US" altLang="zh-CN" sz="1600" b="0" i="0" dirty="0">
              <a:latin typeface="Times New Roman Regular" panose="02020503050405090304" charset="0"/>
              <a:ea typeface="-apple-system"/>
              <a:cs typeface="Times New Roman Regular" panose="0202050305040509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60310" y="5138692"/>
            <a:ext cx="433070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ct val="0"/>
              </a:spcAft>
              <a:buFont typeface="Arial" panose="020B0604020202090204"/>
              <a:buChar char="•"/>
            </a:pPr>
            <a:r>
              <a:rPr lang="en-US" altLang="zh-CN" sz="1600" b="0" i="0">
                <a:solidFill>
                  <a:srgbClr val="FF0000"/>
                </a:solidFill>
                <a:latin typeface="Times New Roman Regular" panose="02020503050405090304" charset="0"/>
                <a:ea typeface="宋体" charset="0"/>
                <a:cs typeface="Times New Roman Regular" panose="02020503050405090304" charset="0"/>
              </a:rPr>
              <a:t> In my own paper, do I need to, eg. run for 72 hours and discard the first 24 hours?</a:t>
            </a:r>
            <a:endParaRPr lang="en-US" altLang="zh-CN" sz="1600" b="0" i="0">
              <a:solidFill>
                <a:srgbClr val="FF0000"/>
              </a:solidFill>
              <a:latin typeface="Times New Roman Regular" panose="02020503050405090304" charset="0"/>
              <a:ea typeface="宋体" charset="0"/>
              <a:cs typeface="Times New Roman Regular" panose="02020503050405090304" charset="0"/>
            </a:endParaRPr>
          </a:p>
        </p:txBody>
      </p:sp>
      <p:pic>
        <p:nvPicPr>
          <p:cNvPr id="3" name="Audio Recording 2026年6月3日 21:49:26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8210" y="6045200"/>
            <a:ext cx="812800" cy="81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47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wntr_getting_started-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535" y="777240"/>
            <a:ext cx="7059295" cy="393192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43535" y="4985385"/>
            <a:ext cx="9676130" cy="1076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/>
            <a:r>
              <a:rPr lang="en-US" altLang="zh-CN" sz="1600" b="0" i="0" dirty="0">
                <a:latin typeface="Times New Roman Regular" panose="02020503050405090304" charset="0"/>
                <a:ea typeface="Menlo" panose="020B0609030804020204"/>
                <a:cs typeface="Times New Roman Regular" panose="02020503050405090304" charset="0"/>
              </a:rPr>
              <a:t>Most k</a:t>
            </a:r>
            <a:r>
              <a:rPr lang="en-US" altLang="zh-CN" sz="1600" b="0" i="0" baseline="-25000" dirty="0">
                <a:latin typeface="Times New Roman Regular" panose="02020503050405090304" charset="0"/>
                <a:ea typeface="Menlo" panose="020B0609030804020204"/>
                <a:cs typeface="Times New Roman Regular" panose="02020503050405090304" charset="0"/>
              </a:rPr>
              <a:t>w</a:t>
            </a:r>
            <a:r>
              <a:rPr lang="en-US" altLang="zh-CN" sz="1600" b="0" i="0" dirty="0">
                <a:latin typeface="Times New Roman Regular" panose="02020503050405090304" charset="0"/>
                <a:ea typeface="Menlo" panose="020B0609030804020204"/>
                <a:cs typeface="Times New Roman Regular" panose="02020503050405090304" charset="0"/>
              </a:rPr>
              <a:t>-sensitive monitor (lowest mean residual): node 20</a:t>
            </a:r>
            <a:endParaRPr lang="en-US" altLang="zh-CN" sz="1600" b="0" i="0" dirty="0">
              <a:latin typeface="Times New Roman Regular" panose="02020503050405090304" charset="0"/>
              <a:ea typeface="Menlo" panose="020B0609030804020204"/>
              <a:cs typeface="Times New Roman Regular" panose="02020503050405090304" charset="0"/>
            </a:endParaRPr>
          </a:p>
          <a:p>
            <a:pPr marL="0" indent="0"/>
            <a:endParaRPr lang="en-US" altLang="zh-CN" sz="1600" b="0" i="0" dirty="0">
              <a:latin typeface="Times New Roman Regular" panose="02020503050405090304" charset="0"/>
              <a:ea typeface="Menlo" panose="020B0609030804020204"/>
              <a:cs typeface="Times New Roman Regular" panose="02020503050405090304" charset="0"/>
            </a:endParaRPr>
          </a:p>
          <a:p>
            <a:pPr indent="0" fontAlgn="auto"/>
            <a:r>
              <a:rPr lang="en-US" altLang="zh-CN" sz="160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  <a:sym typeface="+mn-ea"/>
              </a:rPr>
              <a:t>The more negative </a:t>
            </a:r>
            <a:r>
              <a:rPr lang="en-US" altLang="zh-CN" sz="1600" dirty="0">
                <a:latin typeface="Times New Roman Regular" panose="02020503050405090304" charset="0"/>
                <a:ea typeface="katex_main"/>
                <a:cs typeface="Times New Roman Regular" panose="02020503050405090304" charset="0"/>
                <a:sym typeface="+mn-ea"/>
              </a:rPr>
              <a:t>k</a:t>
            </a:r>
            <a:r>
              <a:rPr lang="en-US" altLang="zh-CN" sz="1600" baseline="-25000" dirty="0">
                <a:latin typeface="Times New Roman Regular" panose="02020503050405090304" charset="0"/>
                <a:ea typeface="katex_main"/>
                <a:cs typeface="Times New Roman Regular" panose="02020503050405090304" charset="0"/>
                <a:sym typeface="+mn-ea"/>
              </a:rPr>
              <a:t>w</a:t>
            </a:r>
            <a:r>
              <a:rPr lang="en-US" altLang="zh-CN" sz="160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  <a:sym typeface="+mn-ea"/>
              </a:rPr>
              <a:t> is, the lower the residual, and the curves spread out clearly into separate lines → here </a:t>
            </a:r>
            <a:r>
              <a:rPr lang="en-US" altLang="zh-CN" sz="1600" dirty="0">
                <a:latin typeface="Times New Roman Regular" panose="02020503050405090304" charset="0"/>
                <a:ea typeface="katex_main"/>
                <a:cs typeface="Times New Roman Regular" panose="02020503050405090304" charset="0"/>
                <a:sym typeface="+mn-ea"/>
              </a:rPr>
              <a:t>k</a:t>
            </a:r>
            <a:r>
              <a:rPr lang="en-US" altLang="zh-CN" sz="1600" baseline="-25000" dirty="0">
                <a:latin typeface="Times New Roman Regular" panose="02020503050405090304" charset="0"/>
                <a:ea typeface="katex_main"/>
                <a:cs typeface="Times New Roman Regular" panose="02020503050405090304" charset="0"/>
                <a:sym typeface="+mn-ea"/>
              </a:rPr>
              <a:t>w</a:t>
            </a:r>
            <a:r>
              <a:rPr lang="en-US" altLang="zh-CN" sz="1600" dirty="0">
                <a:latin typeface="Times New Roman Regular" panose="02020503050405090304" charset="0"/>
                <a:ea typeface="katex_main"/>
                <a:cs typeface="Times New Roman Regular" panose="02020503050405090304" charset="0"/>
                <a:sym typeface="+mn-ea"/>
              </a:rPr>
              <a:t> </a:t>
            </a:r>
            <a:r>
              <a:rPr lang="en-US" altLang="zh-CN" sz="160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  <a:sym typeface="+mn-ea"/>
              </a:rPr>
              <a:t>has a strong effect and is </a:t>
            </a:r>
            <a:r>
              <a:rPr lang="en-US" altLang="zh-CN" sz="1600" b="1" dirty="0">
                <a:latin typeface="Times New Roman" panose="02020503050405090304" charset="0"/>
                <a:ea typeface="-apple-system"/>
                <a:cs typeface="Times New Roman" panose="02020503050405090304" charset="0"/>
                <a:sym typeface="+mn-ea"/>
              </a:rPr>
              <a:t>identifiable</a:t>
            </a:r>
            <a:r>
              <a:rPr lang="en-US" altLang="zh-CN" sz="1600" dirty="0">
                <a:latin typeface="Times New Roman Regular" panose="02020503050405090304" charset="0"/>
                <a:ea typeface="-apple-system"/>
                <a:cs typeface="Times New Roman Regular" panose="02020503050405090304" charset="0"/>
                <a:sym typeface="+mn-ea"/>
              </a:rPr>
              <a:t>.</a:t>
            </a:r>
            <a:endParaRPr lang="en-US" altLang="zh-CN" sz="1600" b="0" i="0" dirty="0">
              <a:latin typeface="Times New Roman Regular" panose="02020503050405090304" charset="0"/>
              <a:ea typeface="Menlo" panose="020B0609030804020204"/>
              <a:cs typeface="Times New Roman Regular" panose="02020503050405090304" charset="0"/>
            </a:endParaRPr>
          </a:p>
        </p:txBody>
      </p:sp>
      <p:pic>
        <p:nvPicPr>
          <p:cNvPr id="5" name="Audio Recording 2026年6月3日 21:52:07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 flipV="1">
            <a:off x="11325860" y="6060440"/>
            <a:ext cx="522605" cy="5226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60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wntr_getting_started-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815" y="347980"/>
            <a:ext cx="4407535" cy="37401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748655" y="347980"/>
            <a:ext cx="44069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503050405090304" charset="0"/>
                <a:cs typeface="Times New Roman" panose="02020503050405090304" charset="0"/>
              </a:rPr>
              <a:t>Network map coloured by final chlorine</a:t>
            </a:r>
            <a:endParaRPr lang="en-US" altLang="zh-CN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4815" y="4744720"/>
            <a:ext cx="1116012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Residual chlorine exhibits a spatial gradient: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</a:rPr>
              <a:t>highest near the source/reservoir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and gradually decreasing along the distribution network toward the ends;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</a:rPr>
              <a:t>lowest at ends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, long branch pipes, and areas far from the source (most prone to problems).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4815" y="5779217"/>
            <a:ext cx="92075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The 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safe range of chlorine is interval</a:t>
            </a:r>
            <a:r>
              <a:rPr lang="zh-CN" altLang="en-US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--</a:t>
            </a:r>
            <a:r>
              <a:rPr lang="zh-CN" altLang="en-US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(a, b) </a:t>
            </a:r>
            <a:endParaRPr lang="en-US" altLang="zh-CN" dirty="0">
              <a:solidFill>
                <a:srgbClr val="FF000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Should we consider whether it exceeds b?</a:t>
            </a:r>
            <a:endParaRPr lang="en-US" altLang="zh-CN" dirty="0">
              <a:solidFill>
                <a:srgbClr val="FF0000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pic>
        <p:nvPicPr>
          <p:cNvPr id="7" name="Audio Recording 2026年6月3日 21:56:5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346815" y="5947410"/>
            <a:ext cx="644525" cy="6445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74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20345" y="320675"/>
            <a:ext cx="83921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1. Bulk vs wall. Re-run with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= 0. How much of Net's residual loss is bulk vs wall?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847725" y="1143000"/>
          <a:ext cx="4740275" cy="2723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055"/>
                <a:gridCol w="948055"/>
                <a:gridCol w="948055"/>
                <a:gridCol w="948055"/>
                <a:gridCol w="948055"/>
              </a:tblGrid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  <a:sym typeface="+mn-ea"/>
                        </a:rPr>
                        <a:t>name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 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  bulk-only (mg/L)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bulk+wall (mg/L)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loss_bulk (%)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dirty="0" err="1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loss_wall</a:t>
                      </a:r>
                      <a:r>
                        <a:rPr lang="en-US" altLang="zh-CN" sz="1100" b="0" i="0" dirty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 (%)</a:t>
                      </a:r>
                      <a:endParaRPr lang="en-US" altLang="zh-CN" sz="1100" b="0" i="0" dirty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10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0.956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0.955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4.400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0.0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dirty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15</a:t>
                      </a:r>
                      <a:endParaRPr lang="en-US" altLang="zh-CN" sz="1100" b="0" i="0" dirty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0.619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0.470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38.100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 dirty="0">
                          <a:solidFill>
                            <a:schemeClr val="accent2"/>
                          </a:solidFill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14.9</a:t>
                      </a:r>
                      <a:endParaRPr lang="en-US" altLang="zh-CN" sz="1100" b="1" i="0" dirty="0">
                        <a:solidFill>
                          <a:schemeClr val="accent2"/>
                        </a:solidFill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dirty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20</a:t>
                      </a:r>
                      <a:endParaRPr lang="en-US" altLang="zh-CN" sz="1100" b="0" i="0" dirty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0.482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0.440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solidFill>
                            <a:schemeClr val="accent2"/>
                          </a:solidFill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51.800</a:t>
                      </a:r>
                      <a:endParaRPr lang="en-US" altLang="zh-CN" sz="1100" b="1" i="0">
                        <a:solidFill>
                          <a:schemeClr val="accent2"/>
                        </a:solidFill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4.1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35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0.815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0.727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18.500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8.8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40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0.629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0.541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37.100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8.8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  <a:tr h="3810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60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0.999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0.997</a:t>
                      </a:r>
                      <a:endParaRPr lang="en-US" altLang="zh-CN" sz="1100" b="0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0.100</a:t>
                      </a:r>
                      <a:endParaRPr lang="en-US" altLang="zh-CN" sz="1100" b="1" i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1" i="0" dirty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0.1</a:t>
                      </a:r>
                      <a:endParaRPr lang="en-US" altLang="zh-CN" sz="1100" b="1" i="0" dirty="0">
                        <a:latin typeface="Times New Roman" panose="02020503050405090304" charset="0"/>
                        <a:ea typeface="-apple-system"/>
                        <a:cs typeface="Times New Roman" panose="02020503050405090304" charset="0"/>
                      </a:endParaRPr>
                    </a:p>
                  </a:txBody>
                  <a:tcPr marL="101917" marR="101917" marT="51117" marB="51117" anchor="ctr"/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847725" y="4133850"/>
            <a:ext cx="43110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• The node with the highest absolute contribution from wall decay is node 15.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• Node 20 has the highest bulk</a:t>
            </a:r>
            <a:r>
              <a:rPr lang="zh-CN" altLang="en-US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decay</a:t>
            </a:r>
            <a:r>
              <a:rPr lang="zh-CN" altLang="en-US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value (51.8%, longest water age), while node 60/10 has the lowest.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The larger the 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  <a:sym typeface="+mn-ea"/>
              </a:rPr>
              <a:t>loss_bulk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, the "older" the water.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844540" y="3540125"/>
            <a:ext cx="618109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Wall decay contribution strongly depends on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</a:rPr>
              <a:t>spatial location,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pipe material and age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(Hallam et al., 2002). Even with uniform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values throughout the network, the proportion attributed to wall decay ranges from 0% to ~15% at different locations.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44540" y="1612900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Division of labor with wall: at each point, bulk loss is ≥ wall, indicating that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bulk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 is the dominant decay mechanism;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</p:txBody>
      </p:sp>
      <p:pic>
        <p:nvPicPr>
          <p:cNvPr id="5" name="Audio Recording 2026年6月3日 22:03:25">
            <a:hlinkClick r:id="" action="ppaction://media"/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294745" y="5981700"/>
            <a:ext cx="645795" cy="6457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70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2_exercises-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130" y="828040"/>
            <a:ext cx="11786870" cy="35661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05130" y="4333875"/>
            <a:ext cx="1178750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Results: 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The four normalized curves perfectly overlap.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First-order kinetics 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dC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/dt = -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k·C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is homogeneous/linear with respect to concentration.  </a:t>
            </a:r>
            <a:endParaRPr lang="zh-CN" altLang="en-US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41300" y="0"/>
            <a:ext cx="737489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2. Change INLET_CHLORINE_MGL and confirm residuals scale linearly. Why does that matter for treating the inlet monitor as a boundary condition?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05130" y="5356225"/>
            <a:ext cx="1106805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This provides the justification for treating the DMA inlet monitoring point as a boundary condition --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simply inputting the measured inlet C(t) into the model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is sufficient, without needing recalibration due to changes in absolute inlet levels.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</p:txBody>
      </p:sp>
      <p:pic>
        <p:nvPicPr>
          <p:cNvPr id="5" name="Audio Recording 2026年6月3日 22:06:0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47120" y="6139180"/>
            <a:ext cx="645795" cy="6457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04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2_exercises-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735" y="1018540"/>
            <a:ext cx="8646160" cy="30835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33045" y="214630"/>
            <a:ext cx="997458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3. Halve every pipe diameter. Wall decay should bite harder - why? (hydraulic radius / mass transfer; EPANET manual Ch.3).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74345" y="4293235"/>
            <a:ext cx="11490325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Results: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Node 20/40 concentration is close to or equal to zero—these nodes did not receive any water at all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Node 15/35 concentration increased—the flow path was reconfigured, and water bypassed the tank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The curve is highly irregular, with "breakpoints" and "jumps," indicating the network is in a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</a:rPr>
              <a:t>hydraulically infeasible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state</a:t>
            </a:r>
            <a:endParaRPr lang="zh-CN" altLang="en-US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33400" y="5960745"/>
            <a:ext cx="114903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wall reaction--4/d*k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zh-CN" altLang="en-US" baseline="-25000" dirty="0">
                <a:latin typeface="Times New Roman" panose="02020503050405090304" charset="0"/>
                <a:cs typeface="Times New Roman" panose="02020503050405090304" charset="0"/>
              </a:rPr>
              <a:t> 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(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EPANET manual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),             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w1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*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k</a:t>
            </a:r>
            <a:r>
              <a:rPr lang="en-US" altLang="zh-CN" baseline="-25000" dirty="0" err="1">
                <a:latin typeface="Times New Roman" panose="02020503050405090304" charset="0"/>
                <a:cs typeface="Times New Roman" panose="02020503050405090304" charset="0"/>
              </a:rPr>
              <a:t>f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/[r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h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(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k</a:t>
            </a:r>
            <a:r>
              <a:rPr lang="en-US" altLang="zh-CN" baseline="-25000" dirty="0" err="1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+k</a:t>
            </a:r>
            <a:r>
              <a:rPr lang="en-US" altLang="zh-CN" baseline="-25000" dirty="0" err="1">
                <a:latin typeface="Times New Roman" panose="02020503050405090304" charset="0"/>
                <a:cs typeface="Times New Roman" panose="02020503050405090304" charset="0"/>
              </a:rPr>
              <a:t>f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)] (Vasconcelos et al., 1997)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pic>
        <p:nvPicPr>
          <p:cNvPr id="6" name="Audio Recording 2026年6月3日 22:39:02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81410" y="6115685"/>
            <a:ext cx="742315" cy="7423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2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2_exercises-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625" y="1401445"/>
            <a:ext cx="5714365" cy="515683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383655" y="1093470"/>
            <a:ext cx="494601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Results: Near-source nodes (10/60) closely follow the inlet pattern, but distant nodes (20/40) experience stronger fluctuations instead.  </a:t>
            </a:r>
            <a:endParaRPr lang="zh-CN" altLang="en-US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383655" y="2287270"/>
            <a:ext cx="4946015" cy="3969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The downstream residual chlorine curve is not simply a delayed or slightly reduced version of the inlet curve.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The water travel time in pipelines varies, and in storage tanks, new and old water mix, which alters the shape of the curve.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Therefore, it is essential to simulate the entire process using an EPANET/WNTR model.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During calibration, only a few steady-state points should not be used; instead, the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</a:rPr>
              <a:t>full time series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must be applied.</a:t>
            </a:r>
            <a:endParaRPr lang="zh-CN" altLang="en-US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27330" y="176530"/>
            <a:ext cx="1167003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4. Use 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wn.add_source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() with a pattern to make the inlet vary over time, mimicking a real inlet-monitor trace. 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This is exactly the boundary you'll impose later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.</a:t>
            </a:r>
            <a:endParaRPr lang="zh-CN" altLang="en-US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pic>
        <p:nvPicPr>
          <p:cNvPr id="7" name="Audio Recording 2026年6月3日 22:41:4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17275" y="5936503"/>
            <a:ext cx="812800" cy="81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23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2_exercises-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980" y="1039495"/>
            <a:ext cx="7059295" cy="53949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88200" y="1039495"/>
            <a:ext cx="4911725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• Results:  </a:t>
            </a:r>
            <a:endParaRPr lang="en-US" altLang="zh-CN" dirty="0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The optimal grid point is (k</a:t>
            </a:r>
            <a:r>
              <a:rPr lang="en-US" altLang="zh-CN" baseline="-25000" dirty="0">
                <a:latin typeface="Times New Roman Regular" panose="02020503050405090304" charset="0"/>
                <a:cs typeface="Times New Roman Regular" panose="02020503050405090304" charset="0"/>
              </a:rPr>
              <a:t>b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 = -0.375, k</a:t>
            </a:r>
            <a:r>
              <a:rPr lang="en-US" altLang="zh-CN" baseline="-25000" dirty="0">
                <a:latin typeface="Times New Roman Regular" panose="02020503050405090304" charset="0"/>
                <a:cs typeface="Times New Roman Regular" panose="02020503050405090304" charset="0"/>
              </a:rPr>
              <a:t>w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 = -0.225), close but not equal to the true value (limited by the 9</a:t>
            </a:r>
            <a:r>
              <a:rPr lang="zh-CN" altLang="en-US" dirty="0">
                <a:latin typeface="Times New Roman Regular" panose="02020503050405090304" charset="0"/>
                <a:cs typeface="Times New Roman Regular" panose="02020503050405090304" charset="0"/>
              </a:rPr>
              <a:t>×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9 coarse grid). </a:t>
            </a:r>
            <a:endParaRPr lang="en-US" altLang="zh-CN" dirty="0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endParaRPr lang="en-US" altLang="zh-CN" dirty="0">
              <a:latin typeface="Times New Roman Regular" panose="02020503050405090304" charset="0"/>
              <a:cs typeface="Times New Roman Regular" panose="02020503050405090304" charset="0"/>
            </a:endParaRPr>
          </a:p>
          <a:p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There are two grid points whose SSE falls within 1.5 times the minimum value: (-0.375, -0.22) and (-0.50, -0.22) -- their k</a:t>
            </a:r>
            <a:r>
              <a:rPr lang="en-US" altLang="zh-CN" baseline="-25000" dirty="0">
                <a:latin typeface="Times New Roman Regular" panose="02020503050405090304" charset="0"/>
                <a:cs typeface="Times New Roman Regular" panose="02020503050405090304" charset="0"/>
              </a:rPr>
              <a:t>w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 values are nearly identical (≥-0.22, close to the true value), while k</a:t>
            </a:r>
            <a:r>
              <a:rPr lang="en-US" altLang="zh-CN" baseline="-25000" dirty="0">
                <a:latin typeface="Times New Roman Regular" panose="02020503050405090304" charset="0"/>
                <a:cs typeface="Times New Roman Regular" panose="02020503050405090304" charset="0"/>
              </a:rPr>
              <a:t>b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</a:rPr>
              <a:t> ranges from -0.375 to -0.50, all yielding "similarly good" fits.</a:t>
            </a:r>
            <a:endParaRPr lang="zh-CN" altLang="en-US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20980" y="243840"/>
            <a:ext cx="893889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 Regular" panose="02020503050405090304" charset="0"/>
                <a:cs typeface="Times New Roman Regular" panose="02020503050405090304" charset="0"/>
              </a:rPr>
              <a:t>5. Loop simulate_chlorine() over a (kb, kw) grid and compute the sum of squared errors (SSE) against a synthetic "observed" run.</a:t>
            </a:r>
            <a:endParaRPr lang="zh-CN" altLang="en-US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280275" y="4790440"/>
            <a:ext cx="491109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k</a:t>
            </a:r>
            <a:r>
              <a:rPr lang="en-US" altLang="zh-CN" baseline="-25000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b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-k</a:t>
            </a:r>
            <a:r>
              <a:rPr lang="en-US" altLang="zh-CN" baseline="-25000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w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 </a:t>
            </a:r>
            <a:r>
              <a:rPr lang="en-US" altLang="zh-CN" b="1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compensation</a:t>
            </a:r>
            <a:r>
              <a:rPr lang="en-US" altLang="zh-CN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: downstream residual chlorine only observes "total decay," so bulk and wall effects can compensate each other (a slightly higher kb and lower kw yield equally good fits). </a:t>
            </a:r>
            <a:endParaRPr lang="en-US" altLang="zh-CN" dirty="0">
              <a:latin typeface="Times New Roman Regular" panose="02020503050405090304" charset="0"/>
              <a:cs typeface="Times New Roman Regular" panose="02020503050405090304" charset="0"/>
              <a:sym typeface="+mn-ea"/>
            </a:endParaRPr>
          </a:p>
        </p:txBody>
      </p:sp>
      <p:pic>
        <p:nvPicPr>
          <p:cNvPr id="7" name="Audio Recording 2026年6月3日 22:44:19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87272" y="6045200"/>
            <a:ext cx="812800" cy="81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40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/>
          <p:nvPr/>
        </p:nvGraphicFramePr>
        <p:xfrm>
          <a:off x="1286510" y="814705"/>
          <a:ext cx="9618345" cy="5233029"/>
        </p:xfrm>
        <a:graphic>
          <a:graphicData uri="http://schemas.openxmlformats.org/drawingml/2006/table">
            <a:tbl>
              <a:tblPr/>
              <a:tblGrid>
                <a:gridCol w="2433955"/>
                <a:gridCol w="7184390"/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Paper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Key takeaway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A1</a:t>
                      </a:r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Rossman 1994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first-order bulk + wall + mass-transfer = the EPANET model I will use</a:t>
                      </a:r>
                      <a:endParaRPr lang="en-US" altLang="zh-CN" sz="2000" b="0" i="0" dirty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A6</a:t>
                      </a:r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Vasconcelos 1997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kw ∝ 1/roughness; absolute error: 0.05-0.15 mg/L (my accuracy benchmark); </a:t>
                      </a:r>
                      <a:r>
                        <a:rPr lang="en-US" altLang="zh-CN" sz="2000" b="0" i="0" dirty="0">
                          <a:solidFill>
                            <a:srgbClr val="FF0000"/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fix k</a:t>
                      </a:r>
                      <a:r>
                        <a:rPr lang="en-US" altLang="zh-CN" sz="2000" b="0" i="0" baseline="-25000" dirty="0">
                          <a:solidFill>
                            <a:srgbClr val="FF0000"/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b </a:t>
                      </a:r>
                      <a:r>
                        <a:rPr lang="en-US" altLang="zh-CN" sz="2000" b="0" i="0" dirty="0">
                          <a:solidFill>
                            <a:srgbClr val="FF0000"/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from bottle tests, calibrate </a:t>
                      </a:r>
                      <a:r>
                        <a:rPr lang="en-US" altLang="zh-CN" sz="2000" dirty="0">
                          <a:solidFill>
                            <a:srgbClr val="FF0000"/>
                          </a:solidFill>
                          <a:latin typeface="Times New Roman Regular" panose="02020503050405090304" charset="0"/>
                          <a:cs typeface="Times New Roman Regular" panose="02020503050405090304" charset="0"/>
                          <a:sym typeface="+mn-ea"/>
                        </a:rPr>
                        <a:t>kw; DPD: 15%</a:t>
                      </a:r>
                      <a:endParaRPr lang="en-US" altLang="zh-CN" sz="2000" baseline="-25000" dirty="0">
                        <a:solidFill>
                          <a:srgbClr val="FF0000"/>
                        </a:solidFill>
                        <a:latin typeface="Times New Roman Regular" panose="02020503050405090304" charset="0"/>
                        <a:cs typeface="Times New Roman Regular" panose="02020503050405090304" charset="0"/>
                        <a:sym typeface="+mn-ea"/>
                      </a:endParaRPr>
                    </a:p>
                    <a:p>
                      <a:pPr algn="l" fontAlgn="t" latinLnBrk="0"/>
                      <a:r>
                        <a:rPr lang="en-US" altLang="zh-CN" sz="2000" b="0" i="0" dirty="0">
                          <a:solidFill>
                            <a:srgbClr val="FF0000"/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  <a:sym typeface="+mn-ea"/>
                        </a:rPr>
                        <a:t>Process: (Hydraulic calibration), Bulk-bottle test, Adjust kw, Evaluation</a:t>
                      </a:r>
                      <a:endParaRPr lang="en-US" altLang="zh-CN" sz="2000" b="0" i="0" dirty="0">
                        <a:solidFill>
                          <a:srgbClr val="FF0000"/>
                        </a:solidFill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  <a:sym typeface="+mn-ea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A4</a:t>
                      </a:r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Hallam 2002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wall decay is heterogeneous by </a:t>
                      </a:r>
                      <a:r>
                        <a:rPr lang="en-US" altLang="zh-CN" sz="2000" b="1" i="0" dirty="0">
                          <a:latin typeface="Times New Roman" panose="02020503050405090304" charset="0"/>
                          <a:ea typeface="-apple-system"/>
                          <a:cs typeface="Times New Roman" panose="02020503050405090304" charset="0"/>
                        </a:rPr>
                        <a:t>material/age </a:t>
                      </a:r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→ justifies one kw per </a:t>
                      </a:r>
                      <a:r>
                        <a:rPr lang="en-US" altLang="zh-CN" sz="2000" b="0" i="0" dirty="0">
                          <a:solidFill>
                            <a:srgbClr val="FF0000"/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DMA</a:t>
                      </a:r>
                      <a:endParaRPr lang="en-US" altLang="zh-CN" sz="2000" b="0" i="0" dirty="0">
                        <a:solidFill>
                          <a:srgbClr val="FF0000"/>
                        </a:solidFill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A3</a:t>
                      </a:r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Powell 2000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bulk decay is driven by TOC/temperature → informs the kb prior</a:t>
                      </a:r>
                      <a:endParaRPr lang="en-US" altLang="zh-CN" sz="2000" b="0" i="0" dirty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809625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B1</a:t>
                      </a:r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Klise 2017 (WNTR)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EPANET wrapper + </a:t>
                      </a:r>
                      <a:r>
                        <a:rPr lang="en-US" altLang="zh-CN" sz="2000" b="0" i="0" dirty="0" err="1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NetworkX</a:t>
                      </a:r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+ Pandas + built-in Monte Carlo</a:t>
                      </a:r>
                      <a:endParaRPr lang="en-US" altLang="zh-CN" sz="2000" b="0" i="0" dirty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B2</a:t>
                      </a:r>
                      <a:r>
                        <a:rPr lang="en-US" altLang="zh-CN" sz="2000" b="0" i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 EPANET 2.2 Manual</a:t>
                      </a:r>
                      <a:endParaRPr lang="en-US" altLang="zh-CN" sz="2000" b="0" i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water-quality </a:t>
                      </a:r>
                      <a:r>
                        <a:rPr lang="en-US" altLang="zh-CN" sz="2000" b="0" i="0" dirty="0" err="1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numerics</a:t>
                      </a:r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: bulk/wall/mass-transfer term, </a:t>
                      </a:r>
                      <a:endParaRPr lang="en-US" altLang="zh-CN" sz="2000" b="0" i="0" dirty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  <a:p>
                      <a:pPr algn="l" fontAlgn="t" latinLnBrk="0"/>
                      <a:r>
                        <a:rPr lang="en-US" altLang="zh-CN" sz="2000" b="0" i="0" dirty="0">
                          <a:latin typeface="Times New Roman Regular" panose="02020503050405090304" charset="0"/>
                          <a:ea typeface="-apple-system"/>
                          <a:cs typeface="Times New Roman Regular" panose="02020503050405090304" charset="0"/>
                        </a:rPr>
                        <a:t>unit conventions</a:t>
                      </a:r>
                      <a:endParaRPr lang="en-US" altLang="zh-CN" sz="2000" b="0" i="0" dirty="0">
                        <a:latin typeface="Times New Roman Regular" panose="02020503050405090304" charset="0"/>
                        <a:ea typeface="-apple-system"/>
                        <a:cs typeface="Times New Roman Regular" panose="02020503050405090304" charset="0"/>
                      </a:endParaRPr>
                    </a:p>
                  </a:txBody>
                  <a:tcPr marL="114617" marR="114617" marT="63817" marB="63817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4" name="Audio Recording 2026年6月3日 23:03:20">
            <a:hlinkClick r:id="" action="ppaction://media"/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379200" y="6043930"/>
            <a:ext cx="812800" cy="81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02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100" y="672465"/>
            <a:ext cx="11518265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3 DMAs: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1. Hydraulic parameters are assumed correct without calibration.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2. TOC, DBP, and biofilm effects are not considered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?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3. The inlet monitor has already measured it -- direct input (ex-normalization). 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4. Decay: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,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, first-order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5.</a:t>
            </a:r>
            <a:r>
              <a:rPr lang="zh-CN" altLang="en-US" dirty="0">
                <a:latin typeface="Times New Roman" panose="02020503050405090304" charset="0"/>
                <a:cs typeface="Times New Roman" panose="02020503050405090304" charset="0"/>
              </a:rPr>
              <a:t>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Monitoring point (3 inputs + 5 fittings + 2 validations)</a:t>
            </a:r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?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Based on prior experience, knowing the ranges of kb and kw, simulate a series of (kb, kw) pairs, compare 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C</a:t>
            </a:r>
            <a:r>
              <a:rPr lang="en-US" altLang="zh-CN" baseline="-25000" dirty="0" err="1">
                <a:latin typeface="Times New Roman" panose="02020503050405090304" charset="0"/>
                <a:cs typeface="Times New Roman" panose="02020503050405090304" charset="0"/>
              </a:rPr>
              <a:t>sim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with C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obs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to determine suitable </a:t>
            </a:r>
            <a:r>
              <a:rPr lang="en-US" altLang="zh-CN" dirty="0" err="1">
                <a:latin typeface="Times New Roman" panose="02020503050405090304" charset="0"/>
                <a:cs typeface="Times New Roman" panose="02020503050405090304" charset="0"/>
              </a:rPr>
              <a:t>C</a:t>
            </a:r>
            <a:r>
              <a:rPr lang="en-US" altLang="zh-CN" baseline="-25000" dirty="0" err="1">
                <a:latin typeface="Times New Roman" panose="02020503050405090304" charset="0"/>
                <a:cs typeface="Times New Roman" panose="02020503050405090304" charset="0"/>
              </a:rPr>
              <a:t>sim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and 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find the corresponding interval for (k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,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w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), and also obtain probabilities within reasonable ranges -- Monte Carlo ensemble, GLUE.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?</a:t>
            </a:r>
            <a:endParaRPr lang="en-US" altLang="zh-CN" dirty="0">
              <a:solidFill>
                <a:srgbClr val="FF000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Does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share across DMA(same source?)? Does k</a:t>
            </a:r>
            <a:r>
              <a:rPr lang="en-US" altLang="zh-CN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 require separate calibration (jar test)? 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strike="sngStrike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strike="sngStrike" dirty="0">
                <a:latin typeface="Times New Roman" panose="02020503050405090304" charset="0"/>
                <a:cs typeface="Times New Roman" panose="02020503050405090304" charset="0"/>
              </a:rPr>
              <a:t>Fix k</a:t>
            </a:r>
            <a:r>
              <a:rPr lang="en-US" altLang="zh-CN" strike="sngStrike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strike="sngStrike" dirty="0">
                <a:latin typeface="Times New Roman" panose="02020503050405090304" charset="0"/>
                <a:cs typeface="Times New Roman" panose="02020503050405090304" charset="0"/>
              </a:rPr>
              <a:t>, calibrate kw or </a:t>
            </a:r>
            <a:r>
              <a:rPr lang="en-US" altLang="zh-CN" i="1" strike="sngStrike" dirty="0">
                <a:latin typeface="Times New Roman" panose="02020503050405090304" charset="0"/>
                <a:cs typeface="Times New Roman" panose="02020503050405090304" charset="0"/>
              </a:rPr>
              <a:t>calibrate k</a:t>
            </a:r>
            <a:r>
              <a:rPr lang="en-US" altLang="zh-CN" i="1" strike="sngStrike" baseline="-25000" dirty="0">
                <a:latin typeface="Times New Roman" panose="02020503050405090304" charset="0"/>
                <a:cs typeface="Times New Roman" panose="02020503050405090304" charset="0"/>
              </a:rPr>
              <a:t>b</a:t>
            </a:r>
            <a:r>
              <a:rPr lang="en-US" altLang="zh-CN" i="1" strike="sngStrike" dirty="0">
                <a:latin typeface="Times New Roman" panose="02020503050405090304" charset="0"/>
                <a:cs typeface="Times New Roman" panose="02020503050405090304" charset="0"/>
              </a:rPr>
              <a:t> and kw simultaneously</a:t>
            </a:r>
            <a:r>
              <a:rPr lang="en-US" altLang="zh-CN" strike="sngStrike" dirty="0">
                <a:latin typeface="Times New Roman" panose="02020503050405090304" charset="0"/>
                <a:cs typeface="Times New Roman" panose="02020503050405090304" charset="0"/>
              </a:rPr>
              <a:t> (in my opinion, more difficult). </a:t>
            </a:r>
            <a:endParaRPr lang="en-US" altLang="zh-CN" strike="sngStrike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If only the residual chlorine data in the pipeline network is available, calibrate kb and kw as a set of parametersBeven &amp; Binley 1992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Temperature?</a:t>
            </a:r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endParaRPr lang="en-US" altLang="zh-CN" dirty="0">
              <a:latin typeface="Times New Roman" panose="02020503050405090304" charset="0"/>
              <a:cs typeface="Times New Roman" panose="02020503050405090304" charset="0"/>
            </a:endParaRPr>
          </a:p>
          <a:p>
            <a:r>
              <a:rPr lang="en-US" altLang="zh-CN" dirty="0">
                <a:latin typeface="Times New Roman" panose="02020503050405090304" charset="0"/>
                <a:cs typeface="Times New Roman" panose="02020503050405090304" charset="0"/>
              </a:rPr>
              <a:t>Three DMAs (ABC), differing in pipe material and age (Hallam, 2002), were compared to determine whether a model calibrated on one DMA can be applied to another. (Using results from A to predict B and C, but I noticed the paper states they are not shared, so I believe prediction is not possible.)</a:t>
            </a:r>
            <a:endParaRPr lang="zh-CN" altLang="en-US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5100" y="204470"/>
            <a:ext cx="11518265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 b="1" dirty="0">
                <a:latin typeface="Times New Roman" panose="02020503050405090304" charset="0"/>
                <a:cs typeface="Times New Roman" panose="02020503050405090304" charset="0"/>
              </a:rPr>
              <a:t>My understanding</a:t>
            </a:r>
            <a:endParaRPr lang="zh-CN" altLang="en-US" sz="2000" b="1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6475</Words>
  <Application>WPS 文字</Application>
  <PresentationFormat>宽屏</PresentationFormat>
  <Paragraphs>213</Paragraphs>
  <Slides>12</Slides>
  <Notes>11</Notes>
  <HiddenSlides>0</HiddenSlides>
  <MMClips>10</MMClips>
  <ScaleCrop>false</ScaleCrop>
  <HeadingPairs>
    <vt:vector size="6" baseType="variant">
      <vt:variant>
        <vt:lpstr>已用的字体</vt:lpstr>
      </vt:variant>
      <vt:variant>
        <vt:i4>25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8" baseType="lpstr">
      <vt:lpstr>Arial</vt:lpstr>
      <vt:lpstr>宋体</vt:lpstr>
      <vt:lpstr>Wingdings</vt:lpstr>
      <vt:lpstr>Times New Roman</vt:lpstr>
      <vt:lpstr>Times New Roman Regular</vt:lpstr>
      <vt:lpstr>Arial</vt:lpstr>
      <vt:lpstr>-apple-system</vt:lpstr>
      <vt:lpstr>Thonburi</vt:lpstr>
      <vt:lpstr>宋体</vt:lpstr>
      <vt:lpstr>Menlo</vt:lpstr>
      <vt:lpstr>katex_main</vt:lpstr>
      <vt:lpstr>微软雅黑</vt:lpstr>
      <vt:lpstr>汉仪旗黑</vt:lpstr>
      <vt:lpstr>等线 Light</vt:lpstr>
      <vt:lpstr>汉仪中等线KW</vt:lpstr>
      <vt:lpstr>等线</vt:lpstr>
      <vt:lpstr>Calibri</vt:lpstr>
      <vt:lpstr>Helvetica Neue</vt:lpstr>
      <vt:lpstr>汉仪书宋二KW</vt:lpstr>
      <vt:lpstr>Arial Unicode MS</vt:lpstr>
      <vt:lpstr>-apple-system</vt:lpstr>
      <vt:lpstr>Menlo</vt:lpstr>
      <vt:lpstr>katex_main</vt:lpstr>
      <vt:lpstr>苹方-简</vt:lpstr>
      <vt:lpstr>MS PGothic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Peng, Ruixin</dc:creator>
  <cp:lastModifiedBy>彭睿欣</cp:lastModifiedBy>
  <cp:revision>80</cp:revision>
  <dcterms:created xsi:type="dcterms:W3CDTF">2026-06-15T15:00:44Z</dcterms:created>
  <dcterms:modified xsi:type="dcterms:W3CDTF">2026-06-15T15:00:44Z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07D828CAD7D99788FE29106A3E52470A_42</vt:lpwstr>
  </property>
  <property fmtid="{D5CDD505-2E9C-101B-9397-08002B2CF9AE}" pid="3" name="KSOProductBuildVer">
    <vt:lpwstr>2052-12.1.25895.25895</vt:lpwstr>
  </property>
</Properties>
</file>