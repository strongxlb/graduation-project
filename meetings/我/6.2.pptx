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7" r:id="rId4"/>
    <p:sldId id="268" r:id="rId5"/>
    <p:sldId id="269" r:id="rId7"/>
    <p:sldId id="270" r:id="rId8"/>
    <p:sldId id="284" r:id="rId9"/>
    <p:sldId id="271" r:id="rId10"/>
    <p:sldId id="274" r:id="rId11"/>
    <p:sldId id="276" r:id="rId12"/>
    <p:sldId id="277" r:id="rId13"/>
    <p:sldId id="280" r:id="rId14"/>
    <p:sldId id="27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/>
    <p:restoredTop sz="94689"/>
  </p:normalViewPr>
  <p:slideViewPr>
    <p:cSldViewPr snapToGrid="0">
      <p:cViewPr>
        <p:scale>
          <a:sx n="93" d="100"/>
          <a:sy n="93" d="100"/>
        </p:scale>
        <p:origin x="6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近的</a:t>
            </a:r>
            <a:r>
              <a:rPr lang="en-US" altLang="zh-CN"/>
              <a:t>decay</a:t>
            </a:r>
            <a:r>
              <a:rPr lang="zh-CN" altLang="en-US"/>
              <a:t>小，远的</a:t>
            </a:r>
            <a:r>
              <a:rPr lang="en-US" altLang="zh-CN"/>
              <a:t>decay</a:t>
            </a:r>
            <a:r>
              <a:rPr lang="zh-CN" altLang="en-US"/>
              <a:t>多。</a:t>
            </a:r>
            <a:br>
              <a:rPr lang="zh-CN" altLang="en-US"/>
            </a:br>
            <a:r>
              <a:rPr lang="zh-CN" altLang="en-US"/>
              <a:t>单位是不是错了？</a:t>
            </a:r>
            <a:br>
              <a:rPr lang="zh-CN" altLang="en-US"/>
            </a:br>
            <a:r>
              <a:rPr lang="zh-CN" altLang="en-US"/>
              <a:t>初始设置只有</a:t>
            </a:r>
            <a:r>
              <a:rPr lang="en-US" altLang="zh-CN"/>
              <a:t>reservoir</a:t>
            </a:r>
            <a:r>
              <a:rPr lang="zh-CN" altLang="en-US"/>
              <a:t>是</a:t>
            </a:r>
            <a:r>
              <a:rPr lang="en-US" altLang="zh-CN"/>
              <a:t>1</a:t>
            </a:r>
            <a:r>
              <a:rPr lang="zh-CN" altLang="en-US"/>
              <a:t>，其他都是</a:t>
            </a:r>
            <a:r>
              <a:rPr lang="en-US" altLang="zh-CN"/>
              <a:t>0</a:t>
            </a:r>
            <a:r>
              <a:rPr lang="zh-CN" altLang="en-US"/>
              <a:t>，有</a:t>
            </a:r>
            <a:r>
              <a:rPr lang="en-US" altLang="zh-CN"/>
              <a:t>warm-up</a:t>
            </a:r>
            <a:r>
              <a:rPr lang="zh-CN" altLang="en-US"/>
              <a:t>。我自己的要不要</a:t>
            </a:r>
            <a:r>
              <a:rPr lang="en-US" altLang="zh-CN">
                <a:sym typeface="+mn-ea"/>
              </a:rPr>
              <a:t>warm-up</a:t>
            </a:r>
            <a:r>
              <a:rPr lang="zh-CN" altLang="en-US">
                <a:sym typeface="+mn-ea"/>
              </a:rPr>
              <a:t>？但是实际上，输入的是确定的，可能</a:t>
            </a:r>
            <a:r>
              <a:rPr lang="zh-CN" altLang="en-US">
                <a:sym typeface="+mn-ea"/>
              </a:rPr>
              <a:t>不用？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可识别</a:t>
            </a:r>
            <a:r>
              <a:rPr lang="zh-CN" altLang="en-US"/>
              <a:t>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氯</a:t>
            </a:r>
            <a:r>
              <a:rPr lang="zh-CN" altLang="en-US"/>
              <a:t>的区间，考虑了下线，是否考虑上限。因为不会变多，只要输入的</a:t>
            </a:r>
            <a:r>
              <a:rPr lang="en-US" altLang="zh-CN"/>
              <a:t>ok</a:t>
            </a:r>
            <a:r>
              <a:rPr lang="zh-CN" altLang="en-US"/>
              <a:t>就行，但是测量的</a:t>
            </a:r>
            <a:r>
              <a:rPr lang="zh-CN" altLang="en-US"/>
              <a:t>不一定。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这里主要是</a:t>
            </a:r>
            <a:r>
              <a:rPr lang="en-US" altLang="zh-CN"/>
              <a:t>bulk</a:t>
            </a:r>
            <a:endParaRPr lang="en-US" altLang="zh-CN"/>
          </a:p>
          <a:p>
            <a:r>
              <a:rPr lang="zh-CN" altLang="en-US"/>
              <a:t>即使在整个管网中 </a:t>
            </a:r>
            <a:r>
              <a:rPr lang="en-US" altLang="zh-CN"/>
              <a:t>kw </a:t>
            </a:r>
            <a:r>
              <a:rPr lang="zh-CN" altLang="en-US"/>
              <a:t>值保持一致，不同位置所归因于壁面衰减的比例也从 0% 到约 15% 不等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归一化，这为将</a:t>
            </a:r>
            <a:r>
              <a:rPr lang="en-US" altLang="zh-CN"/>
              <a:t>DMA</a:t>
            </a:r>
            <a:r>
              <a:rPr lang="zh-CN" altLang="en-US"/>
              <a:t>入口监测点作为边界条件提供了依据——只需将测得的入口</a:t>
            </a:r>
            <a:r>
              <a:rPr lang="en-US" altLang="zh-CN"/>
              <a:t>C(t)</a:t>
            </a:r>
            <a:r>
              <a:rPr lang="zh-CN" altLang="en-US"/>
              <a:t>输入模型即可，无需因入口绝对水平的变化而重新校准。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考虑水质和</a:t>
            </a:r>
            <a:r>
              <a:rPr lang="zh-CN" altLang="en-US"/>
              <a:t>水力</a:t>
            </a:r>
            <a:endParaRPr lang="zh-CN" altLang="en-US"/>
          </a:p>
          <a:p>
            <a:r>
              <a:rPr lang="zh-CN" altLang="en-US"/>
              <a:t>回答他的问题，在</a:t>
            </a:r>
            <a:r>
              <a:rPr lang="en-US" altLang="zh-CN"/>
              <a:t>wall</a:t>
            </a:r>
            <a:r>
              <a:rPr lang="zh-CN" altLang="en-US"/>
              <a:t>里面，考虑了</a:t>
            </a:r>
            <a:r>
              <a:rPr lang="en-US" altLang="zh-CN"/>
              <a:t>mass transfer, d</a:t>
            </a:r>
            <a:r>
              <a:rPr lang="zh-CN" altLang="en-US"/>
              <a:t>也在公式</a:t>
            </a:r>
            <a:r>
              <a:rPr lang="zh-CN" altLang="en-US"/>
              <a:t>里面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下游余氯曲线不是入口曲线简单地“晚一点出现”或者“整体变小一点”。</a:t>
            </a:r>
            <a:endParaRPr lang="zh-CN" altLang="en-US"/>
          </a:p>
          <a:p>
            <a:r>
              <a:rPr lang="zh-CN" altLang="en-US"/>
              <a:t>水在管道里走的时间会变，水箱里还会混合新水和旧水，所以曲线形状会被改变。</a:t>
            </a:r>
            <a:endParaRPr lang="zh-CN" altLang="en-US"/>
          </a:p>
          <a:p>
            <a:r>
              <a:rPr lang="zh-CN" altLang="en-US"/>
              <a:t>因此必须用 </a:t>
            </a:r>
            <a:r>
              <a:rPr lang="en-US" altLang="zh-CN"/>
              <a:t>EPANET/WNTR </a:t>
            </a:r>
            <a:r>
              <a:rPr lang="zh-CN" altLang="en-US"/>
              <a:t>模型来模拟整个过程。</a:t>
            </a:r>
            <a:endParaRPr lang="zh-CN" altLang="en-US"/>
          </a:p>
          <a:p>
            <a:r>
              <a:rPr lang="zh-CN" altLang="en-US"/>
              <a:t>校准时也不能只用某几个稳态点，而应该用完整时间序列。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不同的</a:t>
            </a:r>
            <a:r>
              <a:rPr lang="en-US" altLang="zh-CN"/>
              <a:t>kb</a:t>
            </a:r>
            <a:r>
              <a:rPr lang="zh-CN" altLang="en-US"/>
              <a:t>和</a:t>
            </a:r>
            <a:r>
              <a:rPr lang="en-US" altLang="zh-CN"/>
              <a:t>kw</a:t>
            </a:r>
            <a:r>
              <a:rPr lang="zh-CN" altLang="en-US"/>
              <a:t>，可能得到相同的</a:t>
            </a:r>
            <a:r>
              <a:rPr lang="zh-CN" altLang="en-US"/>
              <a:t>结果</a:t>
            </a:r>
            <a:endParaRPr lang="zh-CN" altLang="en-US"/>
          </a:p>
          <a:p>
            <a:r>
              <a:rPr lang="zh-CN" altLang="en-US"/>
              <a:t>获得的是一个</a:t>
            </a:r>
            <a:r>
              <a:rPr lang="en-US" altLang="zh-CN"/>
              <a:t>Yield</a:t>
            </a:r>
            <a:r>
              <a:rPr lang="zh-CN" altLang="en-US"/>
              <a:t>，存在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b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-k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w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compensation</a:t>
            </a:r>
            <a:r>
              <a:rPr lang="zh-CN" altLang="en-US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补偿</a:t>
            </a:r>
            <a:endParaRPr lang="zh-CN" altLang="en-US" b="1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现在大概的思路是：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我拿到3个</a:t>
            </a:r>
            <a:r>
              <a:rPr lang="en-US" altLang="zh-CN"/>
              <a:t>DMA</a:t>
            </a:r>
            <a:endParaRPr lang="en-US" altLang="zh-CN"/>
          </a:p>
          <a:p>
            <a:r>
              <a:rPr lang="zh-CN" altLang="en-US"/>
              <a:t>1. 明确水力不用校准，默认正确</a:t>
            </a:r>
            <a:endParaRPr lang="zh-CN" altLang="en-US"/>
          </a:p>
          <a:p>
            <a:r>
              <a:rPr lang="zh-CN" altLang="en-US"/>
              <a:t>2. 不考虑</a:t>
            </a:r>
            <a:r>
              <a:rPr lang="en-US" altLang="zh-CN"/>
              <a:t>TOC, DBP, </a:t>
            </a:r>
            <a:r>
              <a:rPr lang="zh-CN" altLang="en-US"/>
              <a:t>生物膜的影响？</a:t>
            </a:r>
            <a:endParaRPr lang="zh-CN" altLang="en-US"/>
          </a:p>
          <a:p>
            <a:r>
              <a:rPr lang="zh-CN" altLang="en-US"/>
              <a:t>3. 入口监测器已经把它测出来了，直接输入（</a:t>
            </a:r>
            <a:r>
              <a:rPr lang="en-US" altLang="zh-CN"/>
              <a:t>getting started-</a:t>
            </a:r>
            <a:r>
              <a:rPr lang="zh-CN" altLang="en-US"/>
              <a:t>归一性）</a:t>
            </a:r>
            <a:endParaRPr lang="zh-CN" altLang="en-US"/>
          </a:p>
          <a:p>
            <a:r>
              <a:rPr lang="zh-CN" altLang="en-US"/>
              <a:t>4. 衰减：</a:t>
            </a:r>
            <a:r>
              <a:rPr lang="en-US" altLang="zh-CN"/>
              <a:t>kw, kb, </a:t>
            </a:r>
            <a:r>
              <a:rPr lang="zh-CN" altLang="en-US"/>
              <a:t>一阶衰减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根据先验经验，知道</a:t>
            </a:r>
            <a:r>
              <a:rPr lang="en-US" altLang="zh-CN"/>
              <a:t>kb, kw</a:t>
            </a:r>
            <a:r>
              <a:rPr lang="zh-CN" altLang="en-US"/>
              <a:t>范围，然后</a:t>
            </a:r>
            <a:r>
              <a:rPr lang="en-US" altLang="zh-CN"/>
              <a:t>simulate，</a:t>
            </a:r>
            <a:r>
              <a:rPr lang="zh-CN" altLang="en-US"/>
              <a:t>试出来一系列(</a:t>
            </a:r>
            <a:r>
              <a:rPr lang="en-US" altLang="zh-CN"/>
              <a:t>kb, kw), </a:t>
            </a:r>
            <a:r>
              <a:rPr lang="zh-CN" altLang="en-US"/>
              <a:t>把</a:t>
            </a:r>
            <a:r>
              <a:rPr lang="en-US" altLang="zh-CN"/>
              <a:t>Csim</a:t>
            </a:r>
            <a:r>
              <a:rPr lang="zh-CN" altLang="en-US"/>
              <a:t>和</a:t>
            </a:r>
            <a:r>
              <a:rPr lang="en-US" altLang="zh-CN"/>
              <a:t>Cobs</a:t>
            </a:r>
            <a:r>
              <a:rPr lang="zh-CN" altLang="en-US"/>
              <a:t>比较，得出合适的</a:t>
            </a:r>
            <a:r>
              <a:rPr lang="en-US" altLang="zh-CN"/>
              <a:t>Csim</a:t>
            </a:r>
            <a:r>
              <a:rPr lang="zh-CN" altLang="en-US"/>
              <a:t>和合适的(</a:t>
            </a:r>
            <a:r>
              <a:rPr lang="en-US" altLang="zh-CN"/>
              <a:t>kb, kw)</a:t>
            </a:r>
            <a:r>
              <a:rPr lang="zh-CN" altLang="en-US"/>
              <a:t>的区间，也能得出在合理范围内的概率-</a:t>
            </a:r>
            <a:r>
              <a:rPr lang="en-US" altLang="zh-CN"/>
              <a:t>Monte Carlo ensemble, GLUE(</a:t>
            </a:r>
            <a:r>
              <a:rPr lang="zh-CN" altLang="en-US"/>
              <a:t>贝叶斯还没看不确定)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监测点（3输入+5拟合+2校验）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三个</a:t>
            </a:r>
            <a:r>
              <a:rPr lang="en-US" altLang="zh-CN"/>
              <a:t>DMA（ABC），differ in pipe material and age（Hallam, 2002），</a:t>
            </a:r>
            <a:r>
              <a:rPr lang="zh-CN" altLang="en-US"/>
              <a:t>得出的结论可比较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问</a:t>
            </a:r>
            <a:endParaRPr lang="en-US" altLang="zh-CN"/>
          </a:p>
          <a:p>
            <a:r>
              <a:rPr lang="en-US" altLang="zh-CN"/>
              <a:t>DMA</a:t>
            </a:r>
            <a:r>
              <a:rPr lang="zh-CN" altLang="en-US"/>
              <a:t>是否同源-</a:t>
            </a:r>
            <a:r>
              <a:rPr lang="en-US" altLang="zh-CN"/>
              <a:t>kb</a:t>
            </a:r>
            <a:r>
              <a:rPr lang="zh-CN" altLang="en-US"/>
              <a:t>是否相同，</a:t>
            </a:r>
            <a:r>
              <a:rPr lang="en-US" altLang="zh-CN"/>
              <a:t>kb</a:t>
            </a:r>
            <a:r>
              <a:rPr lang="zh-CN" altLang="en-US"/>
              <a:t>是否需要单独校准</a:t>
            </a:r>
            <a:endParaRPr lang="zh-CN" altLang="en-US"/>
          </a:p>
          <a:p>
            <a:r>
              <a:rPr lang="en-US" altLang="zh-CN"/>
              <a:t>kb</a:t>
            </a:r>
            <a:r>
              <a:rPr lang="zh-CN" altLang="en-US"/>
              <a:t>固定，校准</a:t>
            </a:r>
            <a:r>
              <a:rPr lang="en-US" altLang="zh-CN"/>
              <a:t>kw or kb, kw</a:t>
            </a:r>
            <a:r>
              <a:rPr lang="zh-CN" altLang="en-US"/>
              <a:t>同时校准（个人感觉更难）</a:t>
            </a:r>
            <a:endParaRPr lang="zh-CN" altLang="en-US"/>
          </a:p>
          <a:p>
            <a:r>
              <a:rPr lang="zh-CN" altLang="en-US"/>
              <a:t>温度</a:t>
            </a:r>
            <a:endParaRPr lang="zh-CN" altLang="en-US"/>
          </a:p>
          <a:p>
            <a:r>
              <a:rPr lang="zh-CN" altLang="en-US"/>
              <a:t>三个</a:t>
            </a:r>
            <a:r>
              <a:rPr lang="en-US" altLang="zh-CN"/>
              <a:t>DMA（ABC），differ in pipe material and age（Hallam, 2002），</a:t>
            </a:r>
            <a:r>
              <a:rPr lang="zh-CN" altLang="en-US"/>
              <a:t>得出的结论比较 </a:t>
            </a:r>
            <a:r>
              <a:rPr lang="en-US" altLang="zh-CN"/>
              <a:t>or </a:t>
            </a:r>
            <a:r>
              <a:rPr lang="zh-CN" altLang="en-US"/>
              <a:t>在一个</a:t>
            </a:r>
            <a:r>
              <a:rPr lang="en-US" altLang="zh-CN"/>
              <a:t>DMA</a:t>
            </a:r>
            <a:r>
              <a:rPr lang="zh-CN" altLang="en-US"/>
              <a:t>上校准的模型能否适用于另一个</a:t>
            </a:r>
            <a:r>
              <a:rPr lang="en-US" altLang="zh-CN"/>
              <a:t>DMA？(</a:t>
            </a:r>
            <a:r>
              <a:rPr lang="zh-CN" altLang="en-US"/>
              <a:t>用</a:t>
            </a:r>
            <a:r>
              <a:rPr lang="en-US" altLang="zh-CN"/>
              <a:t>A</a:t>
            </a:r>
            <a:r>
              <a:rPr lang="zh-CN" altLang="en-US"/>
              <a:t>的结果预测</a:t>
            </a:r>
            <a:r>
              <a:rPr lang="en-US" altLang="zh-CN"/>
              <a:t>B,C，</a:t>
            </a:r>
            <a:r>
              <a:rPr lang="zh-CN" altLang="en-US"/>
              <a:t>但是我看到论文里说，不共用，所以我感觉不能预测)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75CA1-6F9A-C543-9726-5DEBB049F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8316B-B7F2-F042-B6C0-2231261321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7050" y="1416685"/>
            <a:ext cx="9144000" cy="1856105"/>
          </a:xfrm>
        </p:spPr>
        <p:txBody>
          <a:bodyPr>
            <a:normAutofit/>
          </a:bodyPr>
          <a:lstStyle/>
          <a:p>
            <a:r>
              <a:rPr lang="en-GB" altLang="zh-CN" sz="5400" b="1" dirty="0">
                <a:latin typeface="Times New Roman" panose="02020503050405090304" charset="0"/>
                <a:cs typeface="Times New Roman" panose="02020503050405090304" charset="0"/>
              </a:rPr>
              <a:t>Week 1</a:t>
            </a:r>
            <a:r>
              <a:rPr lang="en-US" altLang="en-GB" sz="5400" b="1" dirty="0">
                <a:latin typeface="Times New Roman" panose="02020503050405090304" charset="0"/>
                <a:cs typeface="Times New Roman" panose="02020503050405090304" charset="0"/>
              </a:rPr>
              <a:t>-2</a:t>
            </a:r>
            <a:r>
              <a:rPr lang="en-GB" altLang="zh-CN" sz="54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GB" altLang="zh-CN" sz="54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GB" altLang="zh-CN" sz="5400" b="1" dirty="0">
                <a:latin typeface="Times New Roman" panose="02020503050405090304" charset="0"/>
                <a:cs typeface="Times New Roman" panose="02020503050405090304" charset="0"/>
              </a:rPr>
              <a:t>Report</a:t>
            </a:r>
            <a:endParaRPr lang="en-GB" altLang="zh-CN" sz="54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副标题 2"/>
          <p:cNvSpPr txBox="1"/>
          <p:nvPr/>
        </p:nvSpPr>
        <p:spPr>
          <a:xfrm>
            <a:off x="9550400" y="5644222"/>
            <a:ext cx="2288200" cy="80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 err="1">
                <a:latin typeface="Times New Roman" panose="02020503050405090304" charset="0"/>
                <a:cs typeface="Times New Roman" panose="02020503050405090304" charset="0"/>
              </a:rPr>
              <a:t>Ruixin</a:t>
            </a:r>
            <a:r>
              <a:rPr lang="zh-CN" altLang="en-US" sz="18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1800" dirty="0">
                <a:latin typeface="Times New Roman" panose="02020503050405090304" charset="0"/>
                <a:cs typeface="Times New Roman" panose="02020503050405090304" charset="0"/>
              </a:rPr>
              <a:t>Peng</a:t>
            </a:r>
            <a:endParaRPr lang="en-US" altLang="zh-CN"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GB" sz="1800" dirty="0">
                <a:latin typeface="Times New Roman" panose="02020503050405090304" charset="0"/>
                <a:cs typeface="Times New Roman" panose="02020503050405090304" charset="0"/>
              </a:rPr>
              <a:t>June 1</a:t>
            </a:r>
            <a:r>
              <a:rPr lang="en-GB" altLang="zh-CN" sz="1800" dirty="0">
                <a:latin typeface="Times New Roman" panose="02020503050405090304" charset="0"/>
                <a:cs typeface="Times New Roman" panose="02020503050405090304" charset="0"/>
              </a:rPr>
              <a:t>, 2026</a:t>
            </a:r>
            <a:endParaRPr lang="en-GB" altLang="zh-CN"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 txBox="1"/>
          <p:nvPr/>
        </p:nvSpPr>
        <p:spPr>
          <a:xfrm>
            <a:off x="9550400" y="5644222"/>
            <a:ext cx="2288200" cy="80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 err="1">
                <a:latin typeface="Times New Roman" panose="02020503050405090304" charset="0"/>
                <a:cs typeface="Times New Roman" panose="02020503050405090304" charset="0"/>
              </a:rPr>
              <a:t>Ruixin</a:t>
            </a:r>
            <a:r>
              <a:rPr lang="zh-CN" altLang="en-US" sz="18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1800" dirty="0">
                <a:latin typeface="Times New Roman" panose="02020503050405090304" charset="0"/>
                <a:cs typeface="Times New Roman" panose="02020503050405090304" charset="0"/>
              </a:rPr>
              <a:t>Peng</a:t>
            </a:r>
            <a:endParaRPr lang="en-US" altLang="zh-CN"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GB" sz="1800" dirty="0">
                <a:latin typeface="Times New Roman" panose="02020503050405090304" charset="0"/>
                <a:cs typeface="Times New Roman" panose="02020503050405090304" charset="0"/>
              </a:rPr>
              <a:t>June 2</a:t>
            </a:r>
            <a:r>
              <a:rPr lang="en-GB" altLang="zh-CN" sz="1800" dirty="0">
                <a:latin typeface="Times New Roman" panose="02020503050405090304" charset="0"/>
                <a:cs typeface="Times New Roman" panose="02020503050405090304" charset="0"/>
              </a:rPr>
              <a:t>, 2026</a:t>
            </a:r>
            <a:endParaRPr lang="en-GB" altLang="zh-CN"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01570" y="15386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1. WNTR Chlorine Modelling - Prep Work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1570" y="22790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2. Learning exercises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01570" y="30194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3. Material reading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01570" y="375983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4. My own understanding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91135" y="290195"/>
            <a:ext cx="1430020" cy="486410"/>
          </a:xfrm>
        </p:spPr>
        <p:txBody>
          <a:bodyPr>
            <a:normAutofit/>
          </a:bodyPr>
          <a:lstStyle/>
          <a:p>
            <a:r>
              <a:rPr lang="en-US" altLang="en-GB" b="1" dirty="0">
                <a:latin typeface="Times New Roman" panose="02020503050405090304" charset="0"/>
                <a:cs typeface="Times New Roman" panose="02020503050405090304" charset="0"/>
              </a:rPr>
              <a:t>Content</a:t>
            </a:r>
            <a:r>
              <a:rPr lang="en-US" altLang="en-GB" b="1" dirty="0">
                <a:latin typeface="Times New Roman" panose="02020503050405090304" charset="0"/>
                <a:cs typeface="Times New Roman" panose="02020503050405090304" charset="0"/>
              </a:rPr>
              <a:t>s</a:t>
            </a:r>
            <a:endParaRPr lang="en-US" altLang="en-GB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wntr_getting_started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407670"/>
            <a:ext cx="7059295" cy="3931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5358130"/>
            <a:ext cx="6134100" cy="50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9890" y="4633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b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= -0.5/day,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= -0.1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m/day ??</a:t>
            </a:r>
            <a:endParaRPr lang="en-US" altLang="zh-CN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9185" y="802005"/>
            <a:ext cx="43313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near-source nodes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(node 60 ≈ 1.0, node 10 ≈ 0.95) show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almost no decay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buFont typeface="Arial" panose="020B0604020202090204" pitchFamily="34" charset="0"/>
              <a:buNone/>
            </a:pP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far / branch nodes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(nodes 15, 20, 40) fall much lower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60310" y="3311525"/>
            <a:ext cx="433070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60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latin typeface="Times New Roman Regular" panose="02020503050405090304" charset="0"/>
                <a:ea typeface="-apple-system"/>
                <a:cs typeface="Times New Roman Regular" panose="02020503050405090304" charset="0"/>
              </a:rPr>
              <a:t> There is a </a:t>
            </a:r>
            <a:r>
              <a:rPr lang="en-US" altLang="zh-CN" sz="1600" b="1" i="0">
                <a:latin typeface="Times New Roman" panose="02020503050405090304" charset="0"/>
                <a:ea typeface="-apple-system"/>
                <a:cs typeface="Times New Roman" panose="02020503050405090304" charset="0"/>
              </a:rPr>
              <a:t>warm-up</a:t>
            </a:r>
            <a:r>
              <a:rPr lang="en-US" altLang="zh-CN" sz="1600" b="0" i="0">
                <a:latin typeface="Times New Roman Regular" panose="02020503050405090304" charset="0"/>
                <a:ea typeface="-apple-system"/>
                <a:cs typeface="Times New Roman Regular" panose="02020503050405090304" charset="0"/>
              </a:rPr>
              <a:t> transient at the start (pipes/tanks filling from their initial state) before the system reaches a quasi-steady state -- so this initial period should be discarded when computing metrics later.</a:t>
            </a:r>
            <a:endParaRPr lang="en-US" altLang="zh-CN" sz="1600" b="0" i="0">
              <a:latin typeface="Times New Roman Regular" panose="02020503050405090304" charset="0"/>
              <a:ea typeface="-apple-system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49185" y="5001895"/>
            <a:ext cx="433070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60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F0000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 In my own paper, do I need to, eg. run for 72 hours and discard the first 24 hours?</a:t>
            </a:r>
            <a:endParaRPr lang="en-US" altLang="zh-CN" sz="1600" b="0" i="0">
              <a:solidFill>
                <a:srgbClr val="FF0000"/>
              </a:solidFill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wntr_getting_started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35" y="777240"/>
            <a:ext cx="7059295" cy="39319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3535" y="4985385"/>
            <a:ext cx="967613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Most k</a:t>
            </a:r>
            <a:r>
              <a:rPr lang="en-US" altLang="zh-CN" sz="1600" b="0" i="0" baseline="-25000"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w</a:t>
            </a:r>
            <a:r>
              <a:rPr lang="en-US" altLang="zh-CN" sz="1600" b="0" i="0"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-sensitive monitor (lowest mean residual): node 20</a:t>
            </a:r>
            <a:endParaRPr lang="en-US" altLang="zh-CN" sz="1600" b="0" i="0"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 marL="0" indent="0"/>
            <a:endParaRPr lang="en-US" altLang="zh-CN" sz="1600" b="0" i="0"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 indent="0" fontAlgn="auto"/>
            <a:r>
              <a:rPr lang="en-US" altLang="zh-CN" sz="1600">
                <a:latin typeface="Times New Roman Regular" panose="02020503050405090304" charset="0"/>
                <a:ea typeface="-apple-system"/>
                <a:cs typeface="Times New Roman Regular" panose="02020503050405090304" charset="0"/>
                <a:sym typeface="+mn-ea"/>
              </a:rPr>
              <a:t>The more negative </a:t>
            </a:r>
            <a:r>
              <a:rPr lang="en-US" altLang="zh-CN" sz="1600">
                <a:latin typeface="Times New Roman Regular" panose="02020503050405090304" charset="0"/>
                <a:ea typeface="katex_main"/>
                <a:cs typeface="Times New Roman Regular" panose="02020503050405090304" charset="0"/>
                <a:sym typeface="+mn-ea"/>
              </a:rPr>
              <a:t>kw</a:t>
            </a:r>
            <a:r>
              <a:rPr lang="en-US" altLang="zh-CN" sz="1600">
                <a:latin typeface="Times New Roman Regular" panose="02020503050405090304" charset="0"/>
                <a:ea typeface="-apple-system"/>
                <a:cs typeface="Times New Roman Regular" panose="02020503050405090304" charset="0"/>
                <a:sym typeface="+mn-ea"/>
              </a:rPr>
              <a:t> is, the lower the residual, and the curves spread out clearly into separate lines → here </a:t>
            </a:r>
            <a:r>
              <a:rPr lang="en-US" altLang="zh-CN" sz="1600">
                <a:latin typeface="Times New Roman Regular" panose="02020503050405090304" charset="0"/>
                <a:ea typeface="katex_main"/>
                <a:cs typeface="Times New Roman Regular" panose="02020503050405090304" charset="0"/>
                <a:sym typeface="+mn-ea"/>
              </a:rPr>
              <a:t>kw </a:t>
            </a:r>
            <a:r>
              <a:rPr lang="en-US" altLang="zh-CN" sz="1600">
                <a:latin typeface="Times New Roman Regular" panose="02020503050405090304" charset="0"/>
                <a:ea typeface="-apple-system"/>
                <a:cs typeface="Times New Roman Regular" panose="02020503050405090304" charset="0"/>
                <a:sym typeface="+mn-ea"/>
              </a:rPr>
              <a:t>has a strong effect and is </a:t>
            </a:r>
            <a:r>
              <a:rPr lang="en-US" altLang="zh-CN" sz="1600" b="1">
                <a:latin typeface="Times New Roman" panose="02020503050405090304" charset="0"/>
                <a:ea typeface="-apple-system"/>
                <a:cs typeface="Times New Roman" panose="02020503050405090304" charset="0"/>
                <a:sym typeface="+mn-ea"/>
              </a:rPr>
              <a:t>identifiable</a:t>
            </a:r>
            <a:r>
              <a:rPr lang="en-US" altLang="zh-CN" sz="1600">
                <a:latin typeface="Times New Roman Regular" panose="02020503050405090304" charset="0"/>
                <a:ea typeface="-apple-system"/>
                <a:cs typeface="Times New Roman Regular" panose="02020503050405090304" charset="0"/>
                <a:sym typeface="+mn-ea"/>
              </a:rPr>
              <a:t>.</a:t>
            </a:r>
            <a:endParaRPr lang="en-US" altLang="zh-CN" sz="1600" b="0" i="0"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wntr_getting_started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815" y="347980"/>
            <a:ext cx="4407535" cy="3740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48655" y="347980"/>
            <a:ext cx="4406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Network map coloured by final chlorine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815" y="4744720"/>
            <a:ext cx="111601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Residual chlorine exhibits a spatial gradient: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highest near the source/reservoir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and gradually decreasing along the distribution network toward the ends;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lowest at ends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, long branch pipes, and areas far from the source (most prone to problems).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4815" y="5868670"/>
            <a:ext cx="92075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range of chlorine mentioned is (a, b) -- should we consider whether it exceeds b?</a:t>
            </a:r>
            <a:endParaRPr lang="en-US" altLang="zh-CN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Actual vs 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measured</a:t>
            </a:r>
            <a:endParaRPr lang="en-US" altLang="zh-CN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0345" y="320675"/>
            <a:ext cx="8392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1. Bulk vs wall. Re-run with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= 0. How much of Net's residual loss is bulk vs wall?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847725" y="1143000"/>
          <a:ext cx="8065135" cy="35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055"/>
                <a:gridCol w="948055"/>
                <a:gridCol w="948055"/>
                <a:gridCol w="948055"/>
                <a:gridCol w="948055"/>
              </a:tblGrid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  <a:sym typeface="+mn-ea"/>
                        </a:rPr>
                        <a:t>name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 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  bulk-only (mg/L)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bulk+wall (mg/L)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loss_bulk (%)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loss_wall (%)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10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0.956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0.955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4.400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15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0.619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0.470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38.100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solidFill>
                            <a:schemeClr val="accent2"/>
                          </a:solidFill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14.9</a:t>
                      </a:r>
                      <a:endParaRPr lang="en-US" altLang="zh-CN" sz="1100" b="1" i="0">
                        <a:solidFill>
                          <a:schemeClr val="accent2"/>
                        </a:solidFill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20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0.482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0.440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solidFill>
                            <a:schemeClr val="accent2"/>
                          </a:solidFill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51.800</a:t>
                      </a:r>
                      <a:endParaRPr lang="en-US" altLang="zh-CN" sz="1100" b="1" i="0">
                        <a:solidFill>
                          <a:schemeClr val="accent2"/>
                        </a:solidFill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4.1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35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0.815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0.727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18.500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8.8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40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0.629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0.541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37.100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8.8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60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0.999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0.997</a:t>
                      </a:r>
                      <a:endParaRPr lang="en-US" altLang="zh-CN" sz="1100" b="0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0.100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0.1</a:t>
                      </a:r>
                      <a:endParaRPr lang="en-US" altLang="zh-CN" sz="1100" b="1" i="0">
                        <a:latin typeface="Times New Roman" panose="02020503050405090304" charset="0"/>
                        <a:ea typeface="-apple-system"/>
                        <a:cs typeface="Times New Roman" panose="02020503050405090304" charset="0"/>
                      </a:endParaRPr>
                    </a:p>
                  </a:txBody>
                  <a:tcPr marL="101917" marR="101917" marT="51117" marB="51117" anchor="ctr" anchorCtr="0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47725" y="4133850"/>
            <a:ext cx="43110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• The node with the highest absolute contribution from wall decay is node 15.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• The larger the loss_bulk, the "older" the water. Node 20 has the highest value (51.8%, longest water age), while node 60/10 has the lowest.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4540" y="3540125"/>
            <a:ext cx="61810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Wall decay contribution strongly depends on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spatial location,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pipe material and age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(Hallam et al., 2002). Even with uniform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values throughout the network, the proportion attributed to wall decay ranges from 0% to ~15% at different locations.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44540" y="161290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Division of labor with wall: at each point, bulk loss is ≥ wall, indicating that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bulk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 is the dominant decay mechanism;</a:t>
            </a:r>
            <a:endParaRPr lang="en-US" altLang="zh-CN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2_exercises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828040"/>
            <a:ext cx="11786870" cy="35661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5130" y="4333875"/>
            <a:ext cx="117875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Results:  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 four normalized curves perfectly overlap.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First-order kinetics dC/dt = -k·C is homogeneous/linear with respect to concentration.  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1300" y="0"/>
            <a:ext cx="7374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2. Change INLET_CHLORINE_MGL and confirm residuals scale linearly. Why does that matter for treating the inlet monitor as a boundary condition?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5130" y="5356225"/>
            <a:ext cx="110680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This provides the justification for treating the DMA inlet monitoring point as a boundary condition -- simply inputting the measured inlet C(t) into the model is sufficient, without needing recalibration due to changes in absolute inlet levels.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2_exercises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5" y="1018540"/>
            <a:ext cx="8646160" cy="30835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045" y="214630"/>
            <a:ext cx="9974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3. Halve every pipe diameter. Wall decay should bite harder - why? (hydraulic radius / mass transfer; EPANET manual Ch.3).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345" y="4293235"/>
            <a:ext cx="11490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Results: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Node 20/40 concentration is close to or equal to zero—these nodes did not receive any water at all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Node 15/35 concentration increased—the flow path was reconfigured, and water bypassed the tank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 curve is highly irregular, with "breakpoints" and "jumps," indicating the network is in a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hydraulically infeasible 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state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3400" y="5960745"/>
            <a:ext cx="114903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wall reaction--4/d*k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EPANET manual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),             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w1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*k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f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/[r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h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(k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w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+k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f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)] (Vasconcelos et al., 1997)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2_exercises-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1401445"/>
            <a:ext cx="5714365" cy="5156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83655" y="1093470"/>
            <a:ext cx="49460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Results: Near-source nodes (10/60) closely follow the inlet pattern, but distant nodes (20/40) experience stronger fluctuations instead.  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3655" y="2287270"/>
            <a:ext cx="494601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 downstream residual chlorine curve is not simply a delayed or slightly reduced version of the inlet curve.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 water travel time in pipelines varies, and in storage tanks, new and old water mix, which alters the shape of the curve.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Therefore, it is essential to simulate the entire process using an EPANET/WNTR model.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During calibration, only a few steady-state points should not be used; instead, the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</a:rPr>
              <a:t>full time series 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must be applied.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7330" y="176530"/>
            <a:ext cx="116700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4. Use wn.add_source() with a pattern to make the inlet vary over time, mimicking a real inlet-monitor trace. This is exactly the boundary you'll impose later.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2_exercises-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" y="1039495"/>
            <a:ext cx="7059295" cy="53949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88200" y="1039495"/>
            <a:ext cx="491172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• Results:  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 optimal grid point is (k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</a:rPr>
              <a:t>b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= -0.375, 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</a:rPr>
              <a:t>w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= -0.225), close but not equal to the true value (limited by the 9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×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9 coarse grid). 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There are two grid points whose SSE falls within 1.5 times the minimum value: (-0.375, -0.22) and (-0.50, -0.22) -- their 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</a:rPr>
              <a:t>w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values are nearly identical (≥-0.22, close to the true value), while 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</a:rPr>
              <a:t>b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ranges from -0.375 to -0.50, all yielding "similarly good" fits.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980" y="243840"/>
            <a:ext cx="89388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5. Loop simulate_chlorine() over a (kb, kw) grid and compute the sum of squared errors (SSE) against a synthetic "observed" run.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80275" y="4790440"/>
            <a:ext cx="49110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b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-k</a:t>
            </a:r>
            <a:r>
              <a:rPr lang="en-US" altLang="zh-CN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w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compensation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: downstream residual chlorine only observes "total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decay," so bulk and wall effects can compensate each other (a slightly higher kb and lower kw yield equally good fits). 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286510" y="814705"/>
          <a:ext cx="9618345" cy="5229225"/>
        </p:xfrm>
        <a:graphic>
          <a:graphicData uri="http://schemas.openxmlformats.org/drawingml/2006/table">
            <a:tbl>
              <a:tblPr/>
              <a:tblGrid>
                <a:gridCol w="2493010"/>
                <a:gridCol w="7125335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Paper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Key takeaway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A1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Rossman 1994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first-order bulk + wall + mass-transfer = the EPANET model I will use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A6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Vasconcelos 1997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kw ∝ 1/roughness; absolute error: 0.05-0.15 mg/L (my accuracy benchmark); </a:t>
                      </a:r>
                      <a:r>
                        <a:rPr lang="en-US" altLang="zh-CN" sz="2000" b="0" i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fix k</a:t>
                      </a:r>
                      <a:r>
                        <a:rPr lang="en-US" altLang="zh-CN" sz="2000" b="0" i="0" baseline="-2500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b </a:t>
                      </a:r>
                      <a:r>
                        <a:rPr lang="en-US" altLang="zh-CN" sz="2000" b="0" i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from bottle tests, calibrate </a:t>
                      </a: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  <a:sym typeface="+mn-ea"/>
                        </a:rPr>
                        <a:t>k</a:t>
                      </a: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cs typeface="Times New Roman Regular" panose="02020503050405090304" charset="0"/>
                          <a:sym typeface="+mn-ea"/>
                        </a:rPr>
                        <a:t>w; DPD: 15%</a:t>
                      </a:r>
                      <a:endParaRPr lang="en-US" altLang="zh-CN" sz="2000" baseline="-25000">
                        <a:solidFill>
                          <a:srgbClr val="FF0000"/>
                        </a:solidFill>
                        <a:latin typeface="Times New Roman Regular" panose="02020503050405090304" charset="0"/>
                        <a:cs typeface="Times New Roman Regular" panose="02020503050405090304" charset="0"/>
                        <a:sym typeface="+mn-ea"/>
                      </a:endParaRPr>
                    </a:p>
                    <a:p>
                      <a:pPr algn="l" fontAlgn="t" latinLnBrk="0"/>
                      <a:r>
                        <a:rPr lang="en-US" altLang="zh-CN" sz="2000" b="0" i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  <a:sym typeface="+mn-ea"/>
                        </a:rPr>
                        <a:t>Process: (Hydraulic calibration), Bulk-bottle test, Adjust kw, Evaluation</a:t>
                      </a:r>
                      <a:endParaRPr lang="en-US" altLang="zh-CN" sz="2000" b="0" i="0">
                        <a:solidFill>
                          <a:srgbClr val="FF0000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  <a:sym typeface="+mn-ea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A4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Hallam 2002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wall decay is heterogeneous by </a:t>
                      </a:r>
                      <a:r>
                        <a:rPr lang="en-US" altLang="zh-CN" sz="2000" b="1" i="0">
                          <a:latin typeface="Times New Roman" panose="02020503050405090304" charset="0"/>
                          <a:ea typeface="-apple-system"/>
                          <a:cs typeface="Times New Roman" panose="02020503050405090304" charset="0"/>
                        </a:rPr>
                        <a:t>material/age 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→ justifies one kw per </a:t>
                      </a:r>
                      <a:r>
                        <a:rPr lang="en-US" altLang="zh-CN" sz="2000" b="0" i="0">
                          <a:solidFill>
                            <a:srgbClr val="FF0000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DMA</a:t>
                      </a:r>
                      <a:endParaRPr lang="en-US" altLang="zh-CN" sz="2000" b="0" i="0">
                        <a:solidFill>
                          <a:srgbClr val="FF0000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A3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Powell 2000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bulk decay is driven by TOC/temperature → informs the kb prior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9625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B1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Klise 2017 (WNTR)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EPANET wrapper + NetworkX + Pandas + built-in Monte Carlo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B2</a:t>
                      </a:r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EPANET 2.2 Manual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water-quality numerics: bulk/wall/mass-transfer term, 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  <a:p>
                      <a:pPr algn="l" fontAlgn="t" latinLnBrk="0"/>
                      <a:r>
                        <a:rPr lang="en-US" altLang="zh-CN" sz="2000" b="0" i="0"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unit conventions</a:t>
                      </a:r>
                      <a:endParaRPr lang="en-US" altLang="zh-CN" sz="2000" b="0" i="0"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5100" y="672465"/>
            <a:ext cx="1151826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3 DMA points: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1. Hydraulic parameters are assumed correct without calibration.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2. TOC, DBP, and biofilm effects are not considered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?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3. The inlet monitor has already measured it -- direct input (getting started -- normalization). 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4. Attenuation: kw, kb, first-order attenuation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Based on prior experience, knowing the ranges of kb and kw, simulate a series of (kb, kw) pairs, compare Csim with Cobs to determine suitable Csim values and the corresponding interval for (kb, kw), and also obtain probabilities within reasonable ranges -- Monte Carlo ensemble, GLUE (Bayesian method not yet reviewed, uncertainty remains).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Monitoring point (3 inputs + 5 fittings + 2 validations)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?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Does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b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share across DMA(same source?)? Does k</a:t>
            </a:r>
            <a:r>
              <a:rPr lang="en-US" altLang="zh-CN" baseline="-25000">
                <a:latin typeface="Times New Roman" panose="02020503050405090304" charset="0"/>
                <a:cs typeface="Times New Roman" panose="02020503050405090304" charset="0"/>
              </a:rPr>
              <a:t>b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require separate calibration (jar test)?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Fix kb, calibrate kw o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r calibrate kb and kw simultaneously (in my opinion, more difficult). 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Temperature?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Three DMAs (ABC), differing in pipe material and age (Hallam, 2002), were compared to determine whether a model calibrated on one DMA can be applied to another. (Using results from A to predict B and C, but I noticed the paper states they are not shared, so I believe prediction is not possible.)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100" y="204470"/>
            <a:ext cx="11518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My understanding</a:t>
            </a:r>
            <a:endParaRPr lang="zh-CN" altLang="en-US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6437</Words>
  <Application>WPS 文字</Application>
  <PresentationFormat>宽屏</PresentationFormat>
  <Paragraphs>214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微软雅黑</vt:lpstr>
      <vt:lpstr>汉仪旗黑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Menlo</vt:lpstr>
      <vt:lpstr>-apple-system</vt:lpstr>
      <vt:lpstr>Arial</vt:lpstr>
      <vt:lpstr>Thonburi</vt:lpstr>
      <vt:lpstr>katex_main</vt:lpstr>
      <vt:lpstr>KaTeX_Math</vt:lpstr>
      <vt:lpstr>-apple-system</vt:lpstr>
      <vt:lpstr>KaTeX_Math</vt:lpstr>
      <vt:lpstr>Menlo</vt:lpstr>
      <vt:lpstr>katex_main</vt:lpstr>
      <vt:lpstr>苹方-简</vt:lpstr>
      <vt:lpstr>Times New Roman Regular</vt:lpstr>
      <vt:lpstr>MS PGothic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Peng, Ruixin</dc:creator>
  <cp:lastModifiedBy>彭睿欣</cp:lastModifiedBy>
  <cp:revision>35</cp:revision>
  <dcterms:created xsi:type="dcterms:W3CDTF">2026-06-02T01:54:33Z</dcterms:created>
  <dcterms:modified xsi:type="dcterms:W3CDTF">2026-06-02T01:54:33Z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07D828CAD7D99788FE29106A3E52470A_42</vt:lpwstr>
  </property>
  <property fmtid="{D5CDD505-2E9C-101B-9397-08002B2CF9AE}" pid="3" name="KSOProductBuildVer">
    <vt:lpwstr>2052-12.1.25895.25895</vt:lpwstr>
  </property>
</Properties>
</file>