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6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20"/>
    <p:restoredTop sz="94689"/>
  </p:normalViewPr>
  <p:slideViewPr>
    <p:cSldViewPr snapToGrid="0">
      <p:cViewPr>
        <p:scale>
          <a:sx n="93" d="100"/>
          <a:sy n="93" d="100"/>
        </p:scale>
        <p:origin x="616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387F33-16EB-3639-3408-ACFE2A7D2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0893FA3-3231-F1B3-01FB-A65CD8CB84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B3D1BE-4164-15FF-506B-C753BF781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46B540-CB81-673B-1CDD-4976F2264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D2D12B-46C9-7B57-874B-DFA023CF6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06216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6740C3-AB16-F1A5-4190-EDD9C9836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5EB034-DA11-A253-7AF7-79D882BD8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AFC8A65-488E-7F7B-C63B-1F30808A9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7B2D828-3A70-C8BA-2AC5-CF8CF9347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704E3E-DB41-CE94-0655-2CB059C32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30399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8F003C-9022-F233-1E46-ED18690E9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75242B-02E3-D2A0-740A-A915EA7F1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57721DC-4EDD-26C2-C209-EBD210588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503FDD-5DA2-7346-F21E-9846F2357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5BE022-0211-3027-692B-4A05381F4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0612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F1F6CC-A38D-2C71-EDCF-7370DD849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9D1FFA7-0D59-F94D-4818-2497CFB26B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4FAE907-2D55-8506-2093-87170B6F4D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59DF83-C694-2D39-38A2-B09B4BE6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A22BB86-3B6E-E4E3-34C0-5B7FEAFFB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D47DFD-00C3-3168-34DA-DF6CCD098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70261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D8BCB6-37A5-8580-81AE-B39316D6D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BF38558-6203-1B85-9369-1DCE47160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4331A1C-02C0-84A6-9720-B76EC33BA3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7722486-0BA3-9B1B-C370-10B9C4001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4F5DB3-7D0E-91E1-C8B9-93F4AAB729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5C8A3DA-C02D-1EBE-3A05-439AA2338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5528E972-32D7-BC8C-BC5A-ED6E95B46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CEC0574-50BE-757F-F4C9-020901BE6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06529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631C48-9558-DCBC-D1D3-DB6AF06F58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43C85B0-8985-07F9-C378-243ADADCB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EBCDC15-34EE-E118-4044-13F6DEBEA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ED90C2B-F9D1-5886-F051-864365DE4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533280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1239F73-00E4-5DFE-B4FF-96F00FFAD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957BF42-863B-EAA2-211A-B6F892FE2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00F320A-592F-DCC0-170F-1F8D5A6B3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32700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30A1BD-E045-07BB-281E-519209DE8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ECE792-6708-785C-6E74-1D11C9B80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9F8E777-68D0-B90B-4C3D-915FF1B228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FDA1C6-579A-C1DD-CC63-997D941DC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71F7B97-F821-0EDA-9247-C32C72E03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69A3AFD-1703-D24C-0C08-69F4F9741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07054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AFE2B4-B18D-394F-E877-14681E079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D564B15-FF72-929F-6D25-7C36B15892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F88D361-88FD-FEBC-2A43-73D05370D9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B0AF150-12BD-0C5F-477F-714E63A82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A4D7255-25C1-AD70-7928-B71156605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5D03C27-CAEA-1EB6-5EEC-1028A5D9A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7203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855517-1324-FBB2-39BE-595595B7A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23C1D1-E827-3F2E-720C-43D0BCDF12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8D8043-8E8C-5A63-1F0B-DBFB1E261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0164E11-1539-FCE3-1C6A-1261BA0C5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90296EC-7EC6-22A7-5186-D106E3810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30875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EFFE0A0-640B-9BE5-4517-22E989C19F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582A891-A12D-A316-5FF9-3CA403AC7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814A98-9BC4-85AC-3A7F-A73A8ADA2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75CA1-6F9A-C543-9726-5DEBB049FFBF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C86343B-A5CF-78E0-62E1-525656847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B2CB23-84D3-5E39-FCD6-659721625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58316B-B7F2-F042-B6C0-2231261321F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50497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DFFB9A4-2DE3-B6CC-D431-6127BC1C9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6B11AC4-4153-D039-D4D5-9CB225B406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4B2C7B-E3C6-2DB0-7727-778CB0C19D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475CA1-6F9A-C543-9726-5DEBB049FFBF}" type="datetimeFigureOut">
              <a:rPr kumimoji="1" lang="zh-CN" altLang="en-US" smtClean="0"/>
              <a:t>2026/5/21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9478A2-FE77-80DF-4C46-F6E981308F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537CDEA-44F5-0B9C-B9B0-A45412605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58316B-B7F2-F042-B6C0-2231261321F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9027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标题 2">
            <a:extLst>
              <a:ext uri="{FF2B5EF4-FFF2-40B4-BE49-F238E27FC236}">
                <a16:creationId xmlns:a16="http://schemas.microsoft.com/office/drawing/2014/main" id="{2C8C726C-4ABB-18E2-6521-A546C88E5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7132" y="1416978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en" altLang="zh-CN" sz="5400" b="1" dirty="0">
                <a:latin typeface="+mn-ea"/>
              </a:rPr>
              <a:t>Week 1 </a:t>
            </a:r>
          </a:p>
          <a:p>
            <a:r>
              <a:rPr lang="en" altLang="zh-CN" sz="5400" b="1" dirty="0">
                <a:latin typeface="+mn-ea"/>
              </a:rPr>
              <a:t>Report</a:t>
            </a:r>
          </a:p>
          <a:p>
            <a:endParaRPr lang="en" altLang="zh-CN" b="1" dirty="0"/>
          </a:p>
        </p:txBody>
      </p:sp>
      <p:sp>
        <p:nvSpPr>
          <p:cNvPr id="4" name="副标题 2">
            <a:extLst>
              <a:ext uri="{FF2B5EF4-FFF2-40B4-BE49-F238E27FC236}">
                <a16:creationId xmlns:a16="http://schemas.microsoft.com/office/drawing/2014/main" id="{E62A3696-077A-F714-8965-4F16BC2A0D99}"/>
              </a:ext>
            </a:extLst>
          </p:cNvPr>
          <p:cNvSpPr txBox="1">
            <a:spLocks/>
          </p:cNvSpPr>
          <p:nvPr/>
        </p:nvSpPr>
        <p:spPr>
          <a:xfrm>
            <a:off x="9550400" y="5644222"/>
            <a:ext cx="2288200" cy="809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800" dirty="0" err="1">
                <a:latin typeface="+mn-ea"/>
              </a:rPr>
              <a:t>Ruixin</a:t>
            </a:r>
            <a:r>
              <a:rPr lang="zh-CN" altLang="en-US" sz="1800" dirty="0">
                <a:latin typeface="+mn-ea"/>
              </a:rPr>
              <a:t> </a:t>
            </a:r>
            <a:r>
              <a:rPr lang="en-US" altLang="zh-CN" sz="1800" dirty="0">
                <a:latin typeface="+mn-ea"/>
              </a:rPr>
              <a:t>Peng</a:t>
            </a:r>
          </a:p>
          <a:p>
            <a:r>
              <a:rPr lang="en" altLang="zh-CN" sz="1800" dirty="0">
                <a:latin typeface="+mn-ea"/>
              </a:rPr>
              <a:t>May 22, 2026</a:t>
            </a:r>
          </a:p>
        </p:txBody>
      </p:sp>
    </p:spTree>
    <p:extLst>
      <p:ext uri="{BB962C8B-B14F-4D97-AF65-F5344CB8AC3E}">
        <p14:creationId xmlns:p14="http://schemas.microsoft.com/office/powerpoint/2010/main" val="2062242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5A653-FA9F-2137-9528-BF8CF53124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6EA2A3B-7E5A-D67E-32E8-28BEC226ACA9}"/>
              </a:ext>
            </a:extLst>
          </p:cNvPr>
          <p:cNvSpPr txBox="1"/>
          <p:nvPr/>
        </p:nvSpPr>
        <p:spPr>
          <a:xfrm>
            <a:off x="700268" y="573475"/>
            <a:ext cx="60998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2800" b="1" dirty="0"/>
              <a:t>1.1 Project Skeleton &amp; Toolchain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50445AA-A4F0-7915-5950-5E10EDAB0121}"/>
              </a:ext>
            </a:extLst>
          </p:cNvPr>
          <p:cNvSpPr txBox="1"/>
          <p:nvPr/>
        </p:nvSpPr>
        <p:spPr>
          <a:xfrm>
            <a:off x="700268" y="2274838"/>
            <a:ext cx="1138089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" altLang="zh-CN" sz="2400" dirty="0">
                <a:latin typeface="+mn-ea"/>
              </a:rPr>
              <a:t>Repo ready —</a:t>
            </a:r>
            <a:r>
              <a:rPr lang="zh-CN" altLang="en-US" sz="2400" dirty="0">
                <a:latin typeface="+mn-ea"/>
              </a:rPr>
              <a:t> </a:t>
            </a:r>
            <a:r>
              <a:rPr lang="en" altLang="zh-CN" sz="2400" dirty="0">
                <a:latin typeface="+mn-ea"/>
              </a:rPr>
              <a:t>README + plan + Net1.inp + two demo scripts run end-to-end.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" altLang="zh-CN" sz="2400" dirty="0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" altLang="zh-CN" sz="2400" dirty="0">
                <a:latin typeface="+mn-ea"/>
              </a:rPr>
              <a:t>Environment ready — Cursor + </a:t>
            </a:r>
            <a:r>
              <a:rPr lang="en" altLang="zh-CN" sz="2400" dirty="0" err="1">
                <a:latin typeface="+mn-ea"/>
              </a:rPr>
              <a:t>Conda</a:t>
            </a:r>
            <a:r>
              <a:rPr lang="en" altLang="zh-CN" sz="2400" dirty="0">
                <a:latin typeface="+mn-ea"/>
              </a:rPr>
              <a:t> cive70058 (Python 3.11, WNTR 1.4, EPANET);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" altLang="zh-CN" sz="2400" dirty="0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" altLang="zh-CN" sz="2400" dirty="0">
                <a:latin typeface="+mn-ea"/>
              </a:rPr>
              <a:t>Version control — Learned Git/GitHub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" altLang="zh-CN" sz="2400" dirty="0">
              <a:latin typeface="+mn-ea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" altLang="zh-CN" sz="2400" dirty="0">
                <a:latin typeface="+mn-ea"/>
              </a:rPr>
              <a:t>Thesis template ready</a:t>
            </a:r>
          </a:p>
        </p:txBody>
      </p:sp>
    </p:spTree>
    <p:extLst>
      <p:ext uri="{BB962C8B-B14F-4D97-AF65-F5344CB8AC3E}">
        <p14:creationId xmlns:p14="http://schemas.microsoft.com/office/powerpoint/2010/main" val="2183956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823D1-42F1-3693-E382-BCE551CF8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775D434-6A92-ED01-E9B9-109B2ABFD60F}"/>
              </a:ext>
            </a:extLst>
          </p:cNvPr>
          <p:cNvSpPr txBox="1"/>
          <p:nvPr/>
        </p:nvSpPr>
        <p:spPr>
          <a:xfrm>
            <a:off x="734289" y="522328"/>
            <a:ext cx="85482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/>
              <a:t>1.2</a:t>
            </a:r>
            <a:r>
              <a:rPr lang="zh-CN" altLang="en-US" sz="2800" b="1" dirty="0"/>
              <a:t> </a:t>
            </a:r>
            <a:r>
              <a:rPr lang="en" altLang="zh-CN" sz="2800" b="1" dirty="0"/>
              <a:t>Model Demo (baseline simulation</a:t>
            </a:r>
            <a:r>
              <a:rPr lang="en-US" altLang="zh-CN" sz="2800" b="1" dirty="0"/>
              <a:t>)</a:t>
            </a:r>
            <a:r>
              <a:rPr lang="en" altLang="zh-CN" sz="2800" b="1" dirty="0"/>
              <a:t> 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5454024-EE96-C009-B6B9-00B79E1789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370082"/>
              </p:ext>
            </p:extLst>
          </p:nvPr>
        </p:nvGraphicFramePr>
        <p:xfrm>
          <a:off x="944416" y="1737822"/>
          <a:ext cx="10180784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90392">
                  <a:extLst>
                    <a:ext uri="{9D8B030D-6E8A-4147-A177-3AD203B41FA5}">
                      <a16:colId xmlns:a16="http://schemas.microsoft.com/office/drawing/2014/main" val="3926177652"/>
                    </a:ext>
                  </a:extLst>
                </a:gridCol>
                <a:gridCol w="5090392">
                  <a:extLst>
                    <a:ext uri="{9D8B030D-6E8A-4147-A177-3AD203B41FA5}">
                      <a16:colId xmlns:a16="http://schemas.microsoft.com/office/drawing/2014/main" val="23868864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CN" sz="2800" dirty="0"/>
                        <a:t>Modified Net1</a:t>
                      </a:r>
                      <a:endParaRPr lang="zh-CN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CN" sz="2800" b="1" dirty="0"/>
                        <a:t>Official Net1.inp</a:t>
                      </a:r>
                      <a:r>
                        <a:rPr lang="zh-CN" altLang="en-US" sz="2800" b="1" dirty="0"/>
                        <a:t> </a:t>
                      </a:r>
                      <a:r>
                        <a:rPr lang="en-US" altLang="zh-CN" sz="2800" b="1" dirty="0"/>
                        <a:t>(original)</a:t>
                      </a:r>
                      <a:endParaRPr lang="en" altLang="zh-CN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8265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800" dirty="0"/>
                        <a:t>w</a:t>
                      </a:r>
                      <a:r>
                        <a:rPr lang="en" altLang="zh-CN" sz="2800" dirty="0"/>
                        <a:t>all 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CN" sz="2800" dirty="0"/>
                        <a:t>bulk + wall 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830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800" dirty="0"/>
                        <a:t>j</a:t>
                      </a:r>
                      <a:r>
                        <a:rPr lang="en" altLang="zh-CN" sz="2800" dirty="0"/>
                        <a:t>unction initial Cl =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zh-CN" sz="2800" dirty="0"/>
                        <a:t>junction initial Cl = 0</a:t>
                      </a:r>
                      <a:r>
                        <a:rPr lang="en-US" altLang="zh-CN" sz="2800" dirty="0"/>
                        <a:t>.5</a:t>
                      </a:r>
                      <a:r>
                        <a:rPr lang="zh-CN" altLang="en-US" sz="2800" dirty="0"/>
                        <a:t> </a:t>
                      </a:r>
                      <a:r>
                        <a:rPr lang="en-US" altLang="zh-CN" sz="2800" dirty="0"/>
                        <a:t>mg/L</a:t>
                      </a:r>
                      <a:r>
                        <a:rPr lang="zh-CN" altLang="en-US" sz="2800" dirty="0"/>
                        <a:t> </a:t>
                      </a:r>
                      <a:endParaRPr lang="en-US" altLang="zh-CN" sz="28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en" altLang="zh-CN" sz="2000" dirty="0">
                          <a:solidFill>
                            <a:srgbClr val="FF0000"/>
                          </a:solidFill>
                        </a:rPr>
                        <a:t>WNTR </a:t>
                      </a:r>
                      <a:r>
                        <a:rPr lang="en" altLang="zh-CN" sz="2000" dirty="0" err="1">
                          <a:solidFill>
                            <a:srgbClr val="FF0000"/>
                          </a:solidFill>
                        </a:rPr>
                        <a:t>initial_quality</a:t>
                      </a:r>
                      <a:r>
                        <a:rPr lang="en" altLang="zh-CN" sz="2000" dirty="0">
                          <a:solidFill>
                            <a:srgbClr val="FF0000"/>
                          </a:solidFill>
                        </a:rPr>
                        <a:t> units (kg/m³ → mg/L for display</a:t>
                      </a:r>
                      <a:r>
                        <a:rPr lang="zh-CN" altLang="en-US" sz="20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zh-CN" sz="2000" dirty="0">
                          <a:solidFill>
                            <a:srgbClr val="FF0000"/>
                          </a:solidFill>
                        </a:rPr>
                        <a:t>?</a:t>
                      </a:r>
                      <a:r>
                        <a:rPr lang="en" altLang="zh-CN" sz="2000" dirty="0">
                          <a:solidFill>
                            <a:srgbClr val="FF0000"/>
                          </a:solidFill>
                        </a:rPr>
                        <a:t>)</a:t>
                      </a:r>
                      <a:r>
                        <a:rPr lang="en-US" altLang="zh-CN" sz="20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en" altLang="zh-CN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2365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518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C09CA-F7B9-20EB-8749-439067B52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59F9D0CE-F651-8600-BE34-8C297D538ABC}"/>
              </a:ext>
            </a:extLst>
          </p:cNvPr>
          <p:cNvSpPr txBox="1"/>
          <p:nvPr/>
        </p:nvSpPr>
        <p:spPr>
          <a:xfrm>
            <a:off x="110834" y="305351"/>
            <a:ext cx="85482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/>
              <a:t>1.2</a:t>
            </a:r>
            <a:r>
              <a:rPr lang="zh-CN" altLang="en-US" sz="2800" b="1" dirty="0"/>
              <a:t> </a:t>
            </a:r>
            <a:r>
              <a:rPr lang="en" altLang="zh-CN" sz="2800" b="1" dirty="0"/>
              <a:t>Model Demo </a:t>
            </a:r>
            <a:r>
              <a:rPr lang="en-US" altLang="zh-CN" sz="2800" b="1" dirty="0"/>
              <a:t>results</a:t>
            </a:r>
            <a:r>
              <a:rPr lang="zh-CN" altLang="en-US" sz="2800" b="1" dirty="0"/>
              <a:t> </a:t>
            </a:r>
            <a:r>
              <a:rPr lang="en-US" altLang="zh-CN" sz="2800" b="1" dirty="0"/>
              <a:t>(</a:t>
            </a:r>
            <a:r>
              <a:rPr lang="en" altLang="zh-CN" sz="2800" b="1" dirty="0"/>
              <a:t>Modified Net1</a:t>
            </a:r>
            <a:r>
              <a:rPr lang="en-US" altLang="zh-CN" sz="2800" b="1" dirty="0"/>
              <a:t>)</a:t>
            </a:r>
            <a:endParaRPr lang="en" altLang="zh-CN" sz="2800" b="1" dirty="0"/>
          </a:p>
        </p:txBody>
      </p:sp>
      <p:pic>
        <p:nvPicPr>
          <p:cNvPr id="11" name="图片 10" descr="图表, 折线图&#10;&#10;AI 生成的内容可能不正确。">
            <a:extLst>
              <a:ext uri="{FF2B5EF4-FFF2-40B4-BE49-F238E27FC236}">
                <a16:creationId xmlns:a16="http://schemas.microsoft.com/office/drawing/2014/main" id="{ED40C2B4-3300-ECC4-D938-57E5F88A2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9576" y="1579969"/>
            <a:ext cx="6981590" cy="3490795"/>
          </a:xfrm>
          <a:prstGeom prst="rect">
            <a:avLst/>
          </a:prstGeom>
        </p:spPr>
      </p:pic>
      <p:sp>
        <p:nvSpPr>
          <p:cNvPr id="17" name="文本框 16">
            <a:extLst>
              <a:ext uri="{FF2B5EF4-FFF2-40B4-BE49-F238E27FC236}">
                <a16:creationId xmlns:a16="http://schemas.microsoft.com/office/drawing/2014/main" id="{A4C60791-C04E-0244-9197-3273C42DE3FF}"/>
              </a:ext>
            </a:extLst>
          </p:cNvPr>
          <p:cNvSpPr txBox="1"/>
          <p:nvPr/>
        </p:nvSpPr>
        <p:spPr>
          <a:xfrm>
            <a:off x="5978240" y="5278031"/>
            <a:ext cx="6102926" cy="697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" altLang="zh-CN" b="0" i="0" dirty="0">
                <a:effectLst/>
                <a:latin typeface="-apple-system"/>
              </a:rPr>
              <a:t>Around 13 h, node 10 drops ~10 m: pump OFF (tank &gt; 140 ft). </a:t>
            </a:r>
          </a:p>
          <a:p>
            <a:pPr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" altLang="zh-CN" b="0" i="0" dirty="0">
                <a:effectLst/>
                <a:latin typeface="-apple-system"/>
              </a:rPr>
              <a:t>23 h recovery: pump ON again. </a:t>
            </a:r>
          </a:p>
        </p:txBody>
      </p:sp>
      <p:pic>
        <p:nvPicPr>
          <p:cNvPr id="19" name="图片 18" descr="图示&#10;&#10;AI 生成的内容可能不正确。">
            <a:extLst>
              <a:ext uri="{FF2B5EF4-FFF2-40B4-BE49-F238E27FC236}">
                <a16:creationId xmlns:a16="http://schemas.microsoft.com/office/drawing/2014/main" id="{06D36F2A-6364-A85F-CE8B-48CFEA844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576" y="1136650"/>
            <a:ext cx="4826000" cy="4584700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078B8098-DD09-8A70-2685-46E21AC8AC98}"/>
              </a:ext>
            </a:extLst>
          </p:cNvPr>
          <p:cNvSpPr txBox="1"/>
          <p:nvPr/>
        </p:nvSpPr>
        <p:spPr>
          <a:xfrm>
            <a:off x="685804" y="5579803"/>
            <a:ext cx="2445323" cy="697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lang="en-US" altLang="zh-CN" b="0" i="0" dirty="0">
                <a:effectLst/>
                <a:latin typeface="-apple-system"/>
              </a:rPr>
              <a:t>2</a:t>
            </a:r>
            <a:r>
              <a:rPr lang="zh-CN" altLang="en-US" b="0" i="0" dirty="0">
                <a:effectLst/>
                <a:latin typeface="-apple-system"/>
              </a:rPr>
              <a:t> </a:t>
            </a:r>
            <a:r>
              <a:rPr lang="en-US" altLang="zh-CN" b="0" i="0" dirty="0">
                <a:effectLst/>
                <a:latin typeface="-apple-system"/>
              </a:rPr>
              <a:t>-</a:t>
            </a:r>
            <a:r>
              <a:rPr lang="zh-CN" altLang="en-US" b="0" i="0" dirty="0">
                <a:effectLst/>
                <a:latin typeface="-apple-system"/>
              </a:rPr>
              <a:t> </a:t>
            </a:r>
            <a:r>
              <a:rPr lang="en-US" altLang="zh-CN" b="0" i="0" dirty="0">
                <a:effectLst/>
                <a:latin typeface="-apple-system"/>
              </a:rPr>
              <a:t>tank</a:t>
            </a: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lang="en-US" altLang="zh-CN" dirty="0">
                <a:latin typeface="-apple-system"/>
              </a:rPr>
              <a:t>9</a:t>
            </a:r>
            <a:r>
              <a:rPr lang="zh-CN" altLang="en-US" dirty="0">
                <a:latin typeface="-apple-system"/>
              </a:rPr>
              <a:t> </a:t>
            </a:r>
            <a:r>
              <a:rPr lang="en-US" altLang="zh-CN" dirty="0">
                <a:latin typeface="-apple-system"/>
              </a:rPr>
              <a:t>-</a:t>
            </a:r>
            <a:r>
              <a:rPr lang="zh-CN" altLang="en-US" dirty="0">
                <a:latin typeface="-apple-system"/>
              </a:rPr>
              <a:t> </a:t>
            </a:r>
            <a:r>
              <a:rPr lang="en-US" altLang="zh-CN" dirty="0">
                <a:latin typeface="-apple-system"/>
              </a:rPr>
              <a:t>reservoir</a:t>
            </a:r>
            <a:endParaRPr lang="en" altLang="zh-CN" b="0" i="0" dirty="0"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980744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FB3F4-4BDA-93A6-ADFE-01C122134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图表, 折线图&#10;&#10;AI 生成的内容可能不正确。">
            <a:extLst>
              <a:ext uri="{FF2B5EF4-FFF2-40B4-BE49-F238E27FC236}">
                <a16:creationId xmlns:a16="http://schemas.microsoft.com/office/drawing/2014/main" id="{15C72BED-3B6D-CAE4-7E06-2094C8DBB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8571"/>
            <a:ext cx="7315200" cy="36576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6137DE7-86E3-E5C0-2288-8D4D1404094A}"/>
              </a:ext>
            </a:extLst>
          </p:cNvPr>
          <p:cNvSpPr txBox="1"/>
          <p:nvPr/>
        </p:nvSpPr>
        <p:spPr>
          <a:xfrm>
            <a:off x="110834" y="305351"/>
            <a:ext cx="85482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/>
              <a:t>1.2</a:t>
            </a:r>
            <a:r>
              <a:rPr lang="zh-CN" altLang="en-US" sz="2800" b="1" dirty="0"/>
              <a:t> </a:t>
            </a:r>
            <a:r>
              <a:rPr lang="en" altLang="zh-CN" sz="2800" b="1" dirty="0"/>
              <a:t>Model Demo </a:t>
            </a:r>
            <a:r>
              <a:rPr lang="en-US" altLang="zh-CN" sz="2800" b="1" dirty="0"/>
              <a:t>results</a:t>
            </a:r>
            <a:r>
              <a:rPr lang="zh-CN" altLang="en-US" sz="2800" b="1" dirty="0"/>
              <a:t> </a:t>
            </a:r>
            <a:r>
              <a:rPr lang="en-US" altLang="zh-CN" sz="2800" b="1" dirty="0"/>
              <a:t>(</a:t>
            </a:r>
            <a:r>
              <a:rPr lang="en" altLang="zh-CN" sz="2800" b="1" dirty="0"/>
              <a:t>Modified Net1</a:t>
            </a:r>
            <a:r>
              <a:rPr lang="en-US" altLang="zh-CN" sz="2800" b="1" dirty="0"/>
              <a:t>)</a:t>
            </a:r>
            <a:endParaRPr lang="en" altLang="zh-CN" sz="2800" b="1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085D9A6-85F7-6867-F5C8-429C7DC9ECF8}"/>
              </a:ext>
            </a:extLst>
          </p:cNvPr>
          <p:cNvSpPr txBox="1"/>
          <p:nvPr/>
        </p:nvSpPr>
        <p:spPr>
          <a:xfrm>
            <a:off x="294408" y="4410785"/>
            <a:ext cx="702079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lang="en" altLang="zh-CN" b="0" i="0" dirty="0">
                <a:effectLst/>
                <a:latin typeface="-apple-system"/>
              </a:rPr>
              <a:t>Chlorine time series</a:t>
            </a:r>
          </a:p>
          <a:p>
            <a:pPr marL="285750" indent="-28575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" altLang="zh-CN" b="0" i="0" dirty="0">
                <a:effectLst/>
                <a:latin typeface="-apple-system"/>
              </a:rPr>
              <a:t>Node 10 (first junction after pump): 0 → 1 → 0 → 1 </a:t>
            </a:r>
            <a:endParaRPr lang="en" altLang="zh-CN" dirty="0">
              <a:latin typeface="-apple-system"/>
            </a:endParaRPr>
          </a:p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lang="en" altLang="zh-CN" b="0" i="0" dirty="0">
                <a:effectLst/>
                <a:latin typeface="-apple-system"/>
              </a:rPr>
              <a:t>1 mg/L when pump ON; zero during OFF (13–22 h); reinjection at 23 h. </a:t>
            </a:r>
          </a:p>
          <a:p>
            <a:pPr marL="285750" indent="-28575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" altLang="zh-CN" b="0" i="0" dirty="0">
                <a:effectLst/>
                <a:latin typeface="-apple-system"/>
              </a:rPr>
              <a:t>Nodes 11/12/13/21 etc.: stay ≈ 0 for 24 h — chlorine has not advected downstream.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4E1E70-A66C-6203-8C33-AF1DAC4090CA}"/>
              </a:ext>
            </a:extLst>
          </p:cNvPr>
          <p:cNvSpPr txBox="1"/>
          <p:nvPr/>
        </p:nvSpPr>
        <p:spPr>
          <a:xfrm>
            <a:off x="7429996" y="5092628"/>
            <a:ext cx="4582393" cy="974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50"/>
              </a:spcBef>
              <a:spcAft>
                <a:spcPts val="150"/>
              </a:spcAft>
            </a:pPr>
            <a:r>
              <a:rPr lang="en" altLang="zh-CN" b="0" i="0" dirty="0">
                <a:effectLst/>
                <a:latin typeface="-apple-system"/>
              </a:rPr>
              <a:t>Spatial chlorine</a:t>
            </a:r>
          </a:p>
          <a:p>
            <a:pPr marL="285750" indent="-28575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" altLang="zh-CN" b="0" i="0" dirty="0">
                <a:effectLst/>
                <a:latin typeface="-apple-system"/>
              </a:rPr>
              <a:t>Only node 10 is dark (1.0 mg/L); all other junctions near zero. </a:t>
            </a:r>
          </a:p>
        </p:txBody>
      </p:sp>
      <p:pic>
        <p:nvPicPr>
          <p:cNvPr id="12" name="图片 11" descr="图示&#10;&#10;AI 生成的内容可能不正确。">
            <a:extLst>
              <a:ext uri="{FF2B5EF4-FFF2-40B4-BE49-F238E27FC236}">
                <a16:creationId xmlns:a16="http://schemas.microsoft.com/office/drawing/2014/main" id="{AE10AC72-107B-7202-52A3-C92A2CA34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4489" y="327328"/>
            <a:ext cx="4787900" cy="458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19049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1E553-BF50-0B1C-8E83-60907AF23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表, 折线图&#10;&#10;AI 生成的内容可能不正确。">
            <a:extLst>
              <a:ext uri="{FF2B5EF4-FFF2-40B4-BE49-F238E27FC236}">
                <a16:creationId xmlns:a16="http://schemas.microsoft.com/office/drawing/2014/main" id="{18EF4F01-E302-3532-B279-56DE66671E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917" y="1339001"/>
            <a:ext cx="6928428" cy="3464214"/>
          </a:xfrm>
          <a:prstGeom prst="rect">
            <a:avLst/>
          </a:prstGeom>
        </p:spPr>
      </p:pic>
      <p:sp>
        <p:nvSpPr>
          <p:cNvPr id="8" name="文本框 5">
            <a:extLst>
              <a:ext uri="{FF2B5EF4-FFF2-40B4-BE49-F238E27FC236}">
                <a16:creationId xmlns:a16="http://schemas.microsoft.com/office/drawing/2014/main" id="{59F9D0CE-F651-8600-BE34-8C297D538ABC}"/>
              </a:ext>
            </a:extLst>
          </p:cNvPr>
          <p:cNvSpPr txBox="1"/>
          <p:nvPr/>
        </p:nvSpPr>
        <p:spPr>
          <a:xfrm>
            <a:off x="0" y="160954"/>
            <a:ext cx="98644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/>
              <a:t>1.2</a:t>
            </a:r>
            <a:r>
              <a:rPr lang="zh-CN" altLang="en-US" sz="2800" b="1" dirty="0"/>
              <a:t> </a:t>
            </a:r>
            <a:r>
              <a:rPr lang="en" altLang="zh-CN" sz="2800" b="1" dirty="0"/>
              <a:t>Model Demo </a:t>
            </a:r>
            <a:r>
              <a:rPr lang="en-US" altLang="zh-CN" sz="2800" b="1" dirty="0"/>
              <a:t>results</a:t>
            </a:r>
            <a:r>
              <a:rPr lang="zh-CN" altLang="en-US" sz="2800" b="1" dirty="0"/>
              <a:t> </a:t>
            </a:r>
            <a:r>
              <a:rPr lang="en-US" altLang="zh-CN" sz="2800" b="1" dirty="0"/>
              <a:t>(</a:t>
            </a:r>
            <a:r>
              <a:rPr lang="en" altLang="zh-CN" sz="2800" b="1" dirty="0"/>
              <a:t>Official Net1.inp</a:t>
            </a:r>
            <a:r>
              <a:rPr lang="zh-CN" altLang="en-US" sz="2800" b="1" dirty="0"/>
              <a:t> </a:t>
            </a:r>
            <a:r>
              <a:rPr lang="en-US" altLang="zh-CN" sz="2800" b="1" dirty="0"/>
              <a:t>(original))</a:t>
            </a:r>
            <a:endParaRPr lang="en" altLang="zh-CN" sz="2800" b="1" dirty="0"/>
          </a:p>
        </p:txBody>
      </p:sp>
      <p:pic>
        <p:nvPicPr>
          <p:cNvPr id="10" name="图片 9" descr="图示&#10;&#10;AI 生成的内容可能不正确。">
            <a:extLst>
              <a:ext uri="{FF2B5EF4-FFF2-40B4-BE49-F238E27FC236}">
                <a16:creationId xmlns:a16="http://schemas.microsoft.com/office/drawing/2014/main" id="{EE87FDF4-2384-BEE2-D7EB-D74764831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917" y="1136650"/>
            <a:ext cx="4826000" cy="458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044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43263-358C-4E6B-F3E9-EFA4E8BE0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图表, 折线图&#10;&#10;AI 生成的内容可能不正确。">
            <a:extLst>
              <a:ext uri="{FF2B5EF4-FFF2-40B4-BE49-F238E27FC236}">
                <a16:creationId xmlns:a16="http://schemas.microsoft.com/office/drawing/2014/main" id="{3D2B2683-D811-D545-8B63-66287285D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" y="684174"/>
            <a:ext cx="7315200" cy="3657600"/>
          </a:xfrm>
          <a:prstGeom prst="rect">
            <a:avLst/>
          </a:prstGeom>
        </p:spPr>
      </p:pic>
      <p:sp>
        <p:nvSpPr>
          <p:cNvPr id="8" name="文本框 5">
            <a:extLst>
              <a:ext uri="{FF2B5EF4-FFF2-40B4-BE49-F238E27FC236}">
                <a16:creationId xmlns:a16="http://schemas.microsoft.com/office/drawing/2014/main" id="{0137B822-5FEC-AA45-809F-35F543BBBB25}"/>
              </a:ext>
            </a:extLst>
          </p:cNvPr>
          <p:cNvSpPr txBox="1"/>
          <p:nvPr/>
        </p:nvSpPr>
        <p:spPr>
          <a:xfrm>
            <a:off x="0" y="160954"/>
            <a:ext cx="98644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800" b="1" dirty="0"/>
              <a:t>1.2</a:t>
            </a:r>
            <a:r>
              <a:rPr lang="zh-CN" altLang="en-US" sz="2800" b="1" dirty="0"/>
              <a:t> </a:t>
            </a:r>
            <a:r>
              <a:rPr lang="en" altLang="zh-CN" sz="2800" b="1" dirty="0"/>
              <a:t>Model Demo </a:t>
            </a:r>
            <a:r>
              <a:rPr lang="en-US" altLang="zh-CN" sz="2800" b="1" dirty="0"/>
              <a:t>results</a:t>
            </a:r>
            <a:r>
              <a:rPr lang="zh-CN" altLang="en-US" sz="2800" b="1" dirty="0"/>
              <a:t> </a:t>
            </a:r>
            <a:r>
              <a:rPr lang="en-US" altLang="zh-CN" sz="2800" b="1" dirty="0"/>
              <a:t>(</a:t>
            </a:r>
            <a:r>
              <a:rPr lang="en" altLang="zh-CN" sz="2800" b="1" dirty="0"/>
              <a:t>Official Net1.inp</a:t>
            </a:r>
            <a:r>
              <a:rPr lang="zh-CN" altLang="en-US" sz="2800" b="1" dirty="0"/>
              <a:t> </a:t>
            </a:r>
            <a:r>
              <a:rPr lang="en-US" altLang="zh-CN" sz="2800" b="1" dirty="0"/>
              <a:t>(original))</a:t>
            </a:r>
            <a:endParaRPr lang="en" altLang="zh-CN" sz="2800" b="1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4C3F98A-E260-E680-0A5B-40DE92CA91CE}"/>
              </a:ext>
            </a:extLst>
          </p:cNvPr>
          <p:cNvSpPr txBox="1"/>
          <p:nvPr/>
        </p:nvSpPr>
        <p:spPr>
          <a:xfrm>
            <a:off x="614997" y="4234833"/>
            <a:ext cx="6789103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" altLang="zh-CN" b="0" i="0" dirty="0">
                <a:effectLst/>
                <a:latin typeface="-apple-system"/>
              </a:rPr>
              <a:t>From 1 h, node 11 is already 0.44 mg/L — junctions start at 0.5 + source at 1.0 mg/L</a:t>
            </a:r>
          </a:p>
          <a:p>
            <a:pPr marL="285750" indent="-28575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" altLang="zh-CN" b="0" i="0" dirty="0">
                <a:effectLst/>
                <a:latin typeface="-apple-system"/>
              </a:rPr>
              <a:t>During pump OFF (13–22 h), concentrations gradually decline (bulk + wall decay</a:t>
            </a:r>
            <a:r>
              <a:rPr lang="en-US" altLang="zh-CN" dirty="0">
                <a:latin typeface="-apple-system"/>
              </a:rPr>
              <a:t>)</a:t>
            </a:r>
            <a:endParaRPr lang="en" altLang="zh-CN" b="0" i="0" dirty="0">
              <a:effectLst/>
              <a:latin typeface="-apple-system"/>
            </a:endParaRPr>
          </a:p>
          <a:p>
            <a:pPr marL="285750" indent="-28575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" altLang="zh-CN" b="0" i="0" dirty="0">
                <a:effectLst/>
                <a:latin typeface="-apple-system"/>
              </a:rPr>
              <a:t>After 23 h pump ON, node 10 returns to 1.0 mg/L</a:t>
            </a:r>
            <a:r>
              <a:rPr lang="zh-CN" altLang="en-US" b="0" i="0" dirty="0">
                <a:effectLst/>
                <a:latin typeface="-apple-system"/>
              </a:rPr>
              <a:t> </a:t>
            </a:r>
            <a:r>
              <a:rPr lang="en" altLang="zh-CN" b="0" i="0" dirty="0">
                <a:effectLst/>
                <a:latin typeface="-apple-system"/>
              </a:rPr>
              <a:t>and downstream nodes recover. </a:t>
            </a:r>
          </a:p>
          <a:p>
            <a:pPr marL="285750" indent="-28575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" altLang="zh-CN" b="0" i="0" dirty="0">
                <a:effectLst/>
                <a:latin typeface="-apple-system"/>
              </a:rPr>
              <a:t>Terminal nodes 31/32 have the lowest means and occasionally hit the 0.2 mg/L threshold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4D33063-EA34-6DA7-FF9E-DC0317E1D23E}"/>
              </a:ext>
            </a:extLst>
          </p:cNvPr>
          <p:cNvSpPr txBox="1"/>
          <p:nvPr/>
        </p:nvSpPr>
        <p:spPr>
          <a:xfrm>
            <a:off x="7720425" y="5134003"/>
            <a:ext cx="4378952" cy="1251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" altLang="zh-CN" b="0" i="0" dirty="0">
                <a:effectLst/>
                <a:latin typeface="-apple-system"/>
              </a:rPr>
              <a:t>Network-wide gradient: high near pump, low at far end (node 32 ≈ 0.15 mg/L). </a:t>
            </a:r>
          </a:p>
          <a:p>
            <a:pPr marL="285750" indent="-285750" algn="l">
              <a:spcBef>
                <a:spcPts val="150"/>
              </a:spcBef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en" altLang="zh-CN" b="0" i="0" dirty="0">
                <a:effectLst/>
                <a:latin typeface="-apple-system"/>
              </a:rPr>
              <a:t>Smooth </a:t>
            </a:r>
            <a:r>
              <a:rPr lang="en" altLang="zh-CN" b="0" i="0" dirty="0" err="1">
                <a:effectLst/>
                <a:latin typeface="-apple-system"/>
              </a:rPr>
              <a:t>colour</a:t>
            </a:r>
            <a:r>
              <a:rPr lang="en" altLang="zh-CN" b="0" i="0" dirty="0">
                <a:effectLst/>
                <a:latin typeface="-apple-system"/>
              </a:rPr>
              <a:t> transition consistent with bulk + wall decay and demand dilution.</a:t>
            </a:r>
          </a:p>
        </p:txBody>
      </p:sp>
      <p:pic>
        <p:nvPicPr>
          <p:cNvPr id="15" name="图片 14" descr="图示&#10;&#10;AI 生成的内容可能不正确。">
            <a:extLst>
              <a:ext uri="{FF2B5EF4-FFF2-40B4-BE49-F238E27FC236}">
                <a16:creationId xmlns:a16="http://schemas.microsoft.com/office/drawing/2014/main" id="{0C391867-43F4-DFF0-A670-2F586F139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0197" y="684174"/>
            <a:ext cx="3959408" cy="392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210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B2B63-42DE-598D-318E-44A32100A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DCF631D9-FD51-F006-D8B4-721EC6791C4E}"/>
              </a:ext>
            </a:extLst>
          </p:cNvPr>
          <p:cNvSpPr txBox="1"/>
          <p:nvPr/>
        </p:nvSpPr>
        <p:spPr>
          <a:xfrm>
            <a:off x="277089" y="291496"/>
            <a:ext cx="85482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sz="2800" b="1"/>
              <a:t>1.3 Literature &amp; Background </a:t>
            </a:r>
            <a:endParaRPr lang="en" altLang="zh-CN" sz="2800" b="1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E5AC987-C580-A925-AB30-8A723A4209E4}"/>
              </a:ext>
            </a:extLst>
          </p:cNvPr>
          <p:cNvSpPr txBox="1"/>
          <p:nvPr/>
        </p:nvSpPr>
        <p:spPr>
          <a:xfrm>
            <a:off x="3435927" y="332509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49D010E-4470-5173-FA0C-0F6585C74E25}"/>
              </a:ext>
            </a:extLst>
          </p:cNvPr>
          <p:cNvSpPr txBox="1"/>
          <p:nvPr/>
        </p:nvSpPr>
        <p:spPr>
          <a:xfrm>
            <a:off x="572658" y="1616931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" altLang="zh-CN" sz="2400" dirty="0"/>
              <a:t>Decay mechanisms</a:t>
            </a:r>
          </a:p>
          <a:p>
            <a:endParaRPr lang="en" altLang="zh-C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altLang="zh-CN" sz="2400" dirty="0"/>
              <a:t>Calibration</a:t>
            </a:r>
          </a:p>
          <a:p>
            <a:endParaRPr lang="en" altLang="zh-C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altLang="zh-CN" sz="2400" dirty="0"/>
              <a:t>Measurement</a:t>
            </a:r>
          </a:p>
          <a:p>
            <a:endParaRPr lang="en" altLang="zh-C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altLang="zh-CN" sz="2400" dirty="0"/>
              <a:t>Uncertainty</a:t>
            </a:r>
          </a:p>
          <a:p>
            <a:endParaRPr lang="en" altLang="zh-C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" altLang="zh-CN" sz="2400" dirty="0"/>
              <a:t>Regulation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528680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AE76E-582F-B819-FE38-0BBEBDA2C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F97636BD-4255-EAF3-6289-591E81E78812}"/>
              </a:ext>
            </a:extLst>
          </p:cNvPr>
          <p:cNvSpPr txBox="1"/>
          <p:nvPr/>
        </p:nvSpPr>
        <p:spPr>
          <a:xfrm>
            <a:off x="277089" y="291496"/>
            <a:ext cx="85482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/>
              <a:t>2</a:t>
            </a:r>
            <a:r>
              <a:rPr lang="zh-CN" altLang="en-US" sz="2800" b="1" dirty="0"/>
              <a:t> </a:t>
            </a:r>
            <a:r>
              <a:rPr lang="en-US" altLang="zh-CN" sz="2800" b="1" dirty="0"/>
              <a:t>Questions/problems</a:t>
            </a:r>
            <a:endParaRPr lang="en" altLang="zh-CN" sz="2800" b="1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4015CF5-018D-1CB6-CE7C-A6F297F5BFAF}"/>
              </a:ext>
            </a:extLst>
          </p:cNvPr>
          <p:cNvSpPr txBox="1"/>
          <p:nvPr/>
        </p:nvSpPr>
        <p:spPr>
          <a:xfrm>
            <a:off x="581891" y="149410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" altLang="zh-CN" sz="1800" dirty="0">
                <a:solidFill>
                  <a:srgbClr val="FF0000"/>
                </a:solidFill>
              </a:rPr>
              <a:t>WNTR </a:t>
            </a:r>
            <a:r>
              <a:rPr lang="en" altLang="zh-CN" sz="1800" dirty="0" err="1">
                <a:solidFill>
                  <a:srgbClr val="FF0000"/>
                </a:solidFill>
              </a:rPr>
              <a:t>initial_quality</a:t>
            </a:r>
            <a:r>
              <a:rPr lang="en" altLang="zh-CN" sz="1800" dirty="0">
                <a:solidFill>
                  <a:srgbClr val="FF0000"/>
                </a:solidFill>
              </a:rPr>
              <a:t> units (kg/m³ → mg/L for display</a:t>
            </a:r>
            <a:r>
              <a:rPr lang="zh-CN" altLang="en-US" sz="1800" dirty="0">
                <a:solidFill>
                  <a:srgbClr val="FF0000"/>
                </a:solidFill>
              </a:rPr>
              <a:t> </a:t>
            </a:r>
            <a:r>
              <a:rPr lang="en-US" altLang="zh-CN" sz="1800" dirty="0">
                <a:solidFill>
                  <a:srgbClr val="FF0000"/>
                </a:solidFill>
              </a:rPr>
              <a:t>?</a:t>
            </a:r>
            <a:r>
              <a:rPr lang="en-US" altLang="zh-CN" dirty="0">
                <a:solidFill>
                  <a:srgbClr val="FF0000"/>
                </a:solidFill>
              </a:rPr>
              <a:t>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endParaRPr lang="en" altLang="zh-CN" sz="1800" dirty="0">
              <a:solidFill>
                <a:srgbClr val="FF0000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8C77E65-C777-76CF-C5AE-3A50C359A8B3}"/>
              </a:ext>
            </a:extLst>
          </p:cNvPr>
          <p:cNvSpPr txBox="1"/>
          <p:nvPr/>
        </p:nvSpPr>
        <p:spPr>
          <a:xfrm>
            <a:off x="581891" y="2681279"/>
            <a:ext cx="11374582" cy="3524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b="0" dirty="0">
                <a:solidFill>
                  <a:srgbClr val="FF0000"/>
                </a:solidFill>
                <a:effectLst/>
                <a:latin typeface="+mn-ea"/>
              </a:rPr>
              <a:t>2.</a:t>
            </a:r>
            <a:r>
              <a:rPr lang="zh-CN" altLang="en-US" b="0" dirty="0">
                <a:solidFill>
                  <a:srgbClr val="FF0000"/>
                </a:solidFill>
                <a:effectLst/>
                <a:latin typeface="+mn-ea"/>
              </a:rPr>
              <a:t> </a:t>
            </a:r>
            <a:r>
              <a:rPr lang="en" altLang="zh-CN" b="0" dirty="0">
                <a:solidFill>
                  <a:srgbClr val="FF0000"/>
                </a:solidFill>
                <a:effectLst/>
                <a:latin typeface="+mn-ea"/>
              </a:rPr>
              <a:t>For uncertainty-aware chlorine calibration, we have both </a:t>
            </a:r>
            <a:r>
              <a:rPr lang="en" altLang="zh-CN" b="1" dirty="0">
                <a:solidFill>
                  <a:srgbClr val="FF0000"/>
                </a:solidFill>
                <a:effectLst/>
                <a:latin typeface="+mn-ea"/>
              </a:rPr>
              <a:t>sensor error</a:t>
            </a:r>
            <a:r>
              <a:rPr lang="en" altLang="zh-CN" b="0" dirty="0">
                <a:solidFill>
                  <a:srgbClr val="FF0000"/>
                </a:solidFill>
                <a:effectLst/>
                <a:latin typeface="+mn-ea"/>
              </a:rPr>
              <a:t> and unknown </a:t>
            </a:r>
            <a:r>
              <a:rPr lang="en" altLang="zh-CN" b="1" dirty="0">
                <a:solidFill>
                  <a:srgbClr val="FF0000"/>
                </a:solidFill>
                <a:effectLst/>
                <a:latin typeface="+mn-ea"/>
              </a:rPr>
              <a:t>bulk/wall coefficients</a:t>
            </a:r>
            <a:r>
              <a:rPr lang="en" altLang="zh-CN" b="0" dirty="0">
                <a:solidFill>
                  <a:srgbClr val="FF0000"/>
                </a:solidFill>
                <a:effectLst/>
                <a:latin typeface="+mn-ea"/>
              </a:rPr>
              <a:t>. </a:t>
            </a:r>
          </a:p>
          <a:p>
            <a:pPr algn="l">
              <a:spcBef>
                <a:spcPts val="450"/>
              </a:spcBef>
              <a:spcAft>
                <a:spcPts val="450"/>
              </a:spcAft>
            </a:pPr>
            <a:endParaRPr lang="en" altLang="zh-CN" b="0" dirty="0">
              <a:effectLst/>
              <a:latin typeface="+mn-ea"/>
            </a:endParaRPr>
          </a:p>
          <a:p>
            <a:pPr algn="l">
              <a:spcBef>
                <a:spcPts val="450"/>
              </a:spcBef>
              <a:spcAft>
                <a:spcPts val="450"/>
              </a:spcAft>
            </a:pPr>
            <a:r>
              <a:rPr lang="en-US" altLang="zh-CN" b="0" dirty="0">
                <a:effectLst/>
                <a:latin typeface="+mn-ea"/>
              </a:rPr>
              <a:t>-</a:t>
            </a:r>
            <a:r>
              <a:rPr lang="en" altLang="zh-CN" b="0" dirty="0">
                <a:effectLst/>
                <a:latin typeface="+mn-ea"/>
              </a:rPr>
              <a:t>Include an observation error model from the </a:t>
            </a:r>
            <a:r>
              <a:rPr lang="en-US" altLang="zh-CN" b="0" dirty="0">
                <a:effectLst/>
                <a:latin typeface="+mn-ea"/>
              </a:rPr>
              <a:t>start?</a:t>
            </a:r>
            <a:endParaRPr lang="en" altLang="zh-CN" b="0" dirty="0">
              <a:effectLst/>
              <a:latin typeface="+mn-ea"/>
            </a:endParaRPr>
          </a:p>
          <a:p>
            <a:pPr algn="l">
              <a:spcBef>
                <a:spcPts val="450"/>
              </a:spcBef>
              <a:spcAft>
                <a:spcPts val="450"/>
              </a:spcAft>
            </a:pPr>
            <a:r>
              <a:rPr lang="en-US" altLang="zh-CN" b="0" dirty="0">
                <a:effectLst/>
                <a:latin typeface="+mn-ea"/>
              </a:rPr>
              <a:t>-</a:t>
            </a:r>
            <a:r>
              <a:rPr lang="en" altLang="zh-CN" b="0" dirty="0">
                <a:effectLst/>
                <a:latin typeface="+mn-ea"/>
              </a:rPr>
              <a:t>Do deterministic calibration first (treat observations as truth), then add sensor uncertainty later</a:t>
            </a:r>
            <a:r>
              <a:rPr lang="en-US" altLang="zh-CN" dirty="0">
                <a:latin typeface="+mn-ea"/>
              </a:rPr>
              <a:t>?</a:t>
            </a:r>
            <a:endParaRPr lang="en" altLang="zh-CN" b="0" dirty="0">
              <a:effectLst/>
              <a:latin typeface="+mn-ea"/>
            </a:endParaRPr>
          </a:p>
          <a:p>
            <a:pPr algn="l"/>
            <a:endParaRPr lang="en" altLang="zh-CN" b="0" dirty="0">
              <a:effectLst/>
              <a:latin typeface="+mn-ea"/>
            </a:endParaRPr>
          </a:p>
          <a:p>
            <a:pPr algn="l"/>
            <a:r>
              <a:rPr lang="en" altLang="zh-CN" b="0" dirty="0">
                <a:effectLst/>
                <a:latin typeface="+mn-ea"/>
              </a:rPr>
              <a:t>My concern: if sensor data are biased or noisy, and we calibrate bulk/wall against them without modelling sensor error, the fitted decay parameters may </a:t>
            </a:r>
            <a:r>
              <a:rPr lang="en" altLang="zh-CN" b="1" dirty="0">
                <a:effectLst/>
                <a:latin typeface="+mn-ea"/>
              </a:rPr>
              <a:t>absorb measurement error</a:t>
            </a:r>
            <a:r>
              <a:rPr lang="en" altLang="zh-CN" b="0" dirty="0">
                <a:effectLst/>
                <a:latin typeface="+mn-ea"/>
              </a:rPr>
              <a:t>. </a:t>
            </a:r>
          </a:p>
          <a:p>
            <a:pPr algn="l"/>
            <a:endParaRPr lang="en" altLang="zh-CN" b="0" dirty="0">
              <a:effectLst/>
              <a:latin typeface="+mn-ea"/>
            </a:endParaRPr>
          </a:p>
          <a:p>
            <a:pPr algn="l"/>
            <a:endParaRPr lang="en" altLang="zh-CN" dirty="0">
              <a:solidFill>
                <a:srgbClr val="FF0000"/>
              </a:solidFill>
              <a:latin typeface="+mn-ea"/>
            </a:endParaRPr>
          </a:p>
          <a:p>
            <a:r>
              <a:rPr lang="en-US" altLang="zh-CN" dirty="0">
                <a:solidFill>
                  <a:srgbClr val="FF0000"/>
                </a:solidFill>
                <a:latin typeface="+mn-ea"/>
              </a:rPr>
              <a:t>3. Is the paper using 0.2 mg/L (WHO)</a:t>
            </a:r>
            <a:r>
              <a:rPr lang="zh-CN" altLang="en-US" dirty="0">
                <a:solidFill>
                  <a:srgbClr val="FF0000"/>
                </a:solidFill>
                <a:latin typeface="+mn-ea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+mn-ea"/>
              </a:rPr>
              <a:t>as the operational threshold?</a:t>
            </a:r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lang="en" altLang="zh-CN" sz="1800" dirty="0">
              <a:solidFill>
                <a:srgbClr val="FF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98059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496</Words>
  <Application>Microsoft Macintosh PowerPoint</Application>
  <PresentationFormat>宽屏</PresentationFormat>
  <Paragraphs>61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4" baseType="lpstr">
      <vt:lpstr>-apple-system</vt:lpstr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Peng, Ruixin</dc:creator>
  <cp:lastModifiedBy>Peng, Ruixin</cp:lastModifiedBy>
  <cp:revision>5</cp:revision>
  <dcterms:created xsi:type="dcterms:W3CDTF">2026-05-21T22:11:33Z</dcterms:created>
  <dcterms:modified xsi:type="dcterms:W3CDTF">2026-05-22T00:22:26Z</dcterms:modified>
</cp:coreProperties>
</file>