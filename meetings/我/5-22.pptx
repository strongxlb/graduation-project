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0"/>
    <p:restoredTop sz="94689"/>
  </p:normalViewPr>
  <p:slideViewPr>
    <p:cSldViewPr snapToGrid="0">
      <p:cViewPr>
        <p:scale>
          <a:sx n="93" d="100"/>
          <a:sy n="93" d="100"/>
        </p:scale>
        <p:origin x="6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7050" y="1416685"/>
            <a:ext cx="9144000" cy="1856105"/>
          </a:xfrm>
        </p:spPr>
        <p:txBody>
          <a:bodyPr>
            <a:normAutofit/>
          </a:bodyPr>
          <a:lstStyle/>
          <a:p>
            <a:r>
              <a:rPr lang="en-GB" altLang="zh-CN" sz="5400" b="1" dirty="0">
                <a:latin typeface="Times New Roman" panose="02020503050405090304" charset="0"/>
                <a:cs typeface="Times New Roman" panose="02020503050405090304" charset="0"/>
              </a:rPr>
              <a:t>Week 1 </a:t>
            </a:r>
            <a:endParaRPr lang="en-GB" altLang="zh-CN" sz="54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GB" altLang="zh-CN" sz="5400" b="1" dirty="0">
                <a:latin typeface="Times New Roman" panose="02020503050405090304" charset="0"/>
                <a:cs typeface="Times New Roman" panose="02020503050405090304" charset="0"/>
              </a:rPr>
              <a:t>Report</a:t>
            </a:r>
            <a:endParaRPr lang="en-GB" altLang="zh-CN" sz="54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副标题 2"/>
          <p:cNvSpPr txBox="1"/>
          <p:nvPr/>
        </p:nvSpPr>
        <p:spPr>
          <a:xfrm>
            <a:off x="9550400" y="5644222"/>
            <a:ext cx="2288200" cy="809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 err="1">
                <a:latin typeface="Times New Roman" panose="02020503050405090304" charset="0"/>
                <a:cs typeface="Times New Roman" panose="02020503050405090304" charset="0"/>
              </a:rPr>
              <a:t>Ruixin</a:t>
            </a:r>
            <a:r>
              <a:rPr lang="zh-CN" altLang="en-US" sz="18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1800" dirty="0">
                <a:latin typeface="Times New Roman" panose="02020503050405090304" charset="0"/>
                <a:cs typeface="Times New Roman" panose="02020503050405090304" charset="0"/>
              </a:rPr>
              <a:t>Peng</a:t>
            </a:r>
            <a:endParaRPr lang="en-US" altLang="zh-CN"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GB" altLang="zh-CN" sz="1800" dirty="0">
                <a:latin typeface="Times New Roman" panose="02020503050405090304" charset="0"/>
                <a:cs typeface="Times New Roman" panose="02020503050405090304" charset="0"/>
              </a:rPr>
              <a:t>May 22, 2026</a:t>
            </a:r>
            <a:endParaRPr lang="en-GB" altLang="zh-CN" sz="18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00268" y="573475"/>
            <a:ext cx="609985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1.1 Project Skeleton &amp; Toolchain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0268" y="2274838"/>
            <a:ext cx="11380896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Repo ready —</a:t>
            </a:r>
            <a:r>
              <a:rPr lang="zh-CN" altLang="en-US" sz="24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README + plan + Net1.inp + two demo.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Environment ready — Cursor + </a:t>
            </a:r>
            <a:r>
              <a:rPr lang="en-GB" altLang="zh-CN" sz="2400" dirty="0" err="1">
                <a:latin typeface="Times New Roman" panose="02020503050405090304" charset="0"/>
                <a:cs typeface="Times New Roman" panose="02020503050405090304" charset="0"/>
              </a:rPr>
              <a:t>Conda</a:t>
            </a: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 cive70058 (Python 3.11, WNTR 1.4, EPANET); 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Version control — Learned Git/GitHub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Thesis template ready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4289" y="522328"/>
            <a:ext cx="85482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1.2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Model Demo (baseline simulation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)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44416" y="1737822"/>
          <a:ext cx="10180784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0392"/>
                <a:gridCol w="5090392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Modified Net1</a:t>
                      </a:r>
                      <a:endParaRPr lang="en-GB" altLang="zh-CN" sz="2800" dirty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2800" b="1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Official Net1.inp</a:t>
                      </a:r>
                      <a:r>
                        <a:rPr lang="zh-CN" altLang="en-US" sz="2800" b="1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</a:t>
                      </a:r>
                      <a:r>
                        <a:rPr lang="en-US" altLang="zh-CN" sz="2800" b="1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(original)</a:t>
                      </a:r>
                      <a:endParaRPr lang="en-GB" altLang="zh-CN" sz="2800" dirty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w</a:t>
                      </a:r>
                      <a:r>
                        <a:rPr lang="en-GB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all off</a:t>
                      </a:r>
                      <a:endParaRPr lang="en-GB" altLang="zh-CN" sz="2800" dirty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bulk + wall on</a:t>
                      </a:r>
                      <a:endParaRPr lang="en-GB" altLang="zh-CN" sz="2800" dirty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j</a:t>
                      </a:r>
                      <a:r>
                        <a:rPr lang="en-GB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unction initial Cl = 0</a:t>
                      </a:r>
                      <a:endParaRPr lang="en-GB" altLang="zh-CN" sz="2800" dirty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junction initial Cl = 0</a:t>
                      </a:r>
                      <a:r>
                        <a:rPr lang="en-US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.5</a:t>
                      </a:r>
                      <a:r>
                        <a:rPr lang="zh-CN" altLang="en-US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</a:t>
                      </a:r>
                      <a:r>
                        <a:rPr lang="en-US" altLang="zh-CN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mg/L</a:t>
                      </a:r>
                      <a:r>
                        <a:rPr lang="zh-CN" altLang="en-US" sz="2800" dirty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2800" dirty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(</a:t>
                      </a:r>
                      <a:r>
                        <a:rPr lang="en-GB" altLang="zh-CN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WNTR </a:t>
                      </a:r>
                      <a:r>
                        <a:rPr lang="en-GB" altLang="zh-CN" sz="2000" dirty="0" err="1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initial_quality</a:t>
                      </a:r>
                      <a:r>
                        <a:rPr lang="en-GB" altLang="zh-CN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units (kg/m³ → mg/L for display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?</a:t>
                      </a:r>
                      <a:r>
                        <a:rPr lang="en-GB" altLang="zh-CN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)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)</a:t>
                      </a:r>
                      <a:endParaRPr lang="en-GB" altLang="zh-CN" sz="2000" dirty="0">
                        <a:solidFill>
                          <a:srgbClr val="FF0000"/>
                        </a:solidFill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0834" y="305351"/>
            <a:ext cx="85482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1.2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Model Demo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results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Modified Net1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)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1" name="图片 10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576" y="1579969"/>
            <a:ext cx="6981590" cy="34907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978240" y="5278031"/>
            <a:ext cx="6102926" cy="68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Around 13 h, node 10 drops ~10 m: pump OFF (tank &gt; 140 ft). 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23 h recovery: pump ON again. 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9" name="图片 18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76" y="1136650"/>
            <a:ext cx="4826000" cy="45847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85804" y="5579803"/>
            <a:ext cx="2445323" cy="68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2</a:t>
            </a:r>
            <a:r>
              <a:rPr lang="zh-CN" altLang="en-US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-</a:t>
            </a:r>
            <a:r>
              <a:rPr lang="zh-CN" altLang="en-US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tank</a:t>
            </a:r>
            <a:endParaRPr lang="en-US" altLang="zh-CN" b="0" i="0" dirty="0"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9</a:t>
            </a:r>
            <a:r>
              <a:rPr lang="zh-CN" altLang="en-US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-</a:t>
            </a:r>
            <a:r>
              <a:rPr lang="zh-CN" altLang="en-US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reservoir</a:t>
            </a:r>
            <a:endParaRPr lang="en-GB" altLang="zh-CN" b="0" i="0" dirty="0"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8571"/>
            <a:ext cx="7315200" cy="3657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834" y="305351"/>
            <a:ext cx="85482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1.2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Model Demo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results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Modified Net1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)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4408" y="4410785"/>
            <a:ext cx="7020791" cy="159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Chlorine time series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Node 10 (first junction after pump): 0 → 1 → 0 → 1 </a:t>
            </a:r>
            <a:endParaRPr lang="en-GB" altLang="zh-CN" dirty="0"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1 mg/L when pump ON; zero during OFF (13–22 h); reinjection at 23 h. 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Nodes 11/12/13/21 etc.: stay ≈ 0 for 24 h — chlorine has not advected downstream.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29996" y="5092628"/>
            <a:ext cx="4582393" cy="960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Spatial chlorine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Only node 10 is dark (1.0 mg/L); all other junctions near zero. 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2" name="图片 11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489" y="327328"/>
            <a:ext cx="47879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1917" y="1339001"/>
            <a:ext cx="6928428" cy="3464214"/>
          </a:xfrm>
          <a:prstGeom prst="rect">
            <a:avLst/>
          </a:prstGeom>
        </p:spPr>
      </p:pic>
      <p:sp>
        <p:nvSpPr>
          <p:cNvPr id="8" name="文本框 5"/>
          <p:cNvSpPr txBox="1"/>
          <p:nvPr/>
        </p:nvSpPr>
        <p:spPr>
          <a:xfrm>
            <a:off x="0" y="160954"/>
            <a:ext cx="986443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1.2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Model Demo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results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Official Net1.inp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(original))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0" name="图片 9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17" y="1136650"/>
            <a:ext cx="48260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684174"/>
            <a:ext cx="7315200" cy="3657600"/>
          </a:xfrm>
          <a:prstGeom prst="rect">
            <a:avLst/>
          </a:prstGeom>
        </p:spPr>
      </p:pic>
      <p:sp>
        <p:nvSpPr>
          <p:cNvPr id="8" name="文本框 5"/>
          <p:cNvSpPr txBox="1"/>
          <p:nvPr/>
        </p:nvSpPr>
        <p:spPr>
          <a:xfrm>
            <a:off x="0" y="160954"/>
            <a:ext cx="986443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1.2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Model Demo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results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en-GB" altLang="zh-CN" sz="2800" b="1" dirty="0">
                <a:latin typeface="Times New Roman" panose="02020503050405090304" charset="0"/>
                <a:cs typeface="Times New Roman" panose="02020503050405090304" charset="0"/>
              </a:rPr>
              <a:t>Official Net1.inp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(original))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997" y="4234833"/>
            <a:ext cx="6789103" cy="242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From 1 h, node 11 is already 0.44 mg/L — junctions start at 0.5 + source at 1.0 mg/L</a:t>
            </a:r>
            <a:endParaRPr lang="en-GB" altLang="zh-CN" b="0" i="0" dirty="0"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During pump OFF (13–22 h), concentrations gradually decline (bulk + wall decay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endParaRPr lang="en-GB" altLang="zh-CN" b="0" i="0" dirty="0"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After 23 h pump ON, node 10 returns to 1.0 mg/L</a:t>
            </a:r>
            <a:r>
              <a:rPr lang="zh-CN" altLang="en-US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GB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and downstream nodes recover. </a:t>
            </a:r>
            <a:endParaRPr lang="en-GB" altLang="zh-CN" b="0" i="0" dirty="0"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Terminal nodes 31/32 have the lowest means and occasionally hit the 0.2 mg/L threshold</a:t>
            </a:r>
            <a:endParaRPr lang="en-GB" altLang="zh-CN" b="0" i="0" dirty="0"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20425" y="5134003"/>
            <a:ext cx="4378952" cy="123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Network-wide gradient: high near pump, low at far end (node 32 ≈ 0.15 mg/L). 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90204" pitchFamily="34" charset="0"/>
              <a:buChar char="•"/>
            </a:pP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Smooth </a:t>
            </a:r>
            <a:r>
              <a:rPr lang="en-GB" altLang="zh-CN" b="0" i="0" dirty="0" err="1">
                <a:effectLst/>
                <a:latin typeface="Times New Roman" panose="02020503050405090304" charset="0"/>
                <a:cs typeface="Times New Roman" panose="02020503050405090304" charset="0"/>
              </a:rPr>
              <a:t>colour</a:t>
            </a:r>
            <a:r>
              <a:rPr lang="en-GB" altLang="zh-CN" b="0" i="0" dirty="0">
                <a:effectLst/>
                <a:latin typeface="Times New Roman" panose="02020503050405090304" charset="0"/>
                <a:cs typeface="Times New Roman" panose="02020503050405090304" charset="0"/>
              </a:rPr>
              <a:t> transition consistent with bulk + wall decay and demand dilution.</a:t>
            </a:r>
            <a:endParaRPr lang="en-GB" altLang="zh-CN" b="0" i="0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5" name="图片 14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97" y="684174"/>
            <a:ext cx="3959408" cy="39266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7089" y="291496"/>
            <a:ext cx="85482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>
                <a:latin typeface="Times New Roman" panose="02020503050405090304" charset="0"/>
                <a:cs typeface="Times New Roman" panose="02020503050405090304" charset="0"/>
              </a:rPr>
              <a:t>1.3 Literature &amp; Background 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927" y="33250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72658" y="1616931"/>
            <a:ext cx="609600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Decay mechanisms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Calibration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Measurement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Uncertainty</a:t>
            </a:r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sz="24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GB" altLang="zh-CN" sz="2400" dirty="0">
                <a:latin typeface="Times New Roman" panose="02020503050405090304" charset="0"/>
                <a:cs typeface="Times New Roman" panose="02020503050405090304" charset="0"/>
              </a:rPr>
              <a:t>Regulation</a:t>
            </a:r>
            <a:endParaRPr lang="zh-CN" altLang="en-US" sz="24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7089" y="291496"/>
            <a:ext cx="85482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2</a:t>
            </a:r>
            <a:r>
              <a:rPr lang="zh-CN" altLang="en-US" sz="28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Questions/problems</a:t>
            </a:r>
            <a:endParaRPr lang="en-GB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1660" y="1494155"/>
            <a:ext cx="75768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GB" altLang="zh-CN" sz="18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WNTR </a:t>
            </a:r>
            <a:r>
              <a:rPr lang="en-GB" altLang="zh-CN" sz="1800" dirty="0" err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initial_quality</a:t>
            </a:r>
            <a:r>
              <a:rPr lang="en-GB" altLang="zh-CN" sz="18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units (kg/m</a:t>
            </a:r>
            <a:r>
              <a:rPr lang="en-US" altLang="en-GB" sz="1800" baseline="300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3</a:t>
            </a:r>
            <a:r>
              <a:rPr lang="en-GB" altLang="zh-CN" sz="18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→ mg/L for display</a:t>
            </a:r>
            <a:r>
              <a:rPr lang="en-US" altLang="en-GB" sz="18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?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)</a:t>
            </a:r>
            <a:endParaRPr lang="en-US" altLang="zh-CN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sz="1800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891" y="2681279"/>
            <a:ext cx="11374582" cy="348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FF0000"/>
                </a:solidFill>
                <a:effectLst/>
                <a:latin typeface="Times New Roman" panose="02020503050405090304" charset="0"/>
                <a:cs typeface="Times New Roman" panose="02020503050405090304" charset="0"/>
              </a:rPr>
              <a:t>2.</a:t>
            </a:r>
            <a:r>
              <a:rPr lang="zh-CN" altLang="en-US" dirty="0">
                <a:solidFill>
                  <a:srgbClr val="FF0000"/>
                </a:solidFill>
                <a:effectLst/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GB" altLang="zh-CN" dirty="0">
                <a:solidFill>
                  <a:srgbClr val="FF0000"/>
                </a:solidFill>
                <a:effectLst/>
                <a:latin typeface="Times New Roman" panose="02020503050405090304" charset="0"/>
                <a:cs typeface="Times New Roman" panose="02020503050405090304" charset="0"/>
              </a:rPr>
              <a:t>For uncertainty-aware chlorine calibration, we have both sensor error and unknown bulk/wall coefficients. </a:t>
            </a:r>
            <a:endParaRPr lang="en-GB" altLang="zh-CN" dirty="0">
              <a:solidFill>
                <a:srgbClr val="FF0000"/>
              </a:solidFill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</a:pPr>
            <a:endParaRPr lang="en-GB" altLang="zh-CN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</a:pPr>
            <a:r>
              <a:rPr lang="en-US" altLang="zh-CN" dirty="0">
                <a:effectLst/>
                <a:latin typeface="Times New Roman" panose="02020503050405090304" charset="0"/>
                <a:cs typeface="Times New Roman" panose="02020503050405090304" charset="0"/>
              </a:rPr>
              <a:t>-</a:t>
            </a:r>
            <a:r>
              <a:rPr lang="en-GB" altLang="zh-CN" dirty="0">
                <a:effectLst/>
                <a:latin typeface="Times New Roman" panose="02020503050405090304" charset="0"/>
                <a:cs typeface="Times New Roman" panose="02020503050405090304" charset="0"/>
              </a:rPr>
              <a:t>Include an observation error model from the </a:t>
            </a:r>
            <a:r>
              <a:rPr lang="en-US" altLang="zh-CN" dirty="0">
                <a:effectLst/>
                <a:latin typeface="Times New Roman" panose="02020503050405090304" charset="0"/>
                <a:cs typeface="Times New Roman" panose="02020503050405090304" charset="0"/>
              </a:rPr>
              <a:t>start?</a:t>
            </a:r>
            <a:endParaRPr lang="en-GB" altLang="zh-CN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</a:pPr>
            <a:r>
              <a:rPr lang="en-US" altLang="zh-CN" dirty="0">
                <a:effectLst/>
                <a:latin typeface="Times New Roman" panose="02020503050405090304" charset="0"/>
                <a:cs typeface="Times New Roman" panose="02020503050405090304" charset="0"/>
              </a:rPr>
              <a:t>-</a:t>
            </a:r>
            <a:r>
              <a:rPr lang="en-GB" altLang="zh-CN" dirty="0">
                <a:effectLst/>
                <a:latin typeface="Times New Roman" panose="02020503050405090304" charset="0"/>
                <a:cs typeface="Times New Roman" panose="02020503050405090304" charset="0"/>
              </a:rPr>
              <a:t>Do deterministic calibration first (treat observations as truth), then add sensor uncertainty later</a:t>
            </a:r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?</a:t>
            </a:r>
            <a:endParaRPr lang="en-GB" altLang="zh-CN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/>
            <a:endParaRPr lang="en-GB" altLang="zh-CN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/>
            <a:r>
              <a:rPr lang="en-GB" altLang="zh-CN" dirty="0">
                <a:effectLst/>
                <a:latin typeface="Times New Roman" panose="02020503050405090304" charset="0"/>
                <a:cs typeface="Times New Roman" panose="02020503050405090304" charset="0"/>
              </a:rPr>
              <a:t>My concern: if sensor data are biased or noisy, and we calibrate bulk/wall against them without modelling sensor error, the fitted decay parameters may absorb measurement error. </a:t>
            </a:r>
            <a:endParaRPr lang="en-GB" altLang="zh-CN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/>
            <a:endParaRPr lang="en-GB" altLang="zh-CN" dirty="0">
              <a:effectLst/>
              <a:latin typeface="Times New Roman" panose="02020503050405090304" charset="0"/>
              <a:cs typeface="Times New Roman" panose="02020503050405090304" charset="0"/>
            </a:endParaRPr>
          </a:p>
          <a:p>
            <a:pPr algn="l"/>
            <a:endParaRPr lang="en-GB" altLang="zh-CN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3. Is the paper using 0.2 mg/L (WHO)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as the operational threshold?</a:t>
            </a:r>
            <a:endParaRPr lang="en-US" altLang="zh-CN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GB" altLang="zh-CN" sz="1800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2205</Words>
  <Application>WPS 表格</Application>
  <PresentationFormat>宽屏</PresentationFormat>
  <Paragraphs>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宋体</vt:lpstr>
      <vt:lpstr>Wingdings</vt:lpstr>
      <vt:lpstr>-apple-system</vt:lpstr>
      <vt:lpstr>Thonburi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-apple-system</vt:lpstr>
      <vt:lpstr>苹方-简</vt:lpstr>
      <vt:lpstr>Times New Roman</vt:lpstr>
      <vt:lpstr>Times New Roman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Peng, Ruixin</dc:creator>
  <cp:lastModifiedBy>彭睿欣</cp:lastModifiedBy>
  <cp:revision>8</cp:revision>
  <dcterms:created xsi:type="dcterms:W3CDTF">2026-05-22T10:26:47Z</dcterms:created>
  <dcterms:modified xsi:type="dcterms:W3CDTF">2026-05-22T10:26:47Z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07D828CAD7D99788FE29106A3E52470A_42</vt:lpwstr>
  </property>
  <property fmtid="{D5CDD505-2E9C-101B-9397-08002B2CF9AE}" pid="3" name="KSOProductBuildVer">
    <vt:lpwstr>2052-12.1.25869.25869</vt:lpwstr>
  </property>
</Properties>
</file>