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56" r:id="rId3"/>
    <p:sldId id="257" r:id="rId4"/>
    <p:sldId id="260" r:id="rId5"/>
    <p:sldId id="259" r:id="rId6"/>
    <p:sldId id="258" r:id="rId7"/>
    <p:sldId id="262" r:id="rId8"/>
    <p:sldId id="263" r:id="rId9"/>
    <p:sldId id="266" r:id="rId10"/>
    <p:sldId id="267" r:id="rId11"/>
    <p:sldId id="268" r:id="rId12"/>
    <p:sldId id="261" r:id="rId13"/>
    <p:sldId id="269" r:id="rId14"/>
    <p:sldId id="270" r:id="rId15"/>
    <p:sldId id="271" r:id="rId16"/>
    <p:sldId id="272" r:id="rId17"/>
    <p:sldId id="273" r:id="rId18"/>
    <p:sldId id="274"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6.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8.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9.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0.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71.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output"/>
          <p:cNvPicPr>
            <a:picLocks noChangeAspect="1"/>
          </p:cNvPicPr>
          <p:nvPr/>
        </p:nvPicPr>
        <p:blipFill>
          <a:blip r:embed="rId1"/>
          <a:stretch>
            <a:fillRect/>
          </a:stretch>
        </p:blipFill>
        <p:spPr>
          <a:xfrm>
            <a:off x="440055" y="319405"/>
            <a:ext cx="5479415" cy="4966970"/>
          </a:xfrm>
          <a:prstGeom prst="rect">
            <a:avLst/>
          </a:prstGeom>
        </p:spPr>
      </p:pic>
      <p:pic>
        <p:nvPicPr>
          <p:cNvPr id="6" name="图片 5"/>
          <p:cNvPicPr>
            <a:picLocks noChangeAspect="1"/>
          </p:cNvPicPr>
          <p:nvPr/>
        </p:nvPicPr>
        <p:blipFill>
          <a:blip r:embed="rId2"/>
          <a:stretch>
            <a:fillRect/>
          </a:stretch>
        </p:blipFill>
        <p:spPr>
          <a:xfrm>
            <a:off x="6365875" y="575945"/>
            <a:ext cx="5443220" cy="4453890"/>
          </a:xfrm>
          <a:prstGeom prst="rect">
            <a:avLst/>
          </a:prstGeom>
        </p:spPr>
      </p:pic>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5291455" cy="3848735"/>
          </a:xfrm>
          <a:prstGeom prst="rect">
            <a:avLst/>
          </a:prstGeom>
        </p:spPr>
      </p:pic>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34315" y="0"/>
            <a:ext cx="5368290" cy="3758565"/>
          </a:xfrm>
          <a:prstGeom prst="rect">
            <a:avLst/>
          </a:prstGeom>
        </p:spPr>
      </p:pic>
      <p:pic>
        <p:nvPicPr>
          <p:cNvPr id="5" name="图片 4"/>
          <p:cNvPicPr>
            <a:picLocks noChangeAspect="1"/>
          </p:cNvPicPr>
          <p:nvPr/>
        </p:nvPicPr>
        <p:blipFill>
          <a:blip r:embed="rId2"/>
          <a:stretch>
            <a:fillRect/>
          </a:stretch>
        </p:blipFill>
        <p:spPr>
          <a:xfrm>
            <a:off x="6051550" y="0"/>
            <a:ext cx="5050790" cy="3520440"/>
          </a:xfrm>
          <a:prstGeom prst="rect">
            <a:avLst/>
          </a:prstGeom>
        </p:spPr>
      </p:pic>
      <p:pic>
        <p:nvPicPr>
          <p:cNvPr id="6" name="图片 5"/>
          <p:cNvPicPr>
            <a:picLocks noChangeAspect="1"/>
          </p:cNvPicPr>
          <p:nvPr/>
        </p:nvPicPr>
        <p:blipFill>
          <a:blip r:embed="rId3"/>
          <a:stretch>
            <a:fillRect/>
          </a:stretch>
        </p:blipFill>
        <p:spPr>
          <a:xfrm>
            <a:off x="422275" y="3675380"/>
            <a:ext cx="4561840" cy="3182620"/>
          </a:xfrm>
          <a:prstGeom prst="rect">
            <a:avLst/>
          </a:prstGeom>
        </p:spPr>
      </p:pic>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600" y="260985"/>
            <a:ext cx="9237980" cy="645160"/>
          </a:xfrm>
          <a:prstGeom prst="rect">
            <a:avLst/>
          </a:prstGeom>
          <a:noFill/>
        </p:spPr>
        <p:txBody>
          <a:bodyPr wrap="square" rtlCol="0" anchor="t">
            <a:spAutoFit/>
          </a:bodyPr>
          <a:p>
            <a:r>
              <a:rPr lang="en-US" altLang="zh-CN"/>
              <a:t>kb_per_day=-0.3, kw_per_day=0.0,</a:t>
            </a:r>
            <a:endParaRPr lang="en-US" altLang="zh-CN"/>
          </a:p>
          <a:p>
            <a:r>
              <a:rPr lang="en-US" altLang="zh-CN"/>
              <a:t>bulk_order=0, wall_order=0, duration_hours=72</a:t>
            </a:r>
            <a:endParaRPr lang="zh-CN" altLang="en-US"/>
          </a:p>
        </p:txBody>
      </p:sp>
      <p:sp>
        <p:nvSpPr>
          <p:cNvPr id="5" name="文本框 4"/>
          <p:cNvSpPr txBox="1"/>
          <p:nvPr/>
        </p:nvSpPr>
        <p:spPr>
          <a:xfrm>
            <a:off x="101600" y="1142365"/>
            <a:ext cx="6096000" cy="645160"/>
          </a:xfrm>
          <a:prstGeom prst="rect">
            <a:avLst/>
          </a:prstGeom>
          <a:noFill/>
        </p:spPr>
        <p:txBody>
          <a:bodyPr wrap="square" rtlCol="0" anchor="t">
            <a:spAutoFit/>
          </a:bodyPr>
          <a:p>
            <a:r>
              <a:rPr lang="en-US" altLang="zh-CN"/>
              <a:t>Water age = average residence time of the mixed water body at the current node</a:t>
            </a:r>
            <a:endParaRPr lang="zh-CN" altLang="en-US"/>
          </a:p>
        </p:txBody>
      </p:sp>
      <p:pic>
        <p:nvPicPr>
          <p:cNvPr id="7" name="图片 6"/>
          <p:cNvPicPr>
            <a:picLocks noChangeAspect="1"/>
          </p:cNvPicPr>
          <p:nvPr/>
        </p:nvPicPr>
        <p:blipFill>
          <a:blip r:embed="rId1"/>
          <a:stretch>
            <a:fillRect/>
          </a:stretch>
        </p:blipFill>
        <p:spPr>
          <a:xfrm>
            <a:off x="4923155" y="1787525"/>
            <a:ext cx="6572250" cy="4667250"/>
          </a:xfrm>
          <a:prstGeom prst="rect">
            <a:avLst/>
          </a:prstGeom>
        </p:spPr>
      </p:pic>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802630" y="553720"/>
            <a:ext cx="5921375" cy="3263900"/>
          </a:xfrm>
          <a:prstGeom prst="rect">
            <a:avLst/>
          </a:prstGeom>
        </p:spPr>
      </p:pic>
      <p:sp>
        <p:nvSpPr>
          <p:cNvPr id="6" name="文本框 5"/>
          <p:cNvSpPr txBox="1"/>
          <p:nvPr/>
        </p:nvSpPr>
        <p:spPr>
          <a:xfrm>
            <a:off x="2926080" y="5050155"/>
            <a:ext cx="6096000" cy="645160"/>
          </a:xfrm>
          <a:prstGeom prst="rect">
            <a:avLst/>
          </a:prstGeom>
          <a:noFill/>
        </p:spPr>
        <p:txBody>
          <a:bodyPr wrap="square" rtlCol="0" anchor="t">
            <a:spAutoFit/>
          </a:bodyPr>
          <a:p>
            <a:r>
              <a:rPr lang="en-US" altLang="zh-CN"/>
              <a:t>The first time, I randomly selected 20% of the old pipes and found little change.</a:t>
            </a:r>
            <a:endParaRPr lang="zh-CN" altLang="en-US"/>
          </a:p>
        </p:txBody>
      </p:sp>
      <p:pic>
        <p:nvPicPr>
          <p:cNvPr id="7" name="图片 6"/>
          <p:cNvPicPr>
            <a:picLocks noChangeAspect="1"/>
          </p:cNvPicPr>
          <p:nvPr/>
        </p:nvPicPr>
        <p:blipFill>
          <a:blip r:embed="rId2"/>
          <a:stretch>
            <a:fillRect/>
          </a:stretch>
        </p:blipFill>
        <p:spPr>
          <a:xfrm>
            <a:off x="94615" y="553720"/>
            <a:ext cx="5497195" cy="3030220"/>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0" y="0"/>
            <a:ext cx="4373245" cy="3869690"/>
          </a:xfrm>
          <a:prstGeom prst="rect">
            <a:avLst/>
          </a:prstGeom>
        </p:spPr>
      </p:pic>
      <p:pic>
        <p:nvPicPr>
          <p:cNvPr id="5" name="图片 4"/>
          <p:cNvPicPr>
            <a:picLocks noChangeAspect="1"/>
          </p:cNvPicPr>
          <p:nvPr/>
        </p:nvPicPr>
        <p:blipFill>
          <a:blip r:embed="rId2"/>
          <a:stretch>
            <a:fillRect/>
          </a:stretch>
        </p:blipFill>
        <p:spPr>
          <a:xfrm>
            <a:off x="6422390" y="0"/>
            <a:ext cx="5497195" cy="3030220"/>
          </a:xfrm>
          <a:prstGeom prst="rect">
            <a:avLst/>
          </a:prstGeom>
        </p:spPr>
      </p:pic>
      <p:pic>
        <p:nvPicPr>
          <p:cNvPr id="6" name="图片 5"/>
          <p:cNvPicPr>
            <a:picLocks noChangeAspect="1"/>
          </p:cNvPicPr>
          <p:nvPr/>
        </p:nvPicPr>
        <p:blipFill>
          <a:blip r:embed="rId3"/>
          <a:stretch>
            <a:fillRect/>
          </a:stretch>
        </p:blipFill>
        <p:spPr>
          <a:xfrm>
            <a:off x="6150610" y="2915920"/>
            <a:ext cx="6041390" cy="3330575"/>
          </a:xfrm>
          <a:prstGeom prst="rect">
            <a:avLst/>
          </a:prstGeom>
        </p:spPr>
      </p:pic>
      <p:pic>
        <p:nvPicPr>
          <p:cNvPr id="7" name="图片 6"/>
          <p:cNvPicPr>
            <a:picLocks noChangeAspect="1"/>
          </p:cNvPicPr>
          <p:nvPr/>
        </p:nvPicPr>
        <p:blipFill>
          <a:blip r:embed="rId4"/>
          <a:stretch>
            <a:fillRect/>
          </a:stretch>
        </p:blipFill>
        <p:spPr>
          <a:xfrm>
            <a:off x="165100" y="3869690"/>
            <a:ext cx="4663440" cy="2045970"/>
          </a:xfrm>
          <a:prstGeom prst="rect">
            <a:avLst/>
          </a:prstGeom>
        </p:spPr>
      </p:pic>
      <p:sp>
        <p:nvSpPr>
          <p:cNvPr id="8" name="文本框 7"/>
          <p:cNvSpPr txBox="1"/>
          <p:nvPr/>
        </p:nvSpPr>
        <p:spPr>
          <a:xfrm>
            <a:off x="54610" y="5915660"/>
            <a:ext cx="6096000" cy="922020"/>
          </a:xfrm>
          <a:prstGeom prst="rect">
            <a:avLst/>
          </a:prstGeom>
          <a:noFill/>
        </p:spPr>
        <p:txBody>
          <a:bodyPr wrap="square" rtlCol="0" anchor="t">
            <a:spAutoFit/>
          </a:bodyPr>
          <a:p>
            <a:r>
              <a:rPr lang="en-US" altLang="zh-CN"/>
              <a:t>To make the change more apparent, the result can be obtained through subsequent inversion, so I fixed the position of the old pipe.</a:t>
            </a:r>
            <a:endParaRPr lang="zh-CN" altLang="en-US"/>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636905" y="2498090"/>
            <a:ext cx="6096000" cy="1476375"/>
          </a:xfrm>
          <a:prstGeom prst="rect">
            <a:avLst/>
          </a:prstGeom>
          <a:noFill/>
        </p:spPr>
        <p:txBody>
          <a:bodyPr wrap="square" rtlCol="0" anchor="t">
            <a:spAutoFit/>
          </a:bodyPr>
          <a:p>
            <a:r>
              <a:rPr lang="en-US" altLang="zh-CN"/>
              <a:t>During inversion, monitoring points can be weighted according to wall sensitivity. </a:t>
            </a:r>
            <a:endParaRPr lang="en-US" altLang="zh-CN"/>
          </a:p>
          <a:p>
            <a:r>
              <a:rPr lang="en-US" altLang="zh-CN"/>
              <a:t>Points that are too close to the tank or dominated by bulk (such as Node 20) are not suitable, otherwise during kw calibration, they will be driven by kb/tank.</a:t>
            </a:r>
            <a:endParaRPr lang="zh-CN" altLang="en-US"/>
          </a:p>
        </p:txBody>
      </p:sp>
      <p:sp>
        <p:nvSpPr>
          <p:cNvPr id="10" name="文本框 9"/>
          <p:cNvSpPr txBox="1"/>
          <p:nvPr/>
        </p:nvSpPr>
        <p:spPr>
          <a:xfrm>
            <a:off x="636905" y="4695825"/>
            <a:ext cx="6096000" cy="1198880"/>
          </a:xfrm>
          <a:prstGeom prst="rect">
            <a:avLst/>
          </a:prstGeom>
          <a:noFill/>
        </p:spPr>
        <p:txBody>
          <a:bodyPr wrap="square" rtlCol="0" anchor="t">
            <a:spAutoFit/>
          </a:bodyPr>
          <a:p>
            <a:r>
              <a:rPr lang="en-US" altLang="zh-CN"/>
              <a:t>Last week, there was a mistake: the node with the lowest average residual chlorine in node20 is not the point most sensitive to kw. It is greatly influenced by tank. The main source of change is kb.</a:t>
            </a:r>
            <a:endParaRPr lang="en-US" altLang="zh-CN"/>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endParaRPr lang="zh-CN"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6.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79.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8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2.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8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86.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8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8.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89.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92.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9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7.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98.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9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807</Words>
  <Application>WPS 文字</Application>
  <PresentationFormat>宽屏</PresentationFormat>
  <Paragraphs>14</Paragraphs>
  <Slides>17</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Arial</vt:lpstr>
      <vt:lpstr>宋体</vt:lpstr>
      <vt:lpstr>Wingdings</vt:lpstr>
      <vt:lpstr>Wingdings</vt:lpstr>
      <vt:lpstr>苹方-简</vt:lpstr>
      <vt:lpstr>微软雅黑</vt:lpstr>
      <vt:lpstr>汉仪旗黑</vt:lpstr>
      <vt:lpstr>汉仪书宋二KW</vt:lpstr>
      <vt:lpstr>宋体</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彭睿欣</cp:lastModifiedBy>
  <cp:revision>175</cp:revision>
  <dcterms:created xsi:type="dcterms:W3CDTF">2026-06-16T22:02:47Z</dcterms:created>
  <dcterms:modified xsi:type="dcterms:W3CDTF">2026-06-16T22:02:47Z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613F8AB8EB71F34B652C306A820B5DEC_41</vt:lpwstr>
  </property>
</Properties>
</file>