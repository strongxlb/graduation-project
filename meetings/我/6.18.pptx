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75" r:id="rId3"/>
    <p:sldId id="257" r:id="rId5"/>
    <p:sldId id="260" r:id="rId6"/>
    <p:sldId id="279" r:id="rId7"/>
    <p:sldId id="280" r:id="rId8"/>
    <p:sldId id="262" r:id="rId9"/>
    <p:sldId id="263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63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4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65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66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7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68.xml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9.xml"/><Relationship Id="rId1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70.xml"/><Relationship Id="rId1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71.xml"/><Relationship Id="rId1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97050" y="1416685"/>
            <a:ext cx="9144000" cy="1856105"/>
          </a:xfrm>
        </p:spPr>
        <p:txBody>
          <a:bodyPr>
            <a:normAutofit fontScale="90000" lnSpcReduction="10000"/>
          </a:bodyPr>
          <a:lstStyle/>
          <a:p>
            <a:r>
              <a:rPr lang="en-GB" altLang="zh-CN" sz="5400" b="1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Week</a:t>
            </a:r>
            <a:r>
              <a:rPr lang="en-US" sz="5400" b="1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ly</a:t>
            </a:r>
            <a:r>
              <a:rPr lang="en-GB" altLang="zh-CN" sz="5400" b="1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 </a:t>
            </a:r>
            <a:endParaRPr lang="en-GB" altLang="zh-CN" sz="5400" b="1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GB" altLang="zh-CN" sz="5400" b="1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Report</a:t>
            </a:r>
            <a:endParaRPr lang="en-GB" altLang="zh-CN" sz="5400" b="1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endParaRPr lang="en-GB" altLang="zh-CN" sz="5400" b="1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4" name="副标题 2"/>
          <p:cNvSpPr txBox="1"/>
          <p:nvPr/>
        </p:nvSpPr>
        <p:spPr>
          <a:xfrm>
            <a:off x="9550400" y="5644222"/>
            <a:ext cx="2288200" cy="809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800" dirty="0" err="1">
                <a:latin typeface="Times New Roman" panose="02020503050405090304" charset="0"/>
                <a:cs typeface="Times New Roman" panose="02020503050405090304" charset="0"/>
              </a:rPr>
              <a:t>Ruixin</a:t>
            </a:r>
            <a:r>
              <a:rPr lang="zh-CN" altLang="en-US" sz="1800" dirty="0">
                <a:latin typeface="Times New Roman" panose="02020503050405090304" charset="0"/>
                <a:cs typeface="Times New Roman" panose="02020503050405090304" charset="0"/>
              </a:rPr>
              <a:t> </a:t>
            </a:r>
            <a:r>
              <a:rPr lang="en-US" altLang="zh-CN" sz="1800" dirty="0">
                <a:latin typeface="Times New Roman" panose="02020503050405090304" charset="0"/>
                <a:cs typeface="Times New Roman" panose="02020503050405090304" charset="0"/>
              </a:rPr>
              <a:t>Peng</a:t>
            </a:r>
            <a:endParaRPr lang="en-US" altLang="zh-CN" sz="1800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en-GB" sz="1800" dirty="0">
                <a:latin typeface="Times New Roman" panose="02020503050405090304" charset="0"/>
                <a:cs typeface="Times New Roman" panose="02020503050405090304" charset="0"/>
              </a:rPr>
              <a:t>June 18</a:t>
            </a:r>
            <a:r>
              <a:rPr lang="en-GB" altLang="zh-CN" sz="1800" dirty="0">
                <a:latin typeface="Times New Roman" panose="02020503050405090304" charset="0"/>
                <a:cs typeface="Times New Roman" panose="02020503050405090304" charset="0"/>
              </a:rPr>
              <a:t>, 2026</a:t>
            </a:r>
            <a:endParaRPr lang="en-GB" altLang="zh-CN" sz="1800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output"/>
          <p:cNvPicPr>
            <a:picLocks noChangeAspect="1"/>
          </p:cNvPicPr>
          <p:nvPr/>
        </p:nvPicPr>
        <p:blipFill>
          <a:blip r:embed="rId1"/>
          <a:srcRect l="6975" b="7230"/>
          <a:stretch>
            <a:fillRect/>
          </a:stretch>
        </p:blipFill>
        <p:spPr>
          <a:xfrm>
            <a:off x="204470" y="83820"/>
            <a:ext cx="5041900" cy="455803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rcRect l="6254" b="8127"/>
          <a:stretch>
            <a:fillRect/>
          </a:stretch>
        </p:blipFill>
        <p:spPr>
          <a:xfrm>
            <a:off x="6096000" y="319405"/>
            <a:ext cx="5406390" cy="433578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5610860" y="5087620"/>
            <a:ext cx="6377305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latin typeface="Times New Roman" panose="02020503050405090304" charset="0"/>
                <a:cs typeface="Times New Roman" panose="02020503050405090304" charset="0"/>
                <a:sym typeface="+mn-ea"/>
              </a:rPr>
              <a:t>Last week, there was a mistake: node 20 has the lowest mean chlorine mainly because of its long water age (residence time), so it is dominated by </a:t>
            </a:r>
            <a:r>
              <a:rPr lang="en-US" altLang="zh-CN" b="1">
                <a:latin typeface="Times New Roman" panose="02020503050405090304" charset="0"/>
                <a:cs typeface="Times New Roman" panose="02020503050405090304" charset="0"/>
                <a:sym typeface="+mn-ea"/>
              </a:rPr>
              <a:t>bulk decay × age</a:t>
            </a:r>
            <a:r>
              <a:rPr lang="en-US" altLang="zh-CN">
                <a:latin typeface="Times New Roman" panose="02020503050405090304" charset="0"/>
                <a:cs typeface="Times New Roman" panose="02020503050405090304" charset="0"/>
                <a:sym typeface="+mn-ea"/>
              </a:rPr>
              <a:t> and is insensitive to kw.</a:t>
            </a:r>
            <a:endParaRPr lang="en-US" altLang="zh-CN">
              <a:latin typeface="Times New Roman" panose="02020503050405090304" charset="0"/>
              <a:cs typeface="Times New Roman" panose="02020503050405090304" charset="0"/>
              <a:sym typeface="+mn-ea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995" y="4515485"/>
            <a:ext cx="3822065" cy="234251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94310"/>
            <a:ext cx="7041515" cy="512191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7386955" y="681990"/>
            <a:ext cx="4675505" cy="403098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Bef>
                <a:spcPts val="600"/>
              </a:spcBef>
              <a:spcAft>
                <a:spcPts val="600"/>
              </a:spcAft>
            </a:pPr>
            <a:r>
              <a:rPr lang="en-US" altLang="zh-CN" sz="1600" b="0" i="0">
                <a:latin typeface="Times New Roman" panose="02020503050405090304" charset="0"/>
                <a:ea typeface="-apple-system"/>
                <a:cs typeface="Times New Roman" panose="02020503050405090304" charset="0"/>
              </a:rPr>
              <a:t>Assumed </a:t>
            </a:r>
            <a:endParaRPr lang="en-US" altLang="zh-CN" sz="1600" b="0" i="0">
              <a:latin typeface="Times New Roman" panose="02020503050405090304" charset="0"/>
              <a:ea typeface="-apple-system"/>
              <a:cs typeface="Times New Roman" panose="02020503050405090304" charset="0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</a:pPr>
            <a:r>
              <a:rPr lang="en-US" altLang="zh-CN" sz="1600" b="0" i="0">
                <a:latin typeface="Times New Roman" panose="02020503050405090304" charset="0"/>
                <a:ea typeface="-apple-system"/>
                <a:cs typeface="Times New Roman" panose="02020503050405090304" charset="0"/>
              </a:rPr>
              <a:t>Source initial chlorine = </a:t>
            </a:r>
            <a:r>
              <a:rPr lang="en-US" altLang="zh-CN" sz="1600" b="1" i="0">
                <a:latin typeface="Times New Roman" panose="02020503050405090304" charset="0"/>
                <a:ea typeface="-apple-system"/>
                <a:cs typeface="Times New Roman" panose="02020503050405090304" charset="0"/>
              </a:rPr>
              <a:t>1.0 mg/L</a:t>
            </a:r>
            <a:endParaRPr lang="en-US" altLang="zh-CN" sz="1600" b="0" i="0">
              <a:latin typeface="Times New Roman" panose="02020503050405090304" charset="0"/>
              <a:ea typeface="-apple-system"/>
              <a:cs typeface="Times New Roman" panose="02020503050405090304" charset="0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</a:pPr>
            <a:r>
              <a:rPr lang="en-US" altLang="zh-CN" sz="1600" b="0" i="0">
                <a:latin typeface="Times New Roman" panose="02020503050405090304" charset="0"/>
                <a:ea typeface="-apple-system"/>
                <a:cs typeface="Times New Roman" panose="02020503050405090304" charset="0"/>
              </a:rPr>
              <a:t>(inlet boundary condition; original = 0)</a:t>
            </a:r>
            <a:endParaRPr lang="en-US" altLang="zh-CN" sz="1600" b="0" i="0">
              <a:latin typeface="Times New Roman" panose="02020503050405090304" charset="0"/>
              <a:ea typeface="-apple-system"/>
              <a:cs typeface="Times New Roman" panose="02020503050405090304" charset="0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Font typeface="Arial" panose="020B0604020202090204"/>
              <a:buChar char="•"/>
            </a:pPr>
            <a:r>
              <a:rPr lang="en-US" altLang="zh-CN" sz="1600" b="0" i="0">
                <a:latin typeface="Times New Roman" panose="02020503050405090304" charset="0"/>
                <a:ea typeface="-apple-system"/>
                <a:cs typeface="Times New Roman" panose="02020503050405090304" charset="0"/>
              </a:rPr>
              <a:t>Tank initial chlorine = </a:t>
            </a:r>
            <a:r>
              <a:rPr lang="en-US" altLang="zh-CN" sz="1600" b="0" i="0">
                <a:highlight>
                  <a:srgbClr val="FFFF00"/>
                </a:highlight>
                <a:latin typeface="Times New Roman" panose="02020503050405090304" charset="0"/>
                <a:ea typeface="-apple-system"/>
                <a:cs typeface="Times New Roman" panose="02020503050405090304" charset="0"/>
              </a:rPr>
              <a:t>0.5</a:t>
            </a:r>
            <a:r>
              <a:rPr lang="en-US" altLang="zh-CN" sz="1600" b="0" i="0">
                <a:latin typeface="Times New Roman" panose="02020503050405090304" charset="0"/>
                <a:ea typeface="-apple-system"/>
                <a:cs typeface="Times New Roman" panose="02020503050405090304" charset="0"/>
              </a:rPr>
              <a:t> (kept .inp / starter default — not set)</a:t>
            </a:r>
            <a:endParaRPr lang="en-US" altLang="zh-CN" sz="1600" b="0" i="0">
              <a:latin typeface="Times New Roman" panose="02020503050405090304" charset="0"/>
              <a:ea typeface="-apple-system"/>
              <a:cs typeface="Times New Roman" panose="02020503050405090304" charset="0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Font typeface="Arial" panose="020B0604020202090204"/>
              <a:buChar char="•"/>
            </a:pPr>
            <a:r>
              <a:rPr lang="en-US" altLang="zh-CN" sz="1600" b="0" i="0">
                <a:latin typeface="Times New Roman" panose="02020503050405090304" charset="0"/>
                <a:ea typeface="-apple-system"/>
                <a:cs typeface="Times New Roman" panose="02020503050405090304" charset="0"/>
              </a:rPr>
              <a:t>kb = −0.5 /day (original = 0, no decay)</a:t>
            </a:r>
            <a:endParaRPr lang="en-US" altLang="zh-CN" sz="1600" b="0" i="0">
              <a:latin typeface="Times New Roman" panose="02020503050405090304" charset="0"/>
              <a:ea typeface="-apple-system"/>
              <a:cs typeface="Times New Roman" panose="02020503050405090304" charset="0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Font typeface="Arial" panose="020B0604020202090204"/>
              <a:buChar char="•"/>
            </a:pPr>
            <a:r>
              <a:rPr lang="en-US" altLang="zh-CN" sz="1600" b="0" i="0">
                <a:latin typeface="Times New Roman" panose="02020503050405090304" charset="0"/>
                <a:ea typeface="-apple-system"/>
                <a:cs typeface="Times New Roman" panose="02020503050405090304" charset="0"/>
              </a:rPr>
              <a:t>kw_old = -1.0/</a:t>
            </a:r>
            <a:r>
              <a:rPr lang="en-US" altLang="zh-CN" sz="1600" b="0" i="0">
                <a:latin typeface="Times New Roman" panose="02020503050405090304" charset="0"/>
                <a:ea typeface="-apple-system"/>
                <a:cs typeface="Times New Roman" panose="02020503050405090304" charset="0"/>
              </a:rPr>
              <a:t>day </a:t>
            </a:r>
            <a:endParaRPr lang="en-US" altLang="zh-CN" sz="1600" b="0" i="0">
              <a:latin typeface="Times New Roman" panose="02020503050405090304" charset="0"/>
              <a:ea typeface="-apple-system"/>
              <a:cs typeface="Times New Roman" panose="02020503050405090304" charset="0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Font typeface="Arial" panose="020B0604020202090204"/>
              <a:buChar char="•"/>
            </a:pPr>
            <a:r>
              <a:rPr lang="en-US" altLang="zh-CN" sz="1600" b="0" i="0">
                <a:latin typeface="Times New Roman" panose="02020503050405090304" charset="0"/>
                <a:ea typeface="-apple-system"/>
                <a:cs typeface="Times New Roman" panose="02020503050405090304" charset="0"/>
              </a:rPr>
              <a:t>kw_new =   -0.05 /day(original = 0)</a:t>
            </a:r>
            <a:endParaRPr lang="en-US" altLang="zh-CN" sz="1600" b="0" i="0">
              <a:latin typeface="Times New Roman" panose="02020503050405090304" charset="0"/>
              <a:ea typeface="-apple-system"/>
              <a:cs typeface="Times New Roman" panose="02020503050405090304" charset="0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Font typeface="Arial" panose="020B0604020202090204"/>
              <a:buChar char="•"/>
            </a:pPr>
            <a:r>
              <a:rPr lang="en-US" altLang="zh-CN" sz="1600" b="0" i="0">
                <a:latin typeface="Times New Roman" panose="02020503050405090304" charset="0"/>
                <a:ea typeface="-apple-system"/>
                <a:cs typeface="Times New Roman" panose="02020503050405090304" charset="0"/>
              </a:rPr>
              <a:t>Reaction order: zero-order/ first-order</a:t>
            </a:r>
            <a:endParaRPr lang="en-US" altLang="zh-CN" sz="1600" b="0" i="0">
              <a:latin typeface="Times New Roman" panose="02020503050405090304" charset="0"/>
              <a:ea typeface="-apple-system"/>
              <a:cs typeface="Times New Roman" panose="02020503050405090304" charset="0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Font typeface="Arial" panose="020B0604020202090204"/>
              <a:buChar char="•"/>
            </a:pPr>
            <a:r>
              <a:rPr lang="en-US" altLang="zh-CN" sz="1600" b="0" i="0">
                <a:latin typeface="Times New Roman" panose="02020503050405090304" charset="0"/>
                <a:ea typeface="-apple-system"/>
                <a:cs typeface="Times New Roman" panose="02020503050405090304" charset="0"/>
              </a:rPr>
              <a:t>Old-pipe grouping (contiguous DMA): no material data in Net3, fully assumed</a:t>
            </a:r>
            <a:endParaRPr lang="en-US" altLang="zh-CN" sz="1600" b="0" i="0">
              <a:latin typeface="Times New Roman" panose="02020503050405090304" charset="0"/>
              <a:ea typeface="-apple-system"/>
              <a:cs typeface="Times New Roman" panose="0202050305040509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570" y="2533650"/>
            <a:ext cx="8893810" cy="338074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01600" y="260985"/>
            <a:ext cx="560832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3200" b="1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Zero order</a:t>
            </a:r>
            <a:endParaRPr lang="en-US" altLang="zh-CN" sz="3200" b="1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42570" y="977900"/>
            <a:ext cx="560832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000">
                <a:latin typeface="Times New Roman" panose="02020503050405090304" charset="0"/>
                <a:cs typeface="Times New Roman" panose="02020503050405090304" charset="0"/>
              </a:rPr>
              <a:t>k</a:t>
            </a:r>
            <a:r>
              <a:rPr lang="en-US" altLang="zh-CN" sz="2000" baseline="-25000">
                <a:latin typeface="Times New Roman" panose="02020503050405090304" charset="0"/>
                <a:cs typeface="Times New Roman" panose="02020503050405090304" charset="0"/>
              </a:rPr>
              <a:t>b</a:t>
            </a:r>
            <a:r>
              <a:rPr lang="en-US" altLang="zh-CN" sz="2000">
                <a:latin typeface="Times New Roman" panose="02020503050405090304" charset="0"/>
                <a:cs typeface="Times New Roman" panose="02020503050405090304" charset="0"/>
              </a:rPr>
              <a:t>_per_day= -0.5, k</a:t>
            </a:r>
            <a:r>
              <a:rPr lang="en-US" altLang="zh-CN" sz="2000" baseline="-25000">
                <a:latin typeface="Times New Roman" panose="02020503050405090304" charset="0"/>
                <a:cs typeface="Times New Roman" panose="02020503050405090304" charset="0"/>
              </a:rPr>
              <a:t>w</a:t>
            </a:r>
            <a:r>
              <a:rPr lang="en-US" altLang="zh-CN" sz="2000">
                <a:latin typeface="Times New Roman" panose="02020503050405090304" charset="0"/>
                <a:cs typeface="Times New Roman" panose="02020503050405090304" charset="0"/>
              </a:rPr>
              <a:t>_per_day = 0.0,</a:t>
            </a:r>
            <a:endParaRPr lang="en-US" altLang="zh-CN" sz="200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sz="2000">
                <a:latin typeface="Times New Roman" panose="02020503050405090304" charset="0"/>
                <a:cs typeface="Times New Roman" panose="02020503050405090304" charset="0"/>
              </a:rPr>
              <a:t>bulk_order=0, wall_order=0, duration_hours=72</a:t>
            </a:r>
            <a:endParaRPr lang="zh-CN" altLang="en-US" sz="200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930900" y="7893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000">
                <a:latin typeface="Times New Roman" panose="02020503050405090304" charset="0"/>
                <a:cs typeface="Times New Roman" panose="02020503050405090304" charset="0"/>
              </a:rPr>
              <a:t>Water age = average residence time of the mixed water body at the current node</a:t>
            </a:r>
            <a:endParaRPr lang="en-US" altLang="zh-CN" sz="200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930900" y="1595120"/>
            <a:ext cx="576516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Bulk decay, </a:t>
            </a:r>
            <a:r>
              <a:rPr lang="en-US" altLang="zh-CN" sz="2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initial chlorine concentration in the </a:t>
            </a:r>
            <a:r>
              <a:rPr lang="en-US" altLang="zh-CN" sz="2000">
                <a:solidFill>
                  <a:srgbClr val="FF0000"/>
                </a:solidFill>
                <a:latin typeface="Times New Roman" panose="02020503050405090304" charset="0"/>
                <a:cs typeface="Times New Roman" panose="02020503050405090304" charset="0"/>
              </a:rPr>
              <a:t>tank </a:t>
            </a:r>
            <a:r>
              <a:rPr lang="en-US" altLang="zh-CN" sz="2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has not been set</a:t>
            </a:r>
            <a:endParaRPr lang="en-US" altLang="zh-CN" sz="2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42570" y="1818005"/>
            <a:ext cx="421894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latin typeface="Times New Roman Regular" panose="02020503050405090304" charset="0"/>
                <a:cs typeface="Times New Roman Regular" panose="02020503050405090304" charset="0"/>
              </a:rPr>
              <a:t>Average water age and average concentration over the last 24 hours</a:t>
            </a:r>
            <a:endParaRPr lang="en-US" altLang="zh-CN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880485" y="6168390"/>
            <a:ext cx="2215515" cy="39878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latinLnBrk="0"/>
            <a:r>
              <a:rPr lang="en-US" altLang="zh-CN" sz="2000" b="0" i="0">
                <a:latin typeface="Times New Roman Regular" panose="02020503050405090304" charset="0"/>
                <a:ea typeface="Menlo" panose="020B0609030804020204"/>
                <a:cs typeface="Times New Roman Regular" panose="02020503050405090304" charset="0"/>
              </a:rPr>
              <a:t>k</a:t>
            </a:r>
            <a:r>
              <a:rPr lang="zh-CN" altLang="en-US" sz="2000" b="0" i="0">
                <a:latin typeface="Times New Roman Regular" panose="02020503050405090304" charset="0"/>
                <a:ea typeface="-apple-system"/>
                <a:cs typeface="Times New Roman Regular" panose="02020503050405090304" charset="0"/>
              </a:rPr>
              <a:t>：</a:t>
            </a:r>
            <a:r>
              <a:rPr lang="en-US" altLang="zh-CN" sz="2000" b="0" i="0">
                <a:latin typeface="Times New Roman Regular" panose="02020503050405090304" charset="0"/>
                <a:ea typeface="-apple-system"/>
                <a:cs typeface="Times New Roman Regular" panose="02020503050405090304" charset="0"/>
              </a:rPr>
              <a:t>(mg/L)/day</a:t>
            </a:r>
            <a:endParaRPr lang="zh-CN" altLang="en-US" sz="2000" b="0" i="0">
              <a:latin typeface="Times New Roman Regular" panose="02020503050405090304" charset="0"/>
              <a:ea typeface="-apple-system"/>
              <a:cs typeface="Times New Roman Regular" panose="0202050305040509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01980" y="6168390"/>
            <a:ext cx="2872105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en-US" altLang="zh-CN" sz="2000">
                <a:latin typeface="Times New Roman Regular" panose="02020503050405090304" charset="0"/>
                <a:cs typeface="Times New Roman Regular" panose="02020503050405090304" charset="0"/>
              </a:rPr>
              <a:t>dC/dt = k（k &lt; 0</a:t>
            </a:r>
            <a:r>
              <a:rPr lang="zh-CN" altLang="en-US" sz="2000">
                <a:latin typeface="Times New Roman Regular" panose="02020503050405090304" charset="0"/>
                <a:cs typeface="Times New Roman Regular" panose="02020503050405090304" charset="0"/>
              </a:rPr>
              <a:t>）</a:t>
            </a:r>
            <a:endParaRPr lang="zh-CN" altLang="en-US" sz="2000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9344660" y="5645150"/>
            <a:ext cx="268224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rgbClr val="FF0000"/>
                </a:solidFill>
                <a:latin typeface="Times New Roman Regular" panose="02020503050405090304" charset="0"/>
                <a:cs typeface="Times New Roman Regular" panose="02020503050405090304" charset="0"/>
              </a:rPr>
              <a:t>In practice, the fitting result is k</a:t>
            </a:r>
            <a:r>
              <a:rPr lang="en-US" altLang="zh-CN" baseline="-25000">
                <a:solidFill>
                  <a:srgbClr val="FF0000"/>
                </a:solidFill>
                <a:latin typeface="Times New Roman Regular" panose="02020503050405090304" charset="0"/>
                <a:cs typeface="Times New Roman Regular" panose="02020503050405090304" charset="0"/>
              </a:rPr>
              <a:t>b</a:t>
            </a:r>
            <a:r>
              <a:rPr lang="en-US" altLang="zh-CN">
                <a:solidFill>
                  <a:srgbClr val="FF0000"/>
                </a:solidFill>
                <a:latin typeface="Times New Roman Regular" panose="02020503050405090304" charset="0"/>
                <a:cs typeface="Times New Roman Regular" panose="02020503050405090304" charset="0"/>
              </a:rPr>
              <a:t> + k</a:t>
            </a:r>
            <a:r>
              <a:rPr lang="en-US" altLang="zh-CN" baseline="-25000">
                <a:solidFill>
                  <a:srgbClr val="FF0000"/>
                </a:solidFill>
                <a:latin typeface="Times New Roman Regular" panose="02020503050405090304" charset="0"/>
                <a:cs typeface="Times New Roman Regular" panose="02020503050405090304" charset="0"/>
              </a:rPr>
              <a:t>w</a:t>
            </a:r>
            <a:r>
              <a:rPr lang="en-US" altLang="zh-CN">
                <a:solidFill>
                  <a:srgbClr val="FF0000"/>
                </a:solidFill>
                <a:latin typeface="Times New Roman Regular" panose="02020503050405090304" charset="0"/>
                <a:cs typeface="Times New Roman Regular" panose="02020503050405090304" charset="0"/>
              </a:rPr>
              <a:t>; how can we obtain k</a:t>
            </a:r>
            <a:r>
              <a:rPr lang="en-US" altLang="zh-CN" baseline="-25000">
                <a:solidFill>
                  <a:srgbClr val="FF0000"/>
                </a:solidFill>
                <a:latin typeface="Times New Roman Regular" panose="02020503050405090304" charset="0"/>
                <a:cs typeface="Times New Roman Regular" panose="02020503050405090304" charset="0"/>
              </a:rPr>
              <a:t>b </a:t>
            </a:r>
            <a:r>
              <a:rPr lang="en-US" altLang="zh-CN">
                <a:solidFill>
                  <a:srgbClr val="FF0000"/>
                </a:solidFill>
                <a:latin typeface="Times New Roman Regular" panose="02020503050405090304" charset="0"/>
                <a:cs typeface="Times New Roman Regular" panose="02020503050405090304" charset="0"/>
              </a:rPr>
              <a:t>?  (jar test?)</a:t>
            </a:r>
            <a:endParaRPr lang="zh-CN" altLang="en-US">
              <a:solidFill>
                <a:srgbClr val="FF0000"/>
              </a:solidFill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270760" y="409258"/>
            <a:ext cx="5080000" cy="368300"/>
          </a:xfrm>
          <a:prstGeom prst="rect">
            <a:avLst/>
          </a:prstGeom>
        </p:spPr>
        <p:txBody>
          <a:bodyPr>
            <a:spAutoFit/>
          </a:bodyPr>
          <a:p>
            <a:pPr marL="0" indent="0"/>
            <a:r>
              <a:rPr lang="en-US" altLang="zh-CN" b="0" i="0">
                <a:latin typeface="Times New Roman" panose="02020503050405090304" charset="0"/>
                <a:ea typeface="Menlo" panose="020B0609030804020204"/>
                <a:cs typeface="Times New Roman" panose="02020503050405090304" charset="0"/>
              </a:rPr>
              <a:t>→ time / residence</a:t>
            </a:r>
            <a:endParaRPr lang="en-US" altLang="zh-CN" b="0" i="0">
              <a:latin typeface="Times New Roman" panose="02020503050405090304" charset="0"/>
              <a:ea typeface="Menlo" panose="020B0609030804020204"/>
              <a:cs typeface="Times New Roman" panose="0202050305040509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0" y="644525"/>
            <a:ext cx="4334510" cy="307848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285" y="2672715"/>
            <a:ext cx="5608320" cy="390969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01600" y="60960"/>
            <a:ext cx="560832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3200" b="1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Zero order</a:t>
            </a:r>
            <a:endParaRPr lang="en-US" altLang="zh-CN" sz="3200" b="1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573520" y="1380490"/>
            <a:ext cx="5356860" cy="12915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>
                <a:latin typeface="Times New Roman" panose="02020503050405090304" charset="0"/>
                <a:cs typeface="Times New Roman" panose="02020503050405090304" charset="0"/>
              </a:rPr>
              <a:t>eg. Node 20 sometimes receives old water, and sometimes suddenly switches to new water.</a:t>
            </a:r>
            <a:endParaRPr lang="en-US" altLang="zh-CN">
              <a:latin typeface="Times New Roman" panose="02020503050405090304" charset="0"/>
              <a:cs typeface="Times New Roman" panose="02020503050405090304" charset="0"/>
            </a:endParaRPr>
          </a:p>
          <a:p>
            <a:endParaRPr lang="en-US" altLang="zh-CN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>
                <a:latin typeface="Times New Roman" panose="02020503050405090304" charset="0"/>
                <a:cs typeface="Times New Roman" panose="02020503050405090304" charset="0"/>
              </a:rPr>
              <a:t>Concentration platform + increased water age</a:t>
            </a:r>
            <a:endParaRPr lang="en-US" altLang="zh-CN">
              <a:latin typeface="Times New Roman" panose="02020503050405090304" charset="0"/>
              <a:cs typeface="Times New Roman" panose="02020503050405090304" charset="0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" y="3876040"/>
            <a:ext cx="5273675" cy="290703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90565" y="2111375"/>
            <a:ext cx="5921375" cy="32639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2914015" y="554863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000">
                <a:latin typeface="Times New Roman" panose="02020503050405090304" charset="0"/>
                <a:cs typeface="Times New Roman" panose="02020503050405090304" charset="0"/>
              </a:rPr>
              <a:t>The first time, I randomly selected 20% of the old pipes and found little change.</a:t>
            </a:r>
            <a:endParaRPr lang="en-US" altLang="zh-CN" sz="2000">
              <a:latin typeface="Times New Roman" panose="02020503050405090304" charset="0"/>
              <a:cs typeface="Times New Roman" panose="02020503050405090304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" y="2044065"/>
            <a:ext cx="5756275" cy="317309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398780" y="1539240"/>
            <a:ext cx="2872105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en-US" altLang="zh-CN" sz="2000">
                <a:latin typeface="Times New Roman Regular" panose="02020503050405090304" charset="0"/>
                <a:cs typeface="Times New Roman Regular" panose="02020503050405090304" charset="0"/>
              </a:rPr>
              <a:t>dC/dt = k·C        （k &lt; 0</a:t>
            </a:r>
            <a:r>
              <a:rPr lang="zh-CN" altLang="en-US" sz="2000">
                <a:latin typeface="Times New Roman Regular" panose="02020503050405090304" charset="0"/>
                <a:cs typeface="Times New Roman Regular" panose="02020503050405090304" charset="0"/>
              </a:rPr>
              <a:t>）</a:t>
            </a:r>
            <a:endParaRPr lang="zh-CN" altLang="en-US" sz="2000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431155" y="1539240"/>
            <a:ext cx="1946275" cy="39878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latinLnBrk="0"/>
            <a:r>
              <a:rPr lang="en-US" altLang="zh-CN" sz="2000" b="0" i="0">
                <a:latin typeface="Times New Roman Regular" panose="02020503050405090304" charset="0"/>
                <a:ea typeface="Menlo" panose="020B0609030804020204"/>
                <a:cs typeface="Times New Roman Regular" panose="02020503050405090304" charset="0"/>
              </a:rPr>
              <a:t>k</a:t>
            </a:r>
            <a:r>
              <a:rPr lang="zh-CN" altLang="en-US" sz="2000" b="0" i="0">
                <a:latin typeface="Times New Roman Regular" panose="02020503050405090304" charset="0"/>
                <a:ea typeface="-apple-system"/>
                <a:cs typeface="Times New Roman Regular" panose="02020503050405090304" charset="0"/>
              </a:rPr>
              <a:t>：</a:t>
            </a:r>
            <a:r>
              <a:rPr lang="en-US" altLang="zh-CN" sz="2000" b="0" i="0">
                <a:latin typeface="Times New Roman Regular" panose="02020503050405090304" charset="0"/>
                <a:ea typeface="-apple-system"/>
                <a:cs typeface="Times New Roman Regular" panose="02020503050405090304" charset="0"/>
              </a:rPr>
              <a:t>1/day </a:t>
            </a:r>
            <a:r>
              <a:rPr lang="en-US" altLang="zh-CN" sz="2000" b="0" i="0">
                <a:latin typeface="Times New Roman Regular" panose="02020503050405090304" charset="0"/>
                <a:ea typeface="-apple-system"/>
                <a:cs typeface="Times New Roman Regular" panose="02020503050405090304" charset="0"/>
              </a:rPr>
              <a:t>→ 1/s</a:t>
            </a:r>
            <a:endParaRPr lang="zh-CN" altLang="en-US" sz="2000" b="0" i="0">
              <a:latin typeface="Times New Roman Regular" panose="02020503050405090304" charset="0"/>
              <a:ea typeface="-apple-system"/>
              <a:cs typeface="Times New Roman Regular" panose="0202050305040509030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98780" y="960755"/>
            <a:ext cx="2872105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en-US" altLang="zh-CN" sz="2000" b="1">
                <a:latin typeface="Times New Roman" panose="02020503050405090304" charset="0"/>
                <a:cs typeface="Times New Roman" panose="02020503050405090304" charset="0"/>
              </a:rPr>
              <a:t>First order</a:t>
            </a:r>
            <a:endParaRPr lang="en-US" altLang="zh-CN" sz="2000" b="1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96215" y="26733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3200" b="1">
                <a:latin typeface="Times New Roman" panose="02020503050405090304" charset="0"/>
                <a:cs typeface="Times New Roman" panose="02020503050405090304" charset="0"/>
              </a:rPr>
              <a:t>Forward Simulation</a:t>
            </a:r>
            <a:endParaRPr lang="en-US" altLang="zh-CN" sz="3200" b="1">
              <a:latin typeface="Times New Roman" panose="02020503050405090304" charset="0"/>
              <a:cs typeface="Times New Roman" panose="0202050305040509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rcRect l="6575" b="7594"/>
          <a:stretch>
            <a:fillRect/>
          </a:stretch>
        </p:blipFill>
        <p:spPr>
          <a:xfrm>
            <a:off x="399415" y="683895"/>
            <a:ext cx="4033520" cy="323342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4445" y="111125"/>
            <a:ext cx="5633720" cy="310578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0610" y="3217545"/>
            <a:ext cx="6041390" cy="333057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100" y="3869690"/>
            <a:ext cx="4663440" cy="204597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54610" y="5915660"/>
            <a:ext cx="574675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latin typeface="Times New Roman" panose="02020503050405090304" charset="0"/>
                <a:cs typeface="Times New Roman" panose="02020503050405090304" charset="0"/>
              </a:rPr>
              <a:t>To make the change more apparent, the result can be obtained through subsequent inversion, so I fixed the position of the old pipe.</a:t>
            </a:r>
            <a:endParaRPr lang="zh-CN" altLang="en-US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65100" y="4889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3200" b="1">
                <a:latin typeface="Times New Roman" panose="02020503050405090304" charset="0"/>
                <a:cs typeface="Times New Roman" panose="02020503050405090304" charset="0"/>
              </a:rPr>
              <a:t>Forward Simulation</a:t>
            </a:r>
            <a:endParaRPr lang="en-US" altLang="zh-CN" sz="3200" b="1">
              <a:latin typeface="Times New Roman" panose="02020503050405090304" charset="0"/>
              <a:cs typeface="Times New Roman" panose="02020503050405090304" charset="0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6449060" y="261938"/>
            <a:ext cx="5080000" cy="321945"/>
          </a:xfrm>
          <a:prstGeom prst="rect">
            <a:avLst/>
          </a:prstGeom>
        </p:spPr>
        <p:txBody>
          <a:bodyPr>
            <a:spAutoFit/>
          </a:bodyPr>
          <a:p>
            <a:pPr>
              <a:lnSpc>
                <a:spcPts val="1800"/>
              </a:lnSpc>
            </a:pPr>
            <a:r>
              <a:rPr lang="en-US" altLang="zh-CN" sz="1600" b="0">
                <a:solidFill>
                  <a:schemeClr val="tx1"/>
                </a:solidFill>
                <a:latin typeface="Times New Roman" panose="02020503050405090304" charset="0"/>
                <a:ea typeface="Menlo" panose="020B0609030804020204"/>
                <a:cs typeface="Times New Roman" panose="02020503050405090304" charset="0"/>
              </a:rPr>
              <a:t>C_meas(t) = C_sim(t) + ε, ε ~ Normal(0, σ²)  </a:t>
            </a:r>
            <a:r>
              <a:rPr lang="en-US" altLang="zh-CN" sz="1600">
                <a:latin typeface="Times New Roman" panose="02020503050405090304" charset="0"/>
                <a:ea typeface="Menlo" panose="020B0609030804020204"/>
                <a:cs typeface="Times New Roman" panose="02020503050405090304" charset="0"/>
                <a:sym typeface="+mn-ea"/>
              </a:rPr>
              <a:t>σ = 0.02</a:t>
            </a:r>
            <a:r>
              <a:rPr lang="en-US" altLang="zh-CN" sz="1600">
                <a:latin typeface="Times New Roman" panose="02020503050405090304" charset="0"/>
                <a:ea typeface="Menlo" panose="020B0609030804020204"/>
                <a:cs typeface="Times New Roman" panose="02020503050405090304" charset="0"/>
                <a:sym typeface="+mn-ea"/>
              </a:rPr>
              <a:t>mg/L</a:t>
            </a:r>
            <a:endParaRPr lang="en-US" altLang="zh-CN" sz="1600">
              <a:latin typeface="Times New Roman" panose="02020503050405090304" charset="0"/>
              <a:ea typeface="Menlo" panose="020B0609030804020204"/>
              <a:cs typeface="Times New Roman" panose="02020503050405090304" charset="0"/>
              <a:sym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640" y="675005"/>
            <a:ext cx="10913745" cy="600964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8063865" y="584200"/>
            <a:ext cx="3394710" cy="32194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1800"/>
              </a:lnSpc>
            </a:pPr>
            <a:r>
              <a:rPr lang="en-US" altLang="zh-CN" sz="1600" b="0">
                <a:solidFill>
                  <a:schemeClr val="tx1"/>
                </a:solidFill>
                <a:latin typeface="Times New Roman" panose="02020503050405090304" charset="0"/>
                <a:ea typeface="Menlo" panose="020B0609030804020204"/>
                <a:cs typeface="Times New Roman" panose="02020503050405090304" charset="0"/>
              </a:rPr>
              <a:t>RMSE ≈  0.019 mg/L</a:t>
            </a:r>
            <a:endParaRPr lang="en-US" altLang="zh-CN" sz="1600" b="0">
              <a:solidFill>
                <a:schemeClr val="tx1"/>
              </a:solidFill>
              <a:latin typeface="Times New Roman" panose="02020503050405090304" charset="0"/>
              <a:ea typeface="Menlo" panose="020B0609030804020204"/>
              <a:cs typeface="Times New Roman" panose="020205030504050903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0" y="262255"/>
            <a:ext cx="6096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800" b="1">
                <a:latin typeface="Times New Roman" panose="02020503050405090304" charset="0"/>
                <a:cs typeface="Times New Roman" panose="02020503050405090304" charset="0"/>
              </a:rPr>
              <a:t>Add random noise to the observations</a:t>
            </a:r>
            <a:endParaRPr lang="en-US" altLang="zh-CN" sz="2800" b="1">
              <a:latin typeface="Times New Roman" panose="02020503050405090304" charset="0"/>
              <a:cs typeface="Times New Roman" panose="0202050305040509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2260" y="1024890"/>
            <a:ext cx="6717665" cy="513397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097395" y="2776855"/>
            <a:ext cx="5257165" cy="163004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zh-CN" sz="2000" b="1" i="0">
                <a:latin typeface="Times New Roman" panose="02020503050405090304" charset="0"/>
                <a:ea typeface="Menlo" panose="020B0609030804020204"/>
                <a:cs typeface="Times New Roman" panose="02020503050405090304" charset="0"/>
              </a:rPr>
              <a:t>Best grid:</a:t>
            </a:r>
            <a:r>
              <a:rPr lang="en-US" altLang="zh-CN" sz="2000" b="0" i="0">
                <a:latin typeface="Times New Roman" panose="02020503050405090304" charset="0"/>
                <a:ea typeface="Menlo" panose="020B0609030804020204"/>
                <a:cs typeface="Times New Roman" panose="02020503050405090304" charset="0"/>
              </a:rPr>
              <a:t> </a:t>
            </a:r>
            <a:endParaRPr lang="en-US" altLang="zh-CN" sz="2000" b="0" i="0">
              <a:latin typeface="Times New Roman" panose="02020503050405090304" charset="0"/>
              <a:ea typeface="Menlo" panose="020B0609030804020204"/>
              <a:cs typeface="Times New Roman" panose="02020503050405090304" charset="0"/>
            </a:endParaRPr>
          </a:p>
          <a:p>
            <a:pPr marL="0" indent="0"/>
            <a:r>
              <a:rPr lang="en-US" altLang="zh-CN" sz="2000" b="0" i="0">
                <a:latin typeface="Times New Roman" panose="02020503050405090304" charset="0"/>
                <a:ea typeface="Menlo" panose="020B0609030804020204"/>
                <a:cs typeface="Times New Roman" panose="02020503050405090304" charset="0"/>
              </a:rPr>
              <a:t>kw_old_hat = -1.000,  kw_new</a:t>
            </a:r>
            <a:r>
              <a:rPr lang="en-US" altLang="zh-CN" sz="2000">
                <a:latin typeface="Times New Roman" panose="02020503050405090304" charset="0"/>
                <a:ea typeface="Menlo" panose="020B0609030804020204"/>
                <a:cs typeface="Times New Roman" panose="02020503050405090304" charset="0"/>
                <a:sym typeface="+mn-ea"/>
              </a:rPr>
              <a:t>_hat</a:t>
            </a:r>
            <a:r>
              <a:rPr lang="en-US" altLang="zh-CN" sz="2000" b="0" i="0">
                <a:latin typeface="Times New Roman" panose="02020503050405090304" charset="0"/>
                <a:ea typeface="Menlo" panose="020B0609030804020204"/>
                <a:cs typeface="Times New Roman" panose="02020503050405090304" charset="0"/>
              </a:rPr>
              <a:t> = -0.037</a:t>
            </a:r>
            <a:endParaRPr lang="en-US" altLang="zh-CN" sz="2000" b="0" i="0">
              <a:latin typeface="Times New Roman" panose="02020503050405090304" charset="0"/>
              <a:ea typeface="Menlo" panose="020B0609030804020204"/>
              <a:cs typeface="Times New Roman" panose="02020503050405090304" charset="0"/>
            </a:endParaRPr>
          </a:p>
          <a:p>
            <a:pPr marL="0" indent="0"/>
            <a:r>
              <a:rPr lang="en-US" altLang="zh-CN" sz="2000" b="0" i="0">
                <a:latin typeface="Times New Roman" panose="02020503050405090304" charset="0"/>
                <a:ea typeface="Menlo" panose="020B0609030804020204"/>
                <a:cs typeface="Times New Roman" panose="02020503050405090304" charset="0"/>
              </a:rPr>
              <a:t> </a:t>
            </a:r>
            <a:endParaRPr lang="en-US" altLang="zh-CN" sz="2000" b="0" i="0">
              <a:latin typeface="Times New Roman" panose="02020503050405090304" charset="0"/>
              <a:ea typeface="Menlo" panose="020B0609030804020204"/>
              <a:cs typeface="Times New Roman" panose="02020503050405090304" charset="0"/>
            </a:endParaRPr>
          </a:p>
          <a:p>
            <a:pPr marL="0" indent="0"/>
            <a:r>
              <a:rPr lang="en-US" altLang="zh-CN" sz="2000" b="1" i="0">
                <a:latin typeface="Times New Roman" panose="02020503050405090304" charset="0"/>
                <a:ea typeface="Menlo" panose="020B0609030804020204"/>
                <a:cs typeface="Times New Roman" panose="02020503050405090304" charset="0"/>
              </a:rPr>
              <a:t>True : </a:t>
            </a:r>
            <a:endParaRPr lang="en-US" altLang="zh-CN" sz="2000" b="1" i="0">
              <a:latin typeface="Times New Roman" panose="02020503050405090304" charset="0"/>
              <a:ea typeface="Menlo" panose="020B0609030804020204"/>
              <a:cs typeface="Times New Roman" panose="02020503050405090304" charset="0"/>
            </a:endParaRPr>
          </a:p>
          <a:p>
            <a:pPr marL="0" indent="0"/>
            <a:r>
              <a:rPr lang="en-US" altLang="zh-CN" sz="2000" b="0" i="0">
                <a:latin typeface="Times New Roman" panose="02020503050405090304" charset="0"/>
                <a:ea typeface="Menlo" panose="020B0609030804020204"/>
                <a:cs typeface="Times New Roman" panose="02020503050405090304" charset="0"/>
              </a:rPr>
              <a:t>kw_old = -1.000, kw_new = -0.050</a:t>
            </a:r>
            <a:endParaRPr lang="en-US" altLang="zh-CN" sz="2000" b="0" i="0">
              <a:latin typeface="Times New Roman" panose="02020503050405090304" charset="0"/>
              <a:ea typeface="Menlo" panose="020B0609030804020204"/>
              <a:cs typeface="Times New Roman" panose="0202050305040509030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302260" y="343535"/>
            <a:ext cx="5080000" cy="519430"/>
          </a:xfrm>
          <a:prstGeom prst="rect">
            <a:avLst/>
          </a:prstGeom>
        </p:spPr>
        <p:txBody>
          <a:bodyPr>
            <a:noAutofit/>
          </a:bodyPr>
          <a:p>
            <a:pPr>
              <a:lnSpc>
                <a:spcPts val="1800"/>
              </a:lnSpc>
            </a:pPr>
            <a:r>
              <a:rPr lang="en-US" altLang="zh-CN" sz="3200" b="1">
                <a:solidFill>
                  <a:schemeClr val="tx1"/>
                </a:solidFill>
                <a:latin typeface="Times New Roman" panose="02020503050405090304" charset="0"/>
                <a:ea typeface="Menlo" panose="020B0609030804020204"/>
                <a:cs typeface="Times New Roman" panose="02020503050405090304" charset="0"/>
              </a:rPr>
              <a:t>Inverse</a:t>
            </a:r>
            <a:endParaRPr lang="en-US" altLang="zh-CN" sz="3200" b="1">
              <a:solidFill>
                <a:schemeClr val="tx1"/>
              </a:solidFill>
              <a:latin typeface="Times New Roman" panose="02020503050405090304" charset="0"/>
              <a:ea typeface="Menlo" panose="020B0609030804020204"/>
              <a:cs typeface="Times New Roman" panose="0202050305040509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019925" y="1409065"/>
            <a:ext cx="284353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latin typeface="Times New Roman Regular" panose="02020503050405090304" charset="0"/>
                <a:cs typeface="Times New Roman Regular" panose="02020503050405090304" charset="0"/>
                <a:sym typeface="+mn-ea"/>
              </a:rPr>
              <a:t>sum of squared errors (SSE) </a:t>
            </a:r>
            <a:endParaRPr lang="en-US" altLang="zh-CN">
              <a:latin typeface="Times New Roman Regular" panose="02020503050405090304" charset="0"/>
              <a:cs typeface="Times New Roman Regular" panose="0202050305040509030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70" y="908685"/>
            <a:ext cx="6553200" cy="561975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989445" y="2338387"/>
            <a:ext cx="5080000" cy="922020"/>
          </a:xfrm>
          <a:prstGeom prst="rect">
            <a:avLst/>
          </a:prstGeom>
        </p:spPr>
        <p:txBody>
          <a:bodyPr>
            <a:spAutoFit/>
          </a:bodyPr>
          <a:p>
            <a:pPr marL="0" indent="0"/>
            <a:r>
              <a:rPr lang="en-US" altLang="zh-CN" b="0" i="0">
                <a:latin typeface="Times New Roman" panose="02020503050405090304" charset="0"/>
                <a:ea typeface="Menlo" panose="020B0609030804020204"/>
                <a:cs typeface="Times New Roman" panose="02020503050405090304" charset="0"/>
              </a:rPr>
              <a:t>kw_old_hat: -1.000 ± 0.045 (true -1.000) </a:t>
            </a:r>
            <a:endParaRPr lang="en-US" altLang="zh-CN" b="0" i="0">
              <a:latin typeface="Times New Roman" panose="02020503050405090304" charset="0"/>
              <a:ea typeface="Menlo" panose="020B0609030804020204"/>
              <a:cs typeface="Times New Roman" panose="02020503050405090304" charset="0"/>
            </a:endParaRPr>
          </a:p>
          <a:p>
            <a:pPr marL="0" indent="0"/>
            <a:endParaRPr lang="en-US" altLang="zh-CN" b="0" i="0">
              <a:latin typeface="Times New Roman" panose="02020503050405090304" charset="0"/>
              <a:ea typeface="Menlo" panose="020B0609030804020204"/>
              <a:cs typeface="Times New Roman" panose="02020503050405090304" charset="0"/>
            </a:endParaRPr>
          </a:p>
          <a:p>
            <a:pPr marL="0" indent="0"/>
            <a:r>
              <a:rPr lang="en-US" altLang="zh-CN" b="0" i="0">
                <a:latin typeface="Times New Roman" panose="02020503050405090304" charset="0"/>
                <a:ea typeface="Menlo" panose="020B0609030804020204"/>
                <a:cs typeface="Times New Roman" panose="02020503050405090304" charset="0"/>
              </a:rPr>
              <a:t>kw_new_hat: -0.054 ± 0.009 </a:t>
            </a:r>
            <a:r>
              <a:rPr lang="en-US" altLang="zh-CN">
                <a:latin typeface="Times New Roman" panose="02020503050405090304" charset="0"/>
                <a:ea typeface="Menlo" panose="020B0609030804020204"/>
                <a:cs typeface="Times New Roman" panose="02020503050405090304" charset="0"/>
                <a:sym typeface="+mn-ea"/>
              </a:rPr>
              <a:t>(std low)</a:t>
            </a:r>
            <a:r>
              <a:rPr lang="en-US" altLang="zh-CN" b="0" i="0">
                <a:latin typeface="Times New Roman" panose="02020503050405090304" charset="0"/>
                <a:ea typeface="Menlo" panose="020B0609030804020204"/>
                <a:cs typeface="Times New Roman" panose="02020503050405090304" charset="0"/>
              </a:rPr>
              <a:t> (true -0.050)</a:t>
            </a:r>
            <a:endParaRPr lang="en-US" altLang="zh-CN" b="0" i="0">
              <a:latin typeface="Times New Roman" panose="02020503050405090304" charset="0"/>
              <a:ea typeface="Menlo" panose="020B0609030804020204"/>
              <a:cs typeface="Times New Roman" panose="0202050305040509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808470" y="4777740"/>
            <a:ext cx="526161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latin typeface="Times New Roman" panose="02020503050405090304" charset="0"/>
                <a:cs typeface="Times New Roman" panose="02020503050405090304" charset="0"/>
              </a:rPr>
              <a:t>The old pipe area is relatively localized and primarily affects node 15, so the information sources for kw_old are limited.</a:t>
            </a:r>
            <a:endParaRPr lang="en-US" altLang="zh-CN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814185" y="5699760"/>
            <a:ext cx="537781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latin typeface="Times New Roman" panose="02020503050405090304" charset="0"/>
                <a:cs typeface="Times New Roman" panose="02020503050405090304" charset="0"/>
              </a:rPr>
              <a:t>There are a large number of new pipes, affecting the entire network.</a:t>
            </a:r>
            <a:endParaRPr lang="en-US" altLang="zh-CN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15570" y="175895"/>
            <a:ext cx="7833360" cy="644525"/>
          </a:xfrm>
          <a:prstGeom prst="rect">
            <a:avLst/>
          </a:prstGeom>
        </p:spPr>
        <p:txBody>
          <a:bodyPr wrap="square">
            <a:noAutofit/>
          </a:bodyPr>
          <a:p>
            <a:pPr>
              <a:lnSpc>
                <a:spcPts val="1800"/>
              </a:lnSpc>
            </a:pPr>
            <a:r>
              <a:rPr lang="en-US" altLang="zh-CN" sz="3200" b="1">
                <a:solidFill>
                  <a:schemeClr val="tx1"/>
                </a:solidFill>
                <a:latin typeface="Times New Roman" panose="02020503050405090304" charset="0"/>
                <a:ea typeface="Menlo" panose="020B0609030804020204"/>
                <a:cs typeface="Times New Roman" panose="02020503050405090304" charset="0"/>
              </a:rPr>
              <a:t>Forward → Noise → Inverse → Recover</a:t>
            </a:r>
            <a:endParaRPr lang="en-US" altLang="zh-CN" sz="3200" b="1">
              <a:solidFill>
                <a:schemeClr val="tx1"/>
              </a:solidFill>
              <a:latin typeface="Times New Roman" panose="02020503050405090304" charset="0"/>
              <a:ea typeface="Menlo" panose="020B0609030804020204"/>
              <a:cs typeface="Times New Roman" panose="0202050305040509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2004</Words>
  <Application>WPS 文字</Application>
  <PresentationFormat>宽屏</PresentationFormat>
  <Paragraphs>84</Paragraphs>
  <Slides>10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9" baseType="lpstr">
      <vt:lpstr>Arial</vt:lpstr>
      <vt:lpstr>宋体</vt:lpstr>
      <vt:lpstr>Wingdings</vt:lpstr>
      <vt:lpstr>Wingdings</vt:lpstr>
      <vt:lpstr>Times New Roman</vt:lpstr>
      <vt:lpstr>-apple-system</vt:lpstr>
      <vt:lpstr>Thonburi</vt:lpstr>
      <vt:lpstr>Arial</vt:lpstr>
      <vt:lpstr>Times New Roman Regular</vt:lpstr>
      <vt:lpstr>Menlo</vt:lpstr>
      <vt:lpstr>微软雅黑</vt:lpstr>
      <vt:lpstr>汉仪旗黑</vt:lpstr>
      <vt:lpstr>苹方-简</vt:lpstr>
      <vt:lpstr>汉仪书宋二KW</vt:lpstr>
      <vt:lpstr>宋体</vt:lpstr>
      <vt:lpstr>Arial Unicode MS</vt:lpstr>
      <vt:lpstr>-apple-system</vt:lpstr>
      <vt:lpstr>Menlo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彭睿欣</cp:lastModifiedBy>
  <cp:revision>214</cp:revision>
  <dcterms:created xsi:type="dcterms:W3CDTF">2026-07-02T21:32:09Z</dcterms:created>
  <dcterms:modified xsi:type="dcterms:W3CDTF">2026-07-02T21:32:09Z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2052-12.1.25895.25895</vt:lpwstr>
  </property>
  <property fmtid="{D5CDD505-2E9C-101B-9397-08002B2CF9AE}" pid="3" name="ICV">
    <vt:lpwstr>613F8AB8EB71F34B652C306A820B5DEC_41</vt:lpwstr>
  </property>
</Properties>
</file>